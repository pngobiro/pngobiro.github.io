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2" r:id="rId7"/>
    <p:sldId id="260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69" d="100"/>
          <a:sy n="69" d="100"/>
        </p:scale>
        <p:origin x="-1404" y="-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E209-777D-4D7C-843E-F790A1039296}" type="datetimeFigureOut">
              <a:rPr lang="en-US" smtClean="0"/>
              <a:t>10/16/2017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639C9-788E-4043-9581-FD403A05AFF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E209-777D-4D7C-843E-F790A1039296}" type="datetimeFigureOut">
              <a:rPr lang="en-US" smtClean="0"/>
              <a:t>10/16/2017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639C9-788E-4043-9581-FD403A05AFF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E209-777D-4D7C-843E-F790A1039296}" type="datetimeFigureOut">
              <a:rPr lang="en-US" smtClean="0"/>
              <a:t>10/16/2017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639C9-788E-4043-9581-FD403A05AFF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E209-777D-4D7C-843E-F790A1039296}" type="datetimeFigureOut">
              <a:rPr lang="en-US" smtClean="0"/>
              <a:t>10/16/2017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639C9-788E-4043-9581-FD403A05AFF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E209-777D-4D7C-843E-F790A1039296}" type="datetimeFigureOut">
              <a:rPr lang="en-US" smtClean="0"/>
              <a:t>10/16/2017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639C9-788E-4043-9581-FD403A05AFF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E209-777D-4D7C-843E-F790A1039296}" type="datetimeFigureOut">
              <a:rPr lang="en-US" smtClean="0"/>
              <a:t>10/16/2017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639C9-788E-4043-9581-FD403A05AFF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E209-777D-4D7C-843E-F790A1039296}" type="datetimeFigureOut">
              <a:rPr lang="en-US" smtClean="0"/>
              <a:t>10/16/2017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639C9-788E-4043-9581-FD403A05AFF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E209-777D-4D7C-843E-F790A1039296}" type="datetimeFigureOut">
              <a:rPr lang="en-US" smtClean="0"/>
              <a:t>10/16/2017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639C9-788E-4043-9581-FD403A05AFF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E209-777D-4D7C-843E-F790A1039296}" type="datetimeFigureOut">
              <a:rPr lang="en-US" smtClean="0"/>
              <a:t>10/16/2017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639C9-788E-4043-9581-FD403A05AFF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E209-777D-4D7C-843E-F790A1039296}" type="datetimeFigureOut">
              <a:rPr lang="en-US" smtClean="0"/>
              <a:t>10/16/2017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639C9-788E-4043-9581-FD403A05AFF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E209-777D-4D7C-843E-F790A1039296}" type="datetimeFigureOut">
              <a:rPr lang="en-US" smtClean="0"/>
              <a:t>10/16/2017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8639C9-788E-4043-9581-FD403A05AFF2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05E209-777D-4D7C-843E-F790A1039296}" type="datetimeFigureOut">
              <a:rPr lang="en-US" smtClean="0"/>
              <a:t>10/16/2017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8639C9-788E-4043-9581-FD403A05AFF2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b="1" dirty="0">
                <a:ln w="1905"/>
                <a:gradFill>
                  <a:gsLst>
                    <a:gs pos="0">
                      <a:schemeClr val="accent6">
                        <a:shade val="20000"/>
                        <a:satMod val="200000"/>
                      </a:schemeClr>
                    </a:gs>
                    <a:gs pos="78000">
                      <a:schemeClr val="accent6">
                        <a:tint val="90000"/>
                        <a:shade val="89000"/>
                        <a:satMod val="220000"/>
                      </a:schemeClr>
                    </a:gs>
                    <a:gs pos="100000">
                      <a:schemeClr val="accent6">
                        <a:tint val="12000"/>
                        <a:satMod val="255000"/>
                      </a:schemeClr>
                    </a:gs>
                  </a:gsLst>
                  <a:lin ang="5400000"/>
                </a:gradFill>
                <a:effectLst>
                  <a:innerShdw blurRad="69850" dist="43180" dir="5400000">
                    <a:srgbClr val="000000">
                      <a:alpha val="65000"/>
                    </a:srgbClr>
                  </a:innerShdw>
                </a:effectLst>
              </a:rPr>
              <a:t>Arrhythmias</a:t>
            </a:r>
            <a:endParaRPr lang="en-US" b="1" dirty="0">
              <a:ln w="1905"/>
              <a:gradFill>
                <a:gsLst>
                  <a:gs pos="0">
                    <a:schemeClr val="accent6">
                      <a:shade val="20000"/>
                      <a:satMod val="200000"/>
                    </a:schemeClr>
                  </a:gs>
                  <a:gs pos="78000">
                    <a:schemeClr val="accent6">
                      <a:tint val="90000"/>
                      <a:shade val="89000"/>
                      <a:satMod val="220000"/>
                    </a:schemeClr>
                  </a:gs>
                  <a:gs pos="100000">
                    <a:schemeClr val="accent6">
                      <a:tint val="12000"/>
                      <a:satMod val="255000"/>
                    </a:schemeClr>
                  </a:gs>
                </a:gsLst>
                <a:lin ang="5400000"/>
              </a:gradFill>
              <a:effectLst>
                <a:innerShdw blurRad="69850" dist="43180" dir="5400000">
                  <a:srgbClr val="000000">
                    <a:alpha val="65000"/>
                  </a:srgbClr>
                </a:innerShdw>
              </a:effectLst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 smtClean="0"/>
          </a:p>
          <a:p>
            <a:r>
              <a:rPr lang="en-US" b="1" dirty="0" smtClean="0">
                <a:solidFill>
                  <a:schemeClr val="tx1"/>
                </a:solidFill>
              </a:rPr>
              <a:t>Dr </a:t>
            </a:r>
            <a:r>
              <a:rPr lang="en-US" b="1" dirty="0" err="1" smtClean="0">
                <a:solidFill>
                  <a:schemeClr val="tx1"/>
                </a:solidFill>
              </a:rPr>
              <a:t>Wainaina</a:t>
            </a:r>
            <a:r>
              <a:rPr lang="en-US" b="1" dirty="0" smtClean="0">
                <a:solidFill>
                  <a:schemeClr val="tx1"/>
                </a:solidFill>
              </a:rPr>
              <a:t> Samuel</a:t>
            </a:r>
            <a:endParaRPr lang="en-US" b="1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>
                <a:ln w="1905"/>
                <a:gradFill>
                  <a:gsLst>
                    <a:gs pos="0">
                      <a:schemeClr val="accent6">
                        <a:shade val="20000"/>
                        <a:satMod val="200000"/>
                      </a:schemeClr>
                    </a:gs>
                    <a:gs pos="78000">
                      <a:schemeClr val="accent6">
                        <a:tint val="90000"/>
                        <a:shade val="89000"/>
                        <a:satMod val="220000"/>
                      </a:schemeClr>
                    </a:gs>
                    <a:gs pos="100000">
                      <a:schemeClr val="accent6">
                        <a:tint val="12000"/>
                        <a:satMod val="255000"/>
                      </a:schemeClr>
                    </a:gs>
                  </a:gsLst>
                  <a:lin ang="5400000"/>
                </a:gradFill>
                <a:effectLst>
                  <a:innerShdw blurRad="69850" dist="43180" dir="5400000">
                    <a:srgbClr val="000000">
                      <a:alpha val="65000"/>
                    </a:srgbClr>
                  </a:innerShdw>
                </a:effectLst>
              </a:rPr>
              <a:t>Arrhythmias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algn="just"/>
            <a:r>
              <a:rPr lang="en-GB" dirty="0"/>
              <a:t>Arrhythmias and conduction disorders are caused by abnormalities in the generation or conduction of these electrical impulses or both</a:t>
            </a:r>
            <a:r>
              <a:rPr lang="en-GB" dirty="0" smtClean="0"/>
              <a:t>.</a:t>
            </a:r>
          </a:p>
          <a:p>
            <a:pPr algn="just"/>
            <a:endParaRPr lang="en-GB" dirty="0" smtClean="0"/>
          </a:p>
          <a:p>
            <a:pPr algn="just"/>
            <a:r>
              <a:rPr lang="en-GB" dirty="0"/>
              <a:t>Any heart disorder, including congenital abnormalities of structure </a:t>
            </a:r>
            <a:r>
              <a:rPr lang="en-GB" dirty="0" smtClean="0"/>
              <a:t>or function, </a:t>
            </a:r>
            <a:r>
              <a:rPr lang="en-GB" dirty="0"/>
              <a:t>can disturb rhythm. </a:t>
            </a:r>
            <a:endParaRPr lang="en-GB" dirty="0" smtClean="0"/>
          </a:p>
          <a:p>
            <a:pPr algn="just"/>
            <a:endParaRPr lang="en-GB" dirty="0" smtClean="0"/>
          </a:p>
          <a:p>
            <a:pPr algn="just"/>
            <a:r>
              <a:rPr lang="en-GB" dirty="0" smtClean="0"/>
              <a:t>Systemic </a:t>
            </a:r>
            <a:r>
              <a:rPr lang="en-GB" dirty="0"/>
              <a:t>factors that can cause or contribute to a rhythm disturbance include electrolyte </a:t>
            </a:r>
            <a:r>
              <a:rPr lang="en-GB" dirty="0" smtClean="0"/>
              <a:t>abnormalities, </a:t>
            </a:r>
            <a:r>
              <a:rPr lang="en-GB" dirty="0"/>
              <a:t>hypoxia, hormonal </a:t>
            </a:r>
            <a:r>
              <a:rPr lang="en-GB" dirty="0" smtClean="0"/>
              <a:t>imbalances, </a:t>
            </a:r>
            <a:r>
              <a:rPr lang="en-GB" dirty="0"/>
              <a:t>and drugs and </a:t>
            </a:r>
            <a:r>
              <a:rPr lang="en-GB" dirty="0" smtClean="0"/>
              <a:t>toxins.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357790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Normal cardiac </a:t>
            </a:r>
            <a:r>
              <a:rPr lang="en-GB" b="1" dirty="0" smtClean="0"/>
              <a:t>rhythm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19200"/>
            <a:ext cx="8229600" cy="5638800"/>
          </a:xfrm>
        </p:spPr>
        <p:txBody>
          <a:bodyPr>
            <a:normAutofit fontScale="77500" lnSpcReduction="20000"/>
          </a:bodyPr>
          <a:lstStyle/>
          <a:p>
            <a:pPr algn="just"/>
            <a:r>
              <a:rPr lang="en-GB" dirty="0" smtClean="0"/>
              <a:t>The </a:t>
            </a:r>
            <a:r>
              <a:rPr lang="en-GB" dirty="0"/>
              <a:t>resting sinus heart rate in adults is usually 60 to 100 beats/min</a:t>
            </a:r>
            <a:r>
              <a:rPr lang="en-GB" dirty="0" smtClean="0"/>
              <a:t>.</a:t>
            </a:r>
          </a:p>
          <a:p>
            <a:pPr algn="just"/>
            <a:r>
              <a:rPr lang="en-GB" dirty="0" smtClean="0"/>
              <a:t> </a:t>
            </a:r>
          </a:p>
          <a:p>
            <a:pPr algn="just"/>
            <a:r>
              <a:rPr lang="en-GB" dirty="0">
                <a:solidFill>
                  <a:srgbClr val="FF0000"/>
                </a:solidFill>
              </a:rPr>
              <a:t>S</a:t>
            </a:r>
            <a:r>
              <a:rPr lang="en-GB" dirty="0" smtClean="0">
                <a:solidFill>
                  <a:srgbClr val="FF0000"/>
                </a:solidFill>
              </a:rPr>
              <a:t>inus </a:t>
            </a:r>
            <a:r>
              <a:rPr lang="en-GB" dirty="0" err="1" smtClean="0">
                <a:solidFill>
                  <a:srgbClr val="FF0000"/>
                </a:solidFill>
              </a:rPr>
              <a:t>bradycardia</a:t>
            </a:r>
            <a:r>
              <a:rPr lang="en-GB" dirty="0" smtClean="0">
                <a:solidFill>
                  <a:srgbClr val="FF0000"/>
                </a:solidFill>
              </a:rPr>
              <a:t> </a:t>
            </a:r>
            <a:r>
              <a:rPr lang="en-GB" dirty="0"/>
              <a:t>occur in young people, particularly athletes, and during sleep. </a:t>
            </a:r>
            <a:endParaRPr lang="en-GB" dirty="0" smtClean="0"/>
          </a:p>
          <a:p>
            <a:pPr algn="just"/>
            <a:endParaRPr lang="en-GB" dirty="0" smtClean="0"/>
          </a:p>
          <a:p>
            <a:pPr algn="just"/>
            <a:r>
              <a:rPr lang="en-GB" dirty="0" smtClean="0">
                <a:solidFill>
                  <a:srgbClr val="FF0000"/>
                </a:solidFill>
              </a:rPr>
              <a:t>Sinus tachycardia </a:t>
            </a:r>
            <a:r>
              <a:rPr lang="en-GB" dirty="0" smtClean="0"/>
              <a:t>occur </a:t>
            </a:r>
            <a:r>
              <a:rPr lang="en-GB" dirty="0"/>
              <a:t>during exercise, illness, or periods of intense emotion through sympathetic neural and circulating catecholamine drive. </a:t>
            </a:r>
            <a:endParaRPr lang="en-GB" dirty="0" smtClean="0"/>
          </a:p>
          <a:p>
            <a:pPr algn="just"/>
            <a:endParaRPr lang="en-GB" dirty="0" smtClean="0"/>
          </a:p>
          <a:p>
            <a:pPr algn="just"/>
            <a:r>
              <a:rPr lang="en-GB" dirty="0" smtClean="0"/>
              <a:t>Normally</a:t>
            </a:r>
            <a:r>
              <a:rPr lang="en-GB" dirty="0"/>
              <a:t>, a marked diurnal variation in heart rate occurs, with lowest rates just before early morning awakening. </a:t>
            </a:r>
            <a:endParaRPr lang="en-GB" dirty="0" smtClean="0"/>
          </a:p>
          <a:p>
            <a:pPr algn="just"/>
            <a:endParaRPr lang="en-GB" dirty="0"/>
          </a:p>
          <a:p>
            <a:pPr algn="just"/>
            <a:r>
              <a:rPr lang="en-GB" dirty="0" smtClean="0"/>
              <a:t>A </a:t>
            </a:r>
            <a:r>
              <a:rPr lang="en-GB" dirty="0"/>
              <a:t>slight increase in rate during inspiration with a decrease in rate during expiration (</a:t>
            </a:r>
            <a:r>
              <a:rPr lang="en-GB" dirty="0">
                <a:solidFill>
                  <a:srgbClr val="FF0000"/>
                </a:solidFill>
              </a:rPr>
              <a:t>respiratory sinus arrhythmia</a:t>
            </a:r>
            <a:r>
              <a:rPr lang="en-GB" dirty="0"/>
              <a:t>) is also normal;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328256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b="1" dirty="0" smtClean="0"/>
              <a:t>Pathophysiology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algn="just"/>
            <a:r>
              <a:rPr lang="en-GB" dirty="0"/>
              <a:t>Rhythm disturbances result from abnormalities of impulse formation, impulse conduction, or both. </a:t>
            </a:r>
            <a:endParaRPr lang="en-GB" dirty="0" smtClean="0"/>
          </a:p>
          <a:p>
            <a:pPr algn="just"/>
            <a:endParaRPr lang="en-GB" dirty="0" smtClean="0"/>
          </a:p>
          <a:p>
            <a:pPr algn="just"/>
            <a:r>
              <a:rPr lang="en-GB" dirty="0" err="1" smtClean="0"/>
              <a:t>Bradyarrhythmias</a:t>
            </a:r>
            <a:r>
              <a:rPr lang="en-GB" dirty="0" smtClean="0"/>
              <a:t> </a:t>
            </a:r>
            <a:r>
              <a:rPr lang="en-GB" dirty="0"/>
              <a:t>result from decreased intrinsic pacemaker function or blocks in conduction, principally within the AV node or the His-Purkinje system. </a:t>
            </a:r>
            <a:endParaRPr lang="en-GB" dirty="0" smtClean="0"/>
          </a:p>
          <a:p>
            <a:pPr algn="just"/>
            <a:endParaRPr lang="en-GB" dirty="0"/>
          </a:p>
          <a:p>
            <a:pPr algn="just"/>
            <a:r>
              <a:rPr lang="en-GB" dirty="0" err="1" smtClean="0"/>
              <a:t>Tachyarrhythmias</a:t>
            </a:r>
            <a:r>
              <a:rPr lang="en-GB" dirty="0" smtClean="0"/>
              <a:t> </a:t>
            </a:r>
            <a:r>
              <a:rPr lang="en-GB" dirty="0"/>
              <a:t>are caused by </a:t>
            </a:r>
            <a:r>
              <a:rPr lang="en-GB" dirty="0" err="1" smtClean="0"/>
              <a:t>reentry</a:t>
            </a:r>
            <a:r>
              <a:rPr lang="en-GB" dirty="0" smtClean="0"/>
              <a:t>.</a:t>
            </a:r>
          </a:p>
          <a:p>
            <a:pPr algn="just"/>
            <a:endParaRPr lang="en-GB" b="1" dirty="0"/>
          </a:p>
          <a:p>
            <a:pPr algn="just"/>
            <a:r>
              <a:rPr lang="en-GB" b="1" dirty="0" err="1" smtClean="0"/>
              <a:t>Reentry</a:t>
            </a:r>
            <a:r>
              <a:rPr lang="en-GB" dirty="0"/>
              <a:t> is the circular propagation of an impulse around 2 interconnected pathways with different conduction characteristics and refractory periods </a:t>
            </a:r>
          </a:p>
        </p:txBody>
      </p:sp>
    </p:spTree>
    <p:extLst>
      <p:ext uri="{BB962C8B-B14F-4D97-AF65-F5344CB8AC3E}">
        <p14:creationId xmlns:p14="http://schemas.microsoft.com/office/powerpoint/2010/main" val="41076787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Electrocardiogram(ECG)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algn="just"/>
            <a:r>
              <a:rPr lang="en-GB" dirty="0"/>
              <a:t>Most cardiac electrical activity is represented on the </a:t>
            </a:r>
            <a:r>
              <a:rPr lang="en-GB" dirty="0" smtClean="0"/>
              <a:t>ECG </a:t>
            </a:r>
            <a:r>
              <a:rPr lang="en-GB" dirty="0"/>
              <a:t>although SA node, AV node, and His-Purkinje depolarization does not involve enough tissue to be detected. </a:t>
            </a:r>
            <a:endParaRPr lang="en-GB" dirty="0" smtClean="0"/>
          </a:p>
          <a:p>
            <a:pPr algn="just"/>
            <a:endParaRPr lang="en-GB" dirty="0"/>
          </a:p>
          <a:p>
            <a:pPr algn="just"/>
            <a:r>
              <a:rPr lang="en-GB" dirty="0" smtClean="0"/>
              <a:t>The </a:t>
            </a:r>
            <a:r>
              <a:rPr lang="en-GB" dirty="0"/>
              <a:t>P wave represents atrial depolarization. The QRS complex represents ventricular depolarization, and the T wave represents ventricular repolarization.</a:t>
            </a:r>
          </a:p>
        </p:txBody>
      </p:sp>
    </p:spTree>
    <p:extLst>
      <p:ext uri="{BB962C8B-B14F-4D97-AF65-F5344CB8AC3E}">
        <p14:creationId xmlns:p14="http://schemas.microsoft.com/office/powerpoint/2010/main" val="22254966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QRS COMPLEX</a:t>
            </a:r>
            <a:endParaRPr lang="en-GB" dirty="0"/>
          </a:p>
        </p:txBody>
      </p:sp>
      <p:pic>
        <p:nvPicPr>
          <p:cNvPr id="1026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78845" y="1600200"/>
            <a:ext cx="3960000" cy="3907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1803156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ECG Printout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3920" y="1447800"/>
            <a:ext cx="6398040" cy="4716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5530223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Interpretation of the QRS Complex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19200"/>
            <a:ext cx="8229600" cy="4906963"/>
          </a:xfrm>
        </p:spPr>
        <p:txBody>
          <a:bodyPr>
            <a:normAutofit fontScale="77500" lnSpcReduction="20000"/>
          </a:bodyPr>
          <a:lstStyle/>
          <a:p>
            <a:pPr algn="just"/>
            <a:r>
              <a:rPr lang="en-GB" dirty="0">
                <a:solidFill>
                  <a:srgbClr val="FF0000"/>
                </a:solidFill>
              </a:rPr>
              <a:t>The PR interval </a:t>
            </a:r>
            <a:r>
              <a:rPr lang="en-GB" dirty="0" smtClean="0"/>
              <a:t>is </a:t>
            </a:r>
            <a:r>
              <a:rPr lang="en-GB" dirty="0"/>
              <a:t>the time from the beginning of atrial activation to the beginning of ventricular activation. </a:t>
            </a:r>
            <a:endParaRPr lang="en-GB" dirty="0" smtClean="0"/>
          </a:p>
          <a:p>
            <a:pPr algn="just"/>
            <a:endParaRPr lang="en-GB" dirty="0" smtClean="0"/>
          </a:p>
          <a:p>
            <a:pPr algn="just"/>
            <a:r>
              <a:rPr lang="en-GB" dirty="0" smtClean="0"/>
              <a:t>Much </a:t>
            </a:r>
            <a:r>
              <a:rPr lang="en-GB" dirty="0"/>
              <a:t>of this interval reflects slowing of impulse transmission in the AV node. </a:t>
            </a:r>
            <a:endParaRPr lang="en-GB" dirty="0" smtClean="0"/>
          </a:p>
          <a:p>
            <a:pPr algn="just"/>
            <a:endParaRPr lang="en-GB" dirty="0" smtClean="0"/>
          </a:p>
          <a:p>
            <a:pPr algn="just"/>
            <a:r>
              <a:rPr lang="en-GB" dirty="0" smtClean="0">
                <a:solidFill>
                  <a:srgbClr val="FF0000"/>
                </a:solidFill>
              </a:rPr>
              <a:t>The </a:t>
            </a:r>
            <a:r>
              <a:rPr lang="en-GB" dirty="0">
                <a:solidFill>
                  <a:srgbClr val="FF0000"/>
                </a:solidFill>
              </a:rPr>
              <a:t>R-R interval </a:t>
            </a:r>
            <a:r>
              <a:rPr lang="en-GB" dirty="0" smtClean="0"/>
              <a:t>represents </a:t>
            </a:r>
            <a:r>
              <a:rPr lang="en-GB" dirty="0"/>
              <a:t>the ventricular rate. </a:t>
            </a:r>
            <a:endParaRPr lang="en-GB" dirty="0" smtClean="0"/>
          </a:p>
          <a:p>
            <a:pPr algn="just"/>
            <a:endParaRPr lang="en-GB" dirty="0" smtClean="0"/>
          </a:p>
          <a:p>
            <a:pPr algn="just"/>
            <a:r>
              <a:rPr lang="en-GB" dirty="0" smtClean="0">
                <a:solidFill>
                  <a:srgbClr val="FF0000"/>
                </a:solidFill>
              </a:rPr>
              <a:t>The </a:t>
            </a:r>
            <a:r>
              <a:rPr lang="en-GB" dirty="0">
                <a:solidFill>
                  <a:srgbClr val="FF0000"/>
                </a:solidFill>
              </a:rPr>
              <a:t>QT interval </a:t>
            </a:r>
            <a:r>
              <a:rPr lang="en-GB" dirty="0" smtClean="0"/>
              <a:t>represents </a:t>
            </a:r>
            <a:r>
              <a:rPr lang="en-GB" dirty="0"/>
              <a:t>the duration of ventricular depolarization. </a:t>
            </a:r>
            <a:endParaRPr lang="en-GB" dirty="0" smtClean="0"/>
          </a:p>
          <a:p>
            <a:pPr algn="just"/>
            <a:endParaRPr lang="en-GB" dirty="0" smtClean="0"/>
          </a:p>
          <a:p>
            <a:pPr algn="just"/>
            <a:r>
              <a:rPr lang="en-GB" dirty="0" smtClean="0"/>
              <a:t>Normal </a:t>
            </a:r>
            <a:r>
              <a:rPr lang="en-GB" dirty="0"/>
              <a:t>values for the QT interval are slightly longer in women; they are also longer with a slower heart rate. </a:t>
            </a:r>
          </a:p>
        </p:txBody>
      </p:sp>
    </p:spTree>
    <p:extLst>
      <p:ext uri="{BB962C8B-B14F-4D97-AF65-F5344CB8AC3E}">
        <p14:creationId xmlns:p14="http://schemas.microsoft.com/office/powerpoint/2010/main" val="19592670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Symptoms and </a:t>
            </a:r>
            <a:r>
              <a:rPr lang="en-GB" b="1" dirty="0" smtClean="0"/>
              <a:t>Signs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 </a:t>
            </a:r>
            <a:r>
              <a:rPr lang="en-GB" dirty="0" smtClean="0"/>
              <a:t>Palpitations</a:t>
            </a:r>
            <a:r>
              <a:rPr lang="en-GB" dirty="0"/>
              <a:t> (sensation of skipped beats or rapid or forceful beats), </a:t>
            </a:r>
            <a:endParaRPr lang="en-GB" dirty="0" smtClean="0"/>
          </a:p>
          <a:p>
            <a:endParaRPr lang="en-GB" dirty="0" smtClean="0"/>
          </a:p>
          <a:p>
            <a:r>
              <a:rPr lang="en-GB" dirty="0" smtClean="0"/>
              <a:t>Hemodynamic </a:t>
            </a:r>
            <a:r>
              <a:rPr lang="en-GB" dirty="0"/>
              <a:t>compromise (</a:t>
            </a:r>
            <a:r>
              <a:rPr lang="en-GB" dirty="0" err="1"/>
              <a:t>eg</a:t>
            </a:r>
            <a:r>
              <a:rPr lang="en-GB" dirty="0"/>
              <a:t>, </a:t>
            </a:r>
            <a:r>
              <a:rPr lang="en-GB" dirty="0" err="1"/>
              <a:t>dyspnea</a:t>
            </a:r>
            <a:r>
              <a:rPr lang="en-GB" dirty="0"/>
              <a:t>, chest discomfort, </a:t>
            </a:r>
            <a:r>
              <a:rPr lang="en-GB" dirty="0" err="1"/>
              <a:t>presyncope</a:t>
            </a:r>
            <a:r>
              <a:rPr lang="en-GB" dirty="0"/>
              <a:t>, syncope), </a:t>
            </a:r>
            <a:endParaRPr lang="en-GB" dirty="0" smtClean="0"/>
          </a:p>
          <a:p>
            <a:endParaRPr lang="en-GB" dirty="0" smtClean="0"/>
          </a:p>
          <a:p>
            <a:r>
              <a:rPr lang="en-GB" dirty="0" smtClean="0"/>
              <a:t>Cardiac </a:t>
            </a:r>
            <a:r>
              <a:rPr lang="en-GB" dirty="0"/>
              <a:t>arrest. </a:t>
            </a:r>
            <a:endParaRPr lang="en-GB" dirty="0" smtClean="0"/>
          </a:p>
          <a:p>
            <a:endParaRPr lang="en-GB" dirty="0" smtClean="0"/>
          </a:p>
          <a:p>
            <a:r>
              <a:rPr lang="en-GB" dirty="0" smtClean="0"/>
              <a:t>Polyuria </a:t>
            </a:r>
            <a:r>
              <a:rPr lang="en-GB" dirty="0"/>
              <a:t>results from release of atrial natriuretic peptide during prolonged supraventricular </a:t>
            </a:r>
            <a:r>
              <a:rPr lang="en-GB" dirty="0" err="1"/>
              <a:t>tachycardias</a:t>
            </a:r>
            <a:r>
              <a:rPr lang="en-GB" dirty="0"/>
              <a:t> (SVTs</a:t>
            </a:r>
            <a:r>
              <a:rPr lang="en-GB" dirty="0" smtClean="0"/>
              <a:t>).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832753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b="1" dirty="0" smtClean="0"/>
              <a:t>Diagnosis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 smtClean="0"/>
              <a:t>The </a:t>
            </a:r>
            <a:r>
              <a:rPr lang="en-GB" dirty="0"/>
              <a:t>ECG is </a:t>
            </a:r>
            <a:r>
              <a:rPr lang="en-GB" dirty="0" smtClean="0"/>
              <a:t>primary tool of diagnosis</a:t>
            </a:r>
          </a:p>
          <a:p>
            <a:endParaRPr lang="en-GB" dirty="0"/>
          </a:p>
          <a:p>
            <a:r>
              <a:rPr lang="en-GB" dirty="0" smtClean="0"/>
              <a:t>The </a:t>
            </a:r>
            <a:r>
              <a:rPr lang="en-GB" dirty="0"/>
              <a:t>key diagnostic features are .</a:t>
            </a:r>
          </a:p>
          <a:p>
            <a:pPr marL="914400" lvl="1" indent="-514350">
              <a:buFont typeface="+mj-lt"/>
              <a:buAutoNum type="arabicPeriod"/>
            </a:pPr>
            <a:r>
              <a:rPr lang="en-GB" dirty="0"/>
              <a:t>Rate of atrial activation</a:t>
            </a:r>
          </a:p>
          <a:p>
            <a:pPr marL="914400" lvl="1" indent="-514350">
              <a:buFont typeface="+mj-lt"/>
              <a:buAutoNum type="arabicPeriod"/>
            </a:pPr>
            <a:r>
              <a:rPr lang="en-GB" dirty="0"/>
              <a:t>Rate and regularity of ventricular activation</a:t>
            </a:r>
          </a:p>
          <a:p>
            <a:pPr marL="914400" lvl="1" indent="-514350">
              <a:buFont typeface="+mj-lt"/>
              <a:buAutoNum type="arabicPeriod"/>
            </a:pPr>
            <a:r>
              <a:rPr lang="en-GB" dirty="0"/>
              <a:t>The relationship between the two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312356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Classification of Arrhythmias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514350" indent="-514350" algn="just">
              <a:buFont typeface="+mj-lt"/>
              <a:buAutoNum type="arabicPeriod"/>
            </a:pPr>
            <a:r>
              <a:rPr lang="en-GB" b="1" dirty="0" err="1">
                <a:solidFill>
                  <a:srgbClr val="FF0000"/>
                </a:solidFill>
              </a:rPr>
              <a:t>Bradyarrhythmias</a:t>
            </a:r>
            <a:endParaRPr lang="en-GB" b="1" dirty="0">
              <a:solidFill>
                <a:srgbClr val="FF0000"/>
              </a:solidFill>
            </a:endParaRPr>
          </a:p>
          <a:p>
            <a:pPr algn="just"/>
            <a:r>
              <a:rPr lang="en-GB" dirty="0"/>
              <a:t>ECG diagnosis of </a:t>
            </a:r>
            <a:r>
              <a:rPr lang="en-GB" dirty="0" err="1"/>
              <a:t>bradyarrhythmias</a:t>
            </a:r>
            <a:r>
              <a:rPr lang="en-GB" dirty="0"/>
              <a:t> depends on the presence or absence of P waves, morphology of the P waves, and the relationship between P waves and QRS </a:t>
            </a:r>
            <a:r>
              <a:rPr lang="en-GB" dirty="0" smtClean="0"/>
              <a:t>complexes</a:t>
            </a:r>
          </a:p>
          <a:p>
            <a:pPr algn="just"/>
            <a:endParaRPr lang="en-GB" dirty="0" smtClean="0"/>
          </a:p>
          <a:p>
            <a:pPr marL="514350" indent="-514350" algn="just">
              <a:buFont typeface="+mj-lt"/>
              <a:buAutoNum type="arabicPeriod" startAt="2"/>
            </a:pPr>
            <a:r>
              <a:rPr lang="en-GB" b="1" dirty="0" err="1">
                <a:solidFill>
                  <a:srgbClr val="FF0000"/>
                </a:solidFill>
              </a:rPr>
              <a:t>Tachyarrhythmias</a:t>
            </a:r>
            <a:endParaRPr lang="en-GB" b="1" dirty="0">
              <a:solidFill>
                <a:srgbClr val="FF0000"/>
              </a:solidFill>
            </a:endParaRPr>
          </a:p>
          <a:p>
            <a:pPr algn="just"/>
            <a:r>
              <a:rPr lang="en-GB" dirty="0" err="1"/>
              <a:t>Tachyarrhythmias</a:t>
            </a:r>
            <a:r>
              <a:rPr lang="en-GB" dirty="0"/>
              <a:t> </a:t>
            </a:r>
            <a:r>
              <a:rPr lang="en-GB" dirty="0" smtClean="0"/>
              <a:t>are defined </a:t>
            </a:r>
            <a:r>
              <a:rPr lang="en-GB" dirty="0"/>
              <a:t>by the QRS complexes</a:t>
            </a:r>
          </a:p>
          <a:p>
            <a:pPr marL="514350" indent="-514350">
              <a:buFont typeface="+mj-lt"/>
              <a:buAutoNum type="arabicPeriod" startAt="2"/>
            </a:pPr>
            <a:endParaRPr lang="en-GB" dirty="0"/>
          </a:p>
          <a:p>
            <a:pPr marL="514350" indent="-514350">
              <a:buFont typeface="+mj-lt"/>
              <a:buAutoNum type="arabicPeriod" startAt="2"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958757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b="1" dirty="0" err="1" smtClean="0">
                <a:ln w="1905"/>
                <a:gradFill>
                  <a:gsLst>
                    <a:gs pos="0">
                      <a:schemeClr val="accent6">
                        <a:shade val="20000"/>
                        <a:satMod val="200000"/>
                      </a:schemeClr>
                    </a:gs>
                    <a:gs pos="78000">
                      <a:schemeClr val="accent6">
                        <a:tint val="90000"/>
                        <a:shade val="89000"/>
                        <a:satMod val="220000"/>
                      </a:schemeClr>
                    </a:gs>
                    <a:gs pos="100000">
                      <a:schemeClr val="accent6">
                        <a:tint val="12000"/>
                        <a:satMod val="255000"/>
                      </a:schemeClr>
                    </a:gs>
                  </a:gsLst>
                  <a:lin ang="5400000"/>
                </a:gradFill>
                <a:effectLst>
                  <a:innerShdw blurRad="69850" dist="43180" dir="5400000">
                    <a:srgbClr val="000000">
                      <a:alpha val="65000"/>
                    </a:srgbClr>
                  </a:innerShdw>
                </a:effectLst>
              </a:rPr>
              <a:t>Bradyarrhythmias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 algn="just">
              <a:buFont typeface="+mj-lt"/>
              <a:buAutoNum type="arabicPeriod"/>
            </a:pPr>
            <a:r>
              <a:rPr lang="en-GB" b="1" dirty="0"/>
              <a:t>AV block</a:t>
            </a:r>
            <a:r>
              <a:rPr lang="en-GB" dirty="0"/>
              <a:t> is indicated by a </a:t>
            </a:r>
            <a:r>
              <a:rPr lang="en-GB" dirty="0" err="1"/>
              <a:t>bradyarrhythmia</a:t>
            </a:r>
            <a:r>
              <a:rPr lang="en-GB" dirty="0"/>
              <a:t> with no relationship between P waves and QRS complexes and more P waves than QRS </a:t>
            </a:r>
            <a:r>
              <a:rPr lang="en-GB" dirty="0" smtClean="0"/>
              <a:t>complexes</a:t>
            </a:r>
          </a:p>
          <a:p>
            <a:pPr marL="514350" indent="-514350" algn="just">
              <a:buFont typeface="+mj-lt"/>
              <a:buAutoNum type="arabicPeriod"/>
            </a:pPr>
            <a:endParaRPr lang="en-GB" dirty="0" smtClean="0"/>
          </a:p>
          <a:p>
            <a:pPr marL="514350" indent="-514350" algn="just">
              <a:buFont typeface="+mj-lt"/>
              <a:buAutoNum type="arabicPeriod"/>
            </a:pPr>
            <a:r>
              <a:rPr lang="en-GB" b="1" dirty="0"/>
              <a:t>Absence of AV block</a:t>
            </a:r>
            <a:r>
              <a:rPr lang="en-GB" dirty="0"/>
              <a:t> is indicated by a regular QRS </a:t>
            </a:r>
            <a:r>
              <a:rPr lang="en-GB" dirty="0" err="1"/>
              <a:t>bradyarrhythmia</a:t>
            </a:r>
            <a:r>
              <a:rPr lang="en-GB" dirty="0"/>
              <a:t> with a 1:1 relationship between P waves and QRS complexes.</a:t>
            </a:r>
          </a:p>
        </p:txBody>
      </p:sp>
    </p:spTree>
    <p:extLst>
      <p:ext uri="{BB962C8B-B14F-4D97-AF65-F5344CB8AC3E}">
        <p14:creationId xmlns:p14="http://schemas.microsoft.com/office/powerpoint/2010/main" val="20304260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b="1" dirty="0" err="1" smtClean="0">
                <a:ln w="1905"/>
                <a:gradFill>
                  <a:gsLst>
                    <a:gs pos="0">
                      <a:schemeClr val="accent6">
                        <a:shade val="20000"/>
                        <a:satMod val="200000"/>
                      </a:schemeClr>
                    </a:gs>
                    <a:gs pos="78000">
                      <a:schemeClr val="accent6">
                        <a:tint val="90000"/>
                        <a:shade val="89000"/>
                        <a:satMod val="220000"/>
                      </a:schemeClr>
                    </a:gs>
                    <a:gs pos="100000">
                      <a:schemeClr val="accent6">
                        <a:tint val="12000"/>
                        <a:satMod val="255000"/>
                      </a:schemeClr>
                    </a:gs>
                  </a:gsLst>
                  <a:lin ang="5400000"/>
                </a:gradFill>
                <a:effectLst>
                  <a:innerShdw blurRad="69850" dist="43180" dir="5400000">
                    <a:srgbClr val="000000">
                      <a:alpha val="65000"/>
                    </a:srgbClr>
                  </a:innerShdw>
                </a:effectLst>
              </a:rPr>
              <a:t>Tachyarrhythmias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algn="just"/>
            <a:r>
              <a:rPr lang="en-GB" b="1" dirty="0">
                <a:solidFill>
                  <a:srgbClr val="FF0000"/>
                </a:solidFill>
              </a:rPr>
              <a:t>Atrial fibrillation</a:t>
            </a:r>
            <a:r>
              <a:rPr lang="en-GB" dirty="0"/>
              <a:t> (AF): Atrial ECG signals (usually best seen in lead V1) that are continuous, irregular in timing and morphology, and very rapid (&gt; 300 beats/min) without discrete P </a:t>
            </a:r>
            <a:r>
              <a:rPr lang="en-GB" dirty="0" smtClean="0"/>
              <a:t>wave</a:t>
            </a:r>
          </a:p>
          <a:p>
            <a:pPr algn="just"/>
            <a:endParaRPr lang="en-GB" dirty="0"/>
          </a:p>
          <a:p>
            <a:pPr algn="just"/>
            <a:r>
              <a:rPr lang="en-GB" b="1" dirty="0">
                <a:solidFill>
                  <a:srgbClr val="FF0000"/>
                </a:solidFill>
              </a:rPr>
              <a:t>Atrial flutter</a:t>
            </a:r>
            <a:r>
              <a:rPr lang="en-GB" dirty="0"/>
              <a:t>: Regular, discrete, uniform atrial signals (usually best seen in leads II, III, and </a:t>
            </a:r>
            <a:r>
              <a:rPr lang="en-GB" dirty="0" err="1"/>
              <a:t>aVF</a:t>
            </a:r>
            <a:r>
              <a:rPr lang="en-GB" dirty="0"/>
              <a:t>) without intervening isoelectric periods, usually at rates &gt; 250 beats/min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112541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b="1" dirty="0" smtClean="0">
                <a:ln w="1905"/>
                <a:gradFill>
                  <a:gsLst>
                    <a:gs pos="0">
                      <a:schemeClr val="accent6">
                        <a:shade val="20000"/>
                        <a:satMod val="200000"/>
                      </a:schemeClr>
                    </a:gs>
                    <a:gs pos="78000">
                      <a:schemeClr val="accent6">
                        <a:tint val="90000"/>
                        <a:shade val="89000"/>
                        <a:satMod val="220000"/>
                      </a:schemeClr>
                    </a:gs>
                    <a:gs pos="100000">
                      <a:schemeClr val="accent6">
                        <a:tint val="12000"/>
                        <a:satMod val="255000"/>
                      </a:schemeClr>
                    </a:gs>
                  </a:gsLst>
                  <a:lin ang="5400000"/>
                </a:gradFill>
                <a:effectLst>
                  <a:innerShdw blurRad="69850" dist="43180" dir="5400000">
                    <a:srgbClr val="000000">
                      <a:alpha val="65000"/>
                    </a:srgbClr>
                  </a:innerShdw>
                </a:effectLst>
              </a:rPr>
              <a:t>Treatment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95400"/>
            <a:ext cx="8229600" cy="5105400"/>
          </a:xfrm>
        </p:spPr>
        <p:txBody>
          <a:bodyPr>
            <a:noAutofit/>
          </a:bodyPr>
          <a:lstStyle/>
          <a:p>
            <a:r>
              <a:rPr lang="en-GB" sz="2200" dirty="0"/>
              <a:t>The need for treatment of </a:t>
            </a:r>
            <a:r>
              <a:rPr lang="en-GB" sz="2200" dirty="0" smtClean="0"/>
              <a:t>arrhythmias</a:t>
            </a:r>
            <a:r>
              <a:rPr lang="en-GB" sz="2200" dirty="0"/>
              <a:t> </a:t>
            </a:r>
            <a:r>
              <a:rPr lang="en-GB" sz="2200" dirty="0" smtClean="0"/>
              <a:t>depends </a:t>
            </a:r>
            <a:r>
              <a:rPr lang="en-GB" sz="2200" dirty="0"/>
              <a:t>on the symptoms and the seriousness of the arrhythmia. </a:t>
            </a:r>
            <a:endParaRPr lang="en-GB" sz="2200" dirty="0" smtClean="0"/>
          </a:p>
          <a:p>
            <a:endParaRPr lang="en-GB" sz="2200" dirty="0" smtClean="0"/>
          </a:p>
          <a:p>
            <a:r>
              <a:rPr lang="en-GB" sz="2200" dirty="0" smtClean="0"/>
              <a:t>Treatment </a:t>
            </a:r>
            <a:r>
              <a:rPr lang="en-GB" sz="2200" dirty="0"/>
              <a:t>is directed at causes. </a:t>
            </a:r>
            <a:endParaRPr lang="en-GB" sz="2200" dirty="0" smtClean="0"/>
          </a:p>
          <a:p>
            <a:r>
              <a:rPr lang="en-GB" sz="2200" dirty="0" smtClean="0"/>
              <a:t>direct </a:t>
            </a:r>
            <a:r>
              <a:rPr lang="en-GB" sz="2200" dirty="0"/>
              <a:t>antiarrhythmic therapy, including </a:t>
            </a:r>
            <a:endParaRPr lang="en-GB" sz="2200" dirty="0" smtClean="0"/>
          </a:p>
          <a:p>
            <a:pPr marL="914400" lvl="1" indent="-514350">
              <a:buFont typeface="+mj-lt"/>
              <a:buAutoNum type="arabicPeriod"/>
            </a:pPr>
            <a:r>
              <a:rPr lang="en-GB" sz="2200" dirty="0" smtClean="0"/>
              <a:t>antiarrhythmic </a:t>
            </a:r>
            <a:r>
              <a:rPr lang="en-GB" sz="2200" dirty="0"/>
              <a:t>drugs, </a:t>
            </a:r>
            <a:endParaRPr lang="en-GB" sz="2200" dirty="0" smtClean="0"/>
          </a:p>
          <a:p>
            <a:pPr marL="914400" lvl="1" indent="-514350">
              <a:buFont typeface="+mj-lt"/>
              <a:buAutoNum type="arabicPeriod"/>
            </a:pPr>
            <a:r>
              <a:rPr lang="en-GB" sz="2200" dirty="0" err="1" smtClean="0"/>
              <a:t>cardioversion</a:t>
            </a:r>
            <a:r>
              <a:rPr lang="en-GB" sz="2200" dirty="0" smtClean="0"/>
              <a:t>-defibrillation</a:t>
            </a:r>
            <a:r>
              <a:rPr lang="en-GB" sz="2200" dirty="0"/>
              <a:t>, </a:t>
            </a:r>
            <a:endParaRPr lang="en-GB" sz="2200" dirty="0" smtClean="0"/>
          </a:p>
          <a:p>
            <a:pPr marL="914400" lvl="1" indent="-514350">
              <a:buFont typeface="+mj-lt"/>
              <a:buAutoNum type="arabicPeriod"/>
            </a:pPr>
            <a:r>
              <a:rPr lang="en-GB" sz="2200" dirty="0" smtClean="0"/>
              <a:t>implantable </a:t>
            </a:r>
            <a:r>
              <a:rPr lang="en-GB" sz="2200" dirty="0" err="1" smtClean="0"/>
              <a:t>cardioverter</a:t>
            </a:r>
            <a:r>
              <a:rPr lang="en-GB" sz="2200" dirty="0" smtClean="0"/>
              <a:t>-defibrillators(ICDs</a:t>
            </a:r>
            <a:r>
              <a:rPr lang="en-GB" sz="2200" dirty="0"/>
              <a:t>), </a:t>
            </a:r>
            <a:endParaRPr lang="en-GB" sz="2200" dirty="0" smtClean="0"/>
          </a:p>
          <a:p>
            <a:pPr marL="914400" lvl="1" indent="-514350">
              <a:buFont typeface="+mj-lt"/>
              <a:buAutoNum type="arabicPeriod"/>
            </a:pPr>
            <a:r>
              <a:rPr lang="en-GB" sz="2200" dirty="0" smtClean="0"/>
              <a:t>pacemakers</a:t>
            </a:r>
          </a:p>
          <a:p>
            <a:pPr marL="914400" lvl="1" indent="-514350">
              <a:buFont typeface="+mj-lt"/>
              <a:buAutoNum type="arabicPeriod"/>
            </a:pPr>
            <a:r>
              <a:rPr lang="en-GB" sz="2200" dirty="0" smtClean="0"/>
              <a:t>catheter ablation</a:t>
            </a:r>
          </a:p>
          <a:p>
            <a:pPr marL="914400" lvl="1" indent="-514350">
              <a:buFont typeface="+mj-lt"/>
              <a:buAutoNum type="arabicPeriod"/>
            </a:pPr>
            <a:r>
              <a:rPr lang="en-GB" sz="2200" dirty="0" smtClean="0"/>
              <a:t>surgery</a:t>
            </a:r>
            <a:endParaRPr lang="en-GB" sz="2200" dirty="0"/>
          </a:p>
        </p:txBody>
      </p:sp>
    </p:spTree>
    <p:extLst>
      <p:ext uri="{BB962C8B-B14F-4D97-AF65-F5344CB8AC3E}">
        <p14:creationId xmlns:p14="http://schemas.microsoft.com/office/powerpoint/2010/main" val="42841790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59231401"/>
              </p:ext>
            </p:extLst>
          </p:nvPr>
        </p:nvGraphicFramePr>
        <p:xfrm>
          <a:off x="457200" y="1600200"/>
          <a:ext cx="8229600" cy="3505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/>
                <a:gridCol w="6324600"/>
              </a:tblGrid>
              <a:tr h="370840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GB" sz="1800" b="0" i="0" kern="1200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Disopyramide</a:t>
                      </a:r>
                      <a:endParaRPr lang="en-GB" sz="1800" b="0" i="0" kern="1200" dirty="0" smtClean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en-GB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Procainamide*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APB and VPB suppression, SVT and VT suppression, AF or atrial flutter, and VF suppression</a:t>
                      </a:r>
                      <a:endParaRPr lang="en-GB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algn="l" fontAlgn="t"/>
                      <a:r>
                        <a:rPr lang="en-GB" dirty="0">
                          <a:effectLst/>
                        </a:rPr>
                        <a:t>Quinidine*</a:t>
                      </a:r>
                    </a:p>
                  </a:txBody>
                  <a:tcPr marT="19050" marB="1905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pt-BR" dirty="0">
                          <a:effectLst/>
                        </a:rPr>
                        <a:t>Oral: 200–400 mg q 4–6 h</a:t>
                      </a:r>
                    </a:p>
                  </a:txBody>
                  <a:tcPr marT="19050" marB="19050"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GB" sz="1800" b="0" i="0" kern="1200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Lidocaine</a:t>
                      </a:r>
                      <a:endParaRPr lang="en-GB" sz="1800" b="0" i="0" kern="1200" dirty="0" smtClean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en-GB" sz="1800" b="0" i="0" kern="1200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Mexiletine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Suppression of ventricular arrhythmias (VPB, VT, VF)</a:t>
                      </a:r>
                      <a:endParaRPr lang="en-GB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817905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366</TotalTime>
  <Words>399</Words>
  <Application>Microsoft Office PowerPoint</Application>
  <PresentationFormat>On-screen Show (4:3)</PresentationFormat>
  <Paragraphs>91</Paragraphs>
  <Slides>15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6" baseType="lpstr">
      <vt:lpstr>Office Theme</vt:lpstr>
      <vt:lpstr>Arrhythmias</vt:lpstr>
      <vt:lpstr>Arrhythmias</vt:lpstr>
      <vt:lpstr>Normal cardiac rhythm</vt:lpstr>
      <vt:lpstr>Pathophysiology</vt:lpstr>
      <vt:lpstr>Electrocardiogram(ECG)</vt:lpstr>
      <vt:lpstr>QRS COMPLEX</vt:lpstr>
      <vt:lpstr>ECG Printout</vt:lpstr>
      <vt:lpstr>Interpretation of the QRS Complex</vt:lpstr>
      <vt:lpstr>Symptoms and Signs</vt:lpstr>
      <vt:lpstr>Diagnosis</vt:lpstr>
      <vt:lpstr>Classification of Arrhythmias</vt:lpstr>
      <vt:lpstr>Bradyarrhythmias</vt:lpstr>
      <vt:lpstr>Tachyarrhythmias</vt:lpstr>
      <vt:lpstr>Treatment</vt:lpstr>
      <vt:lpstr>PowerPoint Presentation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Parkinsonism</dc:title>
  <dc:creator>user</dc:creator>
  <cp:lastModifiedBy>mathari hospital</cp:lastModifiedBy>
  <cp:revision>30</cp:revision>
  <dcterms:created xsi:type="dcterms:W3CDTF">2017-10-07T15:23:00Z</dcterms:created>
  <dcterms:modified xsi:type="dcterms:W3CDTF">2017-10-16T09:34:13Z</dcterms:modified>
</cp:coreProperties>
</file>