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5" autoAdjust="0"/>
    <p:restoredTop sz="94660"/>
  </p:normalViewPr>
  <p:slideViewPr>
    <p:cSldViewPr snapToGrid="0">
      <p:cViewPr varScale="1">
        <p:scale>
          <a:sx n="85" d="100"/>
          <a:sy n="85" d="100"/>
        </p:scale>
        <p:origin x="9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B3A2089-443F-4BB6-90D3-28F57EF9AB2E}" type="datetimeFigureOut">
              <a:rPr lang="en-US" smtClean="0"/>
              <a:t>5/26/2018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93F21B-6EAE-437D-9A76-52607B76F64E}" type="slidenum">
              <a:rPr lang="en-US" smtClean="0"/>
              <a:t>‹#›</a:t>
            </a:fld>
            <a:endParaRPr lang="en-US"/>
          </a:p>
        </p:txBody>
      </p:sp>
    </p:spTree>
    <p:extLst>
      <p:ext uri="{BB962C8B-B14F-4D97-AF65-F5344CB8AC3E}">
        <p14:creationId xmlns:p14="http://schemas.microsoft.com/office/powerpoint/2010/main" val="23114625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SYNDROME -  A GROUP OF SIGNS</a:t>
            </a:r>
            <a:r>
              <a:rPr lang="en-US" baseline="0" dirty="0" smtClean="0"/>
              <a:t> AND SYMPTOMS THAT OCCUR TOGETHER</a:t>
            </a:r>
            <a:endParaRPr lang="en-US" dirty="0"/>
          </a:p>
        </p:txBody>
      </p:sp>
      <p:sp>
        <p:nvSpPr>
          <p:cNvPr id="4" name="Slide Number Placeholder 3"/>
          <p:cNvSpPr>
            <a:spLocks noGrp="1"/>
          </p:cNvSpPr>
          <p:nvPr>
            <p:ph type="sldNum" sz="quarter" idx="10"/>
          </p:nvPr>
        </p:nvSpPr>
        <p:spPr/>
        <p:txBody>
          <a:bodyPr/>
          <a:lstStyle/>
          <a:p>
            <a:fld id="{B836775A-F63A-4A40-9B37-27BCB3F21881}" type="slidenum">
              <a:rPr lang="en-US" smtClean="0"/>
              <a:pPr/>
              <a:t>2</a:t>
            </a:fld>
            <a:endParaRPr lang="en-US"/>
          </a:p>
        </p:txBody>
      </p:sp>
    </p:spTree>
    <p:extLst>
      <p:ext uri="{BB962C8B-B14F-4D97-AF65-F5344CB8AC3E}">
        <p14:creationId xmlns:p14="http://schemas.microsoft.com/office/powerpoint/2010/main" val="33170490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CO-</a:t>
            </a:r>
            <a:r>
              <a:rPr lang="en-US" baseline="0" dirty="0" smtClean="0"/>
              <a:t> VOLUME OF BLOOD BEING PUMPED OUT BY THE HEART, LEFT AND RIGHT VENTRICLES</a:t>
            </a:r>
          </a:p>
          <a:p>
            <a:endParaRPr lang="en-US" baseline="0" dirty="0" smtClean="0"/>
          </a:p>
        </p:txBody>
      </p:sp>
      <p:sp>
        <p:nvSpPr>
          <p:cNvPr id="4" name="Slide Number Placeholder 3"/>
          <p:cNvSpPr>
            <a:spLocks noGrp="1"/>
          </p:cNvSpPr>
          <p:nvPr>
            <p:ph type="sldNum" sz="quarter" idx="10"/>
          </p:nvPr>
        </p:nvSpPr>
        <p:spPr/>
        <p:txBody>
          <a:bodyPr/>
          <a:lstStyle/>
          <a:p>
            <a:fld id="{B836775A-F63A-4A40-9B37-27BCB3F21881}" type="slidenum">
              <a:rPr lang="en-US" smtClean="0"/>
              <a:pPr/>
              <a:t>3</a:t>
            </a:fld>
            <a:endParaRPr lang="en-US"/>
          </a:p>
        </p:txBody>
      </p:sp>
    </p:spTree>
    <p:extLst>
      <p:ext uri="{BB962C8B-B14F-4D97-AF65-F5344CB8AC3E}">
        <p14:creationId xmlns:p14="http://schemas.microsoft.com/office/powerpoint/2010/main" val="32566447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MI- blood stops flowing to  section of the heart causing </a:t>
            </a:r>
            <a:r>
              <a:rPr lang="en-US" dirty="0" err="1" smtClean="0"/>
              <a:t>causing</a:t>
            </a:r>
            <a:r>
              <a:rPr lang="en-US" dirty="0" smtClean="0"/>
              <a:t> </a:t>
            </a:r>
            <a:r>
              <a:rPr lang="en-US" dirty="0" err="1" smtClean="0"/>
              <a:t>damamage</a:t>
            </a:r>
            <a:r>
              <a:rPr lang="en-US" dirty="0" smtClean="0"/>
              <a:t> to heart muscles</a:t>
            </a:r>
            <a:endParaRPr lang="en-US" dirty="0"/>
          </a:p>
        </p:txBody>
      </p:sp>
      <p:sp>
        <p:nvSpPr>
          <p:cNvPr id="4" name="Slide Number Placeholder 3"/>
          <p:cNvSpPr>
            <a:spLocks noGrp="1"/>
          </p:cNvSpPr>
          <p:nvPr>
            <p:ph type="sldNum" sz="quarter" idx="10"/>
          </p:nvPr>
        </p:nvSpPr>
        <p:spPr/>
        <p:txBody>
          <a:bodyPr/>
          <a:lstStyle/>
          <a:p>
            <a:fld id="{B836775A-F63A-4A40-9B37-27BCB3F21881}" type="slidenum">
              <a:rPr lang="en-US" smtClean="0"/>
              <a:pPr/>
              <a:t>5</a:t>
            </a:fld>
            <a:endParaRPr lang="en-US"/>
          </a:p>
        </p:txBody>
      </p:sp>
    </p:spTree>
    <p:extLst>
      <p:ext uri="{BB962C8B-B14F-4D97-AF65-F5344CB8AC3E}">
        <p14:creationId xmlns:p14="http://schemas.microsoft.com/office/powerpoint/2010/main" val="18035555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Ischemia – restriction of blood supply</a:t>
            </a:r>
            <a:endParaRPr lang="en-US" dirty="0"/>
          </a:p>
        </p:txBody>
      </p:sp>
      <p:sp>
        <p:nvSpPr>
          <p:cNvPr id="4" name="Slide Number Placeholder 3"/>
          <p:cNvSpPr>
            <a:spLocks noGrp="1"/>
          </p:cNvSpPr>
          <p:nvPr>
            <p:ph type="sldNum" sz="quarter" idx="10"/>
          </p:nvPr>
        </p:nvSpPr>
        <p:spPr/>
        <p:txBody>
          <a:bodyPr/>
          <a:lstStyle/>
          <a:p>
            <a:fld id="{B836775A-F63A-4A40-9B37-27BCB3F21881}" type="slidenum">
              <a:rPr lang="en-US" smtClean="0"/>
              <a:pPr/>
              <a:t>6</a:t>
            </a:fld>
            <a:endParaRPr lang="en-US"/>
          </a:p>
        </p:txBody>
      </p:sp>
    </p:spTree>
    <p:extLst>
      <p:ext uri="{BB962C8B-B14F-4D97-AF65-F5344CB8AC3E}">
        <p14:creationId xmlns:p14="http://schemas.microsoft.com/office/powerpoint/2010/main" val="18418359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Hypertrophy- increase in the size of an organ or tissue</a:t>
            </a:r>
            <a:endParaRPr lang="en-US" dirty="0"/>
          </a:p>
        </p:txBody>
      </p:sp>
      <p:sp>
        <p:nvSpPr>
          <p:cNvPr id="4" name="Slide Number Placeholder 3"/>
          <p:cNvSpPr>
            <a:spLocks noGrp="1"/>
          </p:cNvSpPr>
          <p:nvPr>
            <p:ph type="sldNum" sz="quarter" idx="10"/>
          </p:nvPr>
        </p:nvSpPr>
        <p:spPr/>
        <p:txBody>
          <a:bodyPr/>
          <a:lstStyle/>
          <a:p>
            <a:fld id="{B836775A-F63A-4A40-9B37-27BCB3F21881}" type="slidenum">
              <a:rPr lang="en-US" smtClean="0"/>
              <a:pPr/>
              <a:t>7</a:t>
            </a:fld>
            <a:endParaRPr lang="en-US"/>
          </a:p>
        </p:txBody>
      </p:sp>
    </p:spTree>
    <p:extLst>
      <p:ext uri="{BB962C8B-B14F-4D97-AF65-F5344CB8AC3E}">
        <p14:creationId xmlns:p14="http://schemas.microsoft.com/office/powerpoint/2010/main" val="24325012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ADH-antidiuretic hormone</a:t>
            </a:r>
            <a:endParaRPr lang="en-US" dirty="0"/>
          </a:p>
        </p:txBody>
      </p:sp>
      <p:sp>
        <p:nvSpPr>
          <p:cNvPr id="4" name="Slide Number Placeholder 3"/>
          <p:cNvSpPr>
            <a:spLocks noGrp="1"/>
          </p:cNvSpPr>
          <p:nvPr>
            <p:ph type="sldNum" sz="quarter" idx="10"/>
          </p:nvPr>
        </p:nvSpPr>
        <p:spPr/>
        <p:txBody>
          <a:bodyPr/>
          <a:lstStyle/>
          <a:p>
            <a:fld id="{B836775A-F63A-4A40-9B37-27BCB3F21881}" type="slidenum">
              <a:rPr lang="en-US" smtClean="0"/>
              <a:pPr/>
              <a:t>13</a:t>
            </a:fld>
            <a:endParaRPr lang="en-US"/>
          </a:p>
        </p:txBody>
      </p:sp>
    </p:spTree>
    <p:extLst>
      <p:ext uri="{BB962C8B-B14F-4D97-AF65-F5344CB8AC3E}">
        <p14:creationId xmlns:p14="http://schemas.microsoft.com/office/powerpoint/2010/main" val="24377177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smtClean="0">
                <a:solidFill>
                  <a:schemeClr val="tx1"/>
                </a:solidFill>
                <a:effectLst/>
                <a:latin typeface="+mn-lt"/>
                <a:ea typeface="+mn-ea"/>
                <a:cs typeface="+mn-cs"/>
              </a:rPr>
              <a:t> A </a:t>
            </a:r>
            <a:r>
              <a:rPr lang="en-US" sz="1200" b="1" i="0" kern="1200" dirty="0" smtClean="0">
                <a:solidFill>
                  <a:schemeClr val="tx1"/>
                </a:solidFill>
                <a:effectLst/>
                <a:latin typeface="+mn-lt"/>
                <a:ea typeface="+mn-ea"/>
                <a:cs typeface="+mn-cs"/>
              </a:rPr>
              <a:t>stent</a:t>
            </a:r>
            <a:r>
              <a:rPr lang="en-US" sz="1200" b="0" i="0" kern="1200" dirty="0" smtClean="0">
                <a:solidFill>
                  <a:schemeClr val="tx1"/>
                </a:solidFill>
                <a:effectLst/>
                <a:latin typeface="+mn-lt"/>
                <a:ea typeface="+mn-ea"/>
                <a:cs typeface="+mn-cs"/>
              </a:rPr>
              <a:t> is a small, metal mesh tube that keeps the artery open.</a:t>
            </a:r>
            <a:endParaRPr lang="en-US" dirty="0"/>
          </a:p>
        </p:txBody>
      </p:sp>
      <p:sp>
        <p:nvSpPr>
          <p:cNvPr id="4" name="Slide Number Placeholder 3"/>
          <p:cNvSpPr>
            <a:spLocks noGrp="1"/>
          </p:cNvSpPr>
          <p:nvPr>
            <p:ph type="sldNum" sz="quarter" idx="10"/>
          </p:nvPr>
        </p:nvSpPr>
        <p:spPr/>
        <p:txBody>
          <a:bodyPr/>
          <a:lstStyle/>
          <a:p>
            <a:fld id="{B836775A-F63A-4A40-9B37-27BCB3F21881}" type="slidenum">
              <a:rPr lang="en-US" smtClean="0"/>
              <a:pPr/>
              <a:t>33</a:t>
            </a:fld>
            <a:endParaRPr lang="en-US"/>
          </a:p>
        </p:txBody>
      </p:sp>
    </p:spTree>
    <p:extLst>
      <p:ext uri="{BB962C8B-B14F-4D97-AF65-F5344CB8AC3E}">
        <p14:creationId xmlns:p14="http://schemas.microsoft.com/office/powerpoint/2010/main" val="23037051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577D181-2F52-4CDF-99ED-AE7A87EA450F}" type="datetimeFigureOut">
              <a:rPr lang="en-US" smtClean="0"/>
              <a:t>5/26/2018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ABAFF57-F51F-4932-8442-DCCE02565A3C}" type="slidenum">
              <a:rPr lang="en-US" smtClean="0"/>
              <a:t>‹#›</a:t>
            </a:fld>
            <a:endParaRPr lang="en-US"/>
          </a:p>
        </p:txBody>
      </p:sp>
    </p:spTree>
    <p:extLst>
      <p:ext uri="{BB962C8B-B14F-4D97-AF65-F5344CB8AC3E}">
        <p14:creationId xmlns:p14="http://schemas.microsoft.com/office/powerpoint/2010/main" val="2526717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577D181-2F52-4CDF-99ED-AE7A87EA450F}" type="datetimeFigureOut">
              <a:rPr lang="en-US" smtClean="0"/>
              <a:t>5/26/2018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ABAFF57-F51F-4932-8442-DCCE02565A3C}" type="slidenum">
              <a:rPr lang="en-US" smtClean="0"/>
              <a:t>‹#›</a:t>
            </a:fld>
            <a:endParaRPr lang="en-US"/>
          </a:p>
        </p:txBody>
      </p:sp>
    </p:spTree>
    <p:extLst>
      <p:ext uri="{BB962C8B-B14F-4D97-AF65-F5344CB8AC3E}">
        <p14:creationId xmlns:p14="http://schemas.microsoft.com/office/powerpoint/2010/main" val="6368925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577D181-2F52-4CDF-99ED-AE7A87EA450F}" type="datetimeFigureOut">
              <a:rPr lang="en-US" smtClean="0"/>
              <a:t>5/26/2018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ABAFF57-F51F-4932-8442-DCCE02565A3C}" type="slidenum">
              <a:rPr lang="en-US" smtClean="0"/>
              <a:t>‹#›</a:t>
            </a:fld>
            <a:endParaRPr lang="en-US"/>
          </a:p>
        </p:txBody>
      </p:sp>
    </p:spTree>
    <p:extLst>
      <p:ext uri="{BB962C8B-B14F-4D97-AF65-F5344CB8AC3E}">
        <p14:creationId xmlns:p14="http://schemas.microsoft.com/office/powerpoint/2010/main" val="4038980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577D181-2F52-4CDF-99ED-AE7A87EA450F}" type="datetimeFigureOut">
              <a:rPr lang="en-US" smtClean="0"/>
              <a:t>5/26/2018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ABAFF57-F51F-4932-8442-DCCE02565A3C}" type="slidenum">
              <a:rPr lang="en-US" smtClean="0"/>
              <a:t>‹#›</a:t>
            </a:fld>
            <a:endParaRPr lang="en-US"/>
          </a:p>
        </p:txBody>
      </p:sp>
    </p:spTree>
    <p:extLst>
      <p:ext uri="{BB962C8B-B14F-4D97-AF65-F5344CB8AC3E}">
        <p14:creationId xmlns:p14="http://schemas.microsoft.com/office/powerpoint/2010/main" val="4668440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577D181-2F52-4CDF-99ED-AE7A87EA450F}" type="datetimeFigureOut">
              <a:rPr lang="en-US" smtClean="0"/>
              <a:t>5/26/2018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ABAFF57-F51F-4932-8442-DCCE02565A3C}" type="slidenum">
              <a:rPr lang="en-US" smtClean="0"/>
              <a:t>‹#›</a:t>
            </a:fld>
            <a:endParaRPr lang="en-US"/>
          </a:p>
        </p:txBody>
      </p:sp>
    </p:spTree>
    <p:extLst>
      <p:ext uri="{BB962C8B-B14F-4D97-AF65-F5344CB8AC3E}">
        <p14:creationId xmlns:p14="http://schemas.microsoft.com/office/powerpoint/2010/main" val="1541758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577D181-2F52-4CDF-99ED-AE7A87EA450F}" type="datetimeFigureOut">
              <a:rPr lang="en-US" smtClean="0"/>
              <a:t>5/26/2018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ABAFF57-F51F-4932-8442-DCCE02565A3C}" type="slidenum">
              <a:rPr lang="en-US" smtClean="0"/>
              <a:t>‹#›</a:t>
            </a:fld>
            <a:endParaRPr lang="en-US"/>
          </a:p>
        </p:txBody>
      </p:sp>
    </p:spTree>
    <p:extLst>
      <p:ext uri="{BB962C8B-B14F-4D97-AF65-F5344CB8AC3E}">
        <p14:creationId xmlns:p14="http://schemas.microsoft.com/office/powerpoint/2010/main" val="31569971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577D181-2F52-4CDF-99ED-AE7A87EA450F}" type="datetimeFigureOut">
              <a:rPr lang="en-US" smtClean="0"/>
              <a:t>5/26/2018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ABAFF57-F51F-4932-8442-DCCE02565A3C}" type="slidenum">
              <a:rPr lang="en-US" smtClean="0"/>
              <a:t>‹#›</a:t>
            </a:fld>
            <a:endParaRPr lang="en-US"/>
          </a:p>
        </p:txBody>
      </p:sp>
    </p:spTree>
    <p:extLst>
      <p:ext uri="{BB962C8B-B14F-4D97-AF65-F5344CB8AC3E}">
        <p14:creationId xmlns:p14="http://schemas.microsoft.com/office/powerpoint/2010/main" val="34940459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577D181-2F52-4CDF-99ED-AE7A87EA450F}" type="datetimeFigureOut">
              <a:rPr lang="en-US" smtClean="0"/>
              <a:t>5/26/2018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ABAFF57-F51F-4932-8442-DCCE02565A3C}" type="slidenum">
              <a:rPr lang="en-US" smtClean="0"/>
              <a:t>‹#›</a:t>
            </a:fld>
            <a:endParaRPr lang="en-US"/>
          </a:p>
        </p:txBody>
      </p:sp>
    </p:spTree>
    <p:extLst>
      <p:ext uri="{BB962C8B-B14F-4D97-AF65-F5344CB8AC3E}">
        <p14:creationId xmlns:p14="http://schemas.microsoft.com/office/powerpoint/2010/main" val="3044872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577D181-2F52-4CDF-99ED-AE7A87EA450F}" type="datetimeFigureOut">
              <a:rPr lang="en-US" smtClean="0"/>
              <a:t>5/26/2018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ABAFF57-F51F-4932-8442-DCCE02565A3C}" type="slidenum">
              <a:rPr lang="en-US" smtClean="0"/>
              <a:t>‹#›</a:t>
            </a:fld>
            <a:endParaRPr lang="en-US"/>
          </a:p>
        </p:txBody>
      </p:sp>
    </p:spTree>
    <p:extLst>
      <p:ext uri="{BB962C8B-B14F-4D97-AF65-F5344CB8AC3E}">
        <p14:creationId xmlns:p14="http://schemas.microsoft.com/office/powerpoint/2010/main" val="27902607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577D181-2F52-4CDF-99ED-AE7A87EA450F}" type="datetimeFigureOut">
              <a:rPr lang="en-US" smtClean="0"/>
              <a:t>5/26/2018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ABAFF57-F51F-4932-8442-DCCE02565A3C}" type="slidenum">
              <a:rPr lang="en-US" smtClean="0"/>
              <a:t>‹#›</a:t>
            </a:fld>
            <a:endParaRPr lang="en-US"/>
          </a:p>
        </p:txBody>
      </p:sp>
    </p:spTree>
    <p:extLst>
      <p:ext uri="{BB962C8B-B14F-4D97-AF65-F5344CB8AC3E}">
        <p14:creationId xmlns:p14="http://schemas.microsoft.com/office/powerpoint/2010/main" val="5457964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577D181-2F52-4CDF-99ED-AE7A87EA450F}" type="datetimeFigureOut">
              <a:rPr lang="en-US" smtClean="0"/>
              <a:t>5/26/2018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ABAFF57-F51F-4932-8442-DCCE02565A3C}" type="slidenum">
              <a:rPr lang="en-US" smtClean="0"/>
              <a:t>‹#›</a:t>
            </a:fld>
            <a:endParaRPr lang="en-US"/>
          </a:p>
        </p:txBody>
      </p:sp>
    </p:spTree>
    <p:extLst>
      <p:ext uri="{BB962C8B-B14F-4D97-AF65-F5344CB8AC3E}">
        <p14:creationId xmlns:p14="http://schemas.microsoft.com/office/powerpoint/2010/main" val="778447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577D181-2F52-4CDF-99ED-AE7A87EA450F}" type="datetimeFigureOut">
              <a:rPr lang="en-US" smtClean="0"/>
              <a:t>5/26/2018</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BAFF57-F51F-4932-8442-DCCE02565A3C}" type="slidenum">
              <a:rPr lang="en-US" smtClean="0"/>
              <a:t>‹#›</a:t>
            </a:fld>
            <a:endParaRPr lang="en-US"/>
          </a:p>
        </p:txBody>
      </p:sp>
    </p:spTree>
    <p:extLst>
      <p:ext uri="{BB962C8B-B14F-4D97-AF65-F5344CB8AC3E}">
        <p14:creationId xmlns:p14="http://schemas.microsoft.com/office/powerpoint/2010/main" val="1902915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dirty="0" smtClean="0"/>
              <a:t>HEART FAILURE</a:t>
            </a:r>
            <a:endParaRPr lang="en-US" dirty="0"/>
          </a:p>
        </p:txBody>
      </p:sp>
      <p:sp>
        <p:nvSpPr>
          <p:cNvPr id="3" name="Subtitle 2"/>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786764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b="1" dirty="0"/>
          </a:p>
        </p:txBody>
      </p:sp>
      <p:sp>
        <p:nvSpPr>
          <p:cNvPr id="3" name="Content Placeholder 2"/>
          <p:cNvSpPr>
            <a:spLocks noGrp="1"/>
          </p:cNvSpPr>
          <p:nvPr>
            <p:ph idx="1"/>
          </p:nvPr>
        </p:nvSpPr>
        <p:spPr>
          <a:xfrm>
            <a:off x="1981200" y="1143000"/>
            <a:ext cx="8686800" cy="5257800"/>
          </a:xfrm>
        </p:spPr>
        <p:txBody>
          <a:bodyPr>
            <a:normAutofit/>
          </a:bodyPr>
          <a:lstStyle/>
          <a:p>
            <a:pPr marL="0" indent="0">
              <a:buNone/>
            </a:pPr>
            <a:r>
              <a:rPr lang="en-US" b="1" dirty="0" smtClean="0"/>
              <a:t>Introduction:</a:t>
            </a:r>
          </a:p>
          <a:p>
            <a:r>
              <a:rPr lang="en-US" b="1" i="1" dirty="0" smtClean="0"/>
              <a:t>Definition</a:t>
            </a:r>
            <a:r>
              <a:rPr lang="en-US" dirty="0" smtClean="0"/>
              <a:t>: It is a clinical syndrome resulting from structural or functional cardiac disorders that impair the ability of ventricles to fill or eject blood (to meet the metabolic needs of the body) [Hinkle &amp; Cheever, 2014]</a:t>
            </a:r>
          </a:p>
          <a:p>
            <a:r>
              <a:rPr lang="en-US" dirty="0" smtClean="0"/>
              <a:t>Fluid buildup in the heart from myocardium that can’t provide sufficient cardiac output</a:t>
            </a:r>
          </a:p>
          <a:p>
            <a:r>
              <a:rPr lang="en-US" dirty="0" smtClean="0"/>
              <a:t>Usually occurs in a damaged left ventricle but may occur in right ventricle, either primarily or secondary to left-sided heart failure</a:t>
            </a:r>
            <a:endParaRPr lang="en-US" dirty="0"/>
          </a:p>
        </p:txBody>
      </p:sp>
    </p:spTree>
    <p:extLst>
      <p:ext uri="{BB962C8B-B14F-4D97-AF65-F5344CB8AC3E}">
        <p14:creationId xmlns:p14="http://schemas.microsoft.com/office/powerpoint/2010/main" val="409168544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sp>
        <p:nvSpPr>
          <p:cNvPr id="3" name="Content Placeholder 2"/>
          <p:cNvSpPr>
            <a:spLocks noGrp="1"/>
          </p:cNvSpPr>
          <p:nvPr>
            <p:ph idx="1"/>
          </p:nvPr>
        </p:nvSpPr>
        <p:spPr>
          <a:xfrm>
            <a:off x="1981200" y="1600200"/>
            <a:ext cx="8229600" cy="5029200"/>
          </a:xfrm>
        </p:spPr>
        <p:txBody>
          <a:bodyPr>
            <a:normAutofit fontScale="92500" lnSpcReduction="10000"/>
          </a:bodyPr>
          <a:lstStyle/>
          <a:p>
            <a:r>
              <a:rPr lang="en-GB" dirty="0" smtClean="0"/>
              <a:t>Heart failure (HF) was referred to congestive heart/Cardiac failure (CHF or CCF) due to many patients present with pulmonary or peripheral congestion with oedema</a:t>
            </a:r>
          </a:p>
          <a:p>
            <a:r>
              <a:rPr lang="en-GB" dirty="0" smtClean="0"/>
              <a:t>Currently, HF is recognized as clinical syndrome characterized by signs and symptoms of fluid overload or inadequate tissue perfusion</a:t>
            </a:r>
          </a:p>
          <a:p>
            <a:r>
              <a:rPr lang="en-GB" dirty="0" smtClean="0"/>
              <a:t>Fluid overload and decreased tissue perfusion occurs when heart cannot generate sufficient cardiac output(CO) to meet body’s demand for oxygen and nutrients</a:t>
            </a:r>
          </a:p>
          <a:p>
            <a:r>
              <a:rPr lang="en-GB" dirty="0" smtClean="0"/>
              <a:t>In heart failure, impaired contraction of the heart (systolic dysfunction) or filling of the heart (diastolic dysfunction) may cause pulmonary or systemic congestion </a:t>
            </a:r>
            <a:endParaRPr lang="en-GB" dirty="0"/>
          </a:p>
        </p:txBody>
      </p:sp>
    </p:spTree>
    <p:extLst>
      <p:ext uri="{BB962C8B-B14F-4D97-AF65-F5344CB8AC3E}">
        <p14:creationId xmlns:p14="http://schemas.microsoft.com/office/powerpoint/2010/main" val="383219202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a:t>
            </a:r>
            <a:r>
              <a:rPr lang="en-US" dirty="0" smtClean="0"/>
              <a:t>athophysiology</a:t>
            </a:r>
            <a:endParaRPr lang="en-US" dirty="0"/>
          </a:p>
        </p:txBody>
      </p:sp>
      <p:sp>
        <p:nvSpPr>
          <p:cNvPr id="2" name="Content Placeholder 1"/>
          <p:cNvSpPr>
            <a:spLocks noGrp="1"/>
          </p:cNvSpPr>
          <p:nvPr>
            <p:ph idx="1"/>
          </p:nvPr>
        </p:nvSpPr>
        <p:spPr/>
        <p:txBody>
          <a:bodyPr/>
          <a:lstStyle/>
          <a:p>
            <a:pPr marL="109537" indent="0">
              <a:buNone/>
            </a:pPr>
            <a:r>
              <a:rPr lang="en-US" sz="3600" dirty="0"/>
              <a:t>Given according to the cause:</a:t>
            </a:r>
          </a:p>
          <a:p>
            <a:pPr>
              <a:buFont typeface="Wingdings" pitchFamily="2" charset="2"/>
              <a:buChar char="§"/>
            </a:pPr>
            <a:r>
              <a:rPr lang="en-US" sz="3600" dirty="0"/>
              <a:t> </a:t>
            </a:r>
            <a:r>
              <a:rPr lang="en-US" sz="3600" dirty="0"/>
              <a:t>Left-sided verses right-sided failure</a:t>
            </a:r>
          </a:p>
          <a:p>
            <a:pPr>
              <a:buFont typeface="Wingdings" pitchFamily="2" charset="2"/>
              <a:buChar char="§"/>
            </a:pPr>
            <a:r>
              <a:rPr lang="en-US" sz="3600" dirty="0"/>
              <a:t> S</a:t>
            </a:r>
            <a:r>
              <a:rPr lang="en-US" sz="3600" dirty="0"/>
              <a:t>ystolic or diastolic failure</a:t>
            </a:r>
          </a:p>
          <a:p>
            <a:pPr>
              <a:buFont typeface="Wingdings" pitchFamily="2" charset="2"/>
              <a:buChar char="§"/>
            </a:pPr>
            <a:r>
              <a:rPr lang="en-US" sz="3600" dirty="0"/>
              <a:t> Low-output or high output failure</a:t>
            </a:r>
          </a:p>
          <a:p>
            <a:pPr>
              <a:buFont typeface="Wingdings" pitchFamily="2" charset="2"/>
              <a:buChar char="§"/>
            </a:pPr>
            <a:r>
              <a:rPr lang="en-US" sz="3600" dirty="0"/>
              <a:t> A</a:t>
            </a:r>
            <a:r>
              <a:rPr lang="en-US" sz="3600" dirty="0"/>
              <a:t>cute or chronic failure</a:t>
            </a:r>
          </a:p>
          <a:p>
            <a:pPr>
              <a:buFont typeface="Wingdings" pitchFamily="2" charset="2"/>
              <a:buChar char="§"/>
            </a:pPr>
            <a:r>
              <a:rPr lang="en-US" sz="3600" dirty="0"/>
              <a:t> </a:t>
            </a:r>
            <a:r>
              <a:rPr lang="en-US" sz="3600" dirty="0"/>
              <a:t>Forward or backward failure</a:t>
            </a:r>
          </a:p>
          <a:p>
            <a:pPr>
              <a:buFont typeface="Courier New" pitchFamily="49" charset="0"/>
              <a:buChar char="o"/>
            </a:pPr>
            <a:endParaRPr lang="en-US" sz="3600" dirty="0"/>
          </a:p>
        </p:txBody>
      </p:sp>
    </p:spTree>
    <p:extLst>
      <p:ext uri="{BB962C8B-B14F-4D97-AF65-F5344CB8AC3E}">
        <p14:creationId xmlns:p14="http://schemas.microsoft.com/office/powerpoint/2010/main" val="240174653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Pathophysiology</a:t>
            </a:r>
            <a:endParaRPr lang="en-US" dirty="0"/>
          </a:p>
        </p:txBody>
      </p:sp>
      <p:sp>
        <p:nvSpPr>
          <p:cNvPr id="3" name="Content Placeholder 2"/>
          <p:cNvSpPr>
            <a:spLocks noGrp="1"/>
          </p:cNvSpPr>
          <p:nvPr>
            <p:ph idx="1"/>
          </p:nvPr>
        </p:nvSpPr>
        <p:spPr>
          <a:xfrm>
            <a:off x="1905000" y="1371600"/>
            <a:ext cx="8763000" cy="5486400"/>
          </a:xfrm>
        </p:spPr>
        <p:txBody>
          <a:bodyPr>
            <a:normAutofit fontScale="92500" lnSpcReduction="20000"/>
          </a:bodyPr>
          <a:lstStyle/>
          <a:p>
            <a:r>
              <a:rPr lang="en-US" b="1" dirty="0" smtClean="0"/>
              <a:t>Left-sided Heart Failure:</a:t>
            </a:r>
          </a:p>
          <a:p>
            <a:pPr>
              <a:buFont typeface="Wingdings" pitchFamily="2" charset="2"/>
              <a:buChar char="ü"/>
            </a:pPr>
            <a:r>
              <a:rPr lang="en-US" dirty="0" smtClean="0"/>
              <a:t>Pumping ability of the left ventricle fails and cardiac output falls</a:t>
            </a:r>
          </a:p>
          <a:p>
            <a:pPr>
              <a:buFont typeface="Wingdings" pitchFamily="2" charset="2"/>
              <a:buChar char="ü"/>
            </a:pPr>
            <a:r>
              <a:rPr lang="en-US" dirty="0" smtClean="0"/>
              <a:t>Blood backs up in the left atrium and lungs, causing pulmonary congestion and decreased cardiac output. </a:t>
            </a:r>
          </a:p>
          <a:p>
            <a:pPr>
              <a:buFont typeface="Wingdings" pitchFamily="2" charset="2"/>
              <a:buChar char="ü"/>
            </a:pPr>
            <a:r>
              <a:rPr lang="en-US" dirty="0" smtClean="0"/>
              <a:t>Causes include: hypertension, myocardial infarction of left ventricle, or </a:t>
            </a:r>
            <a:r>
              <a:rPr lang="en-US" dirty="0" err="1" smtClean="0"/>
              <a:t>valvular</a:t>
            </a:r>
            <a:r>
              <a:rPr lang="en-US" dirty="0" smtClean="0"/>
              <a:t> heart disease</a:t>
            </a:r>
          </a:p>
          <a:p>
            <a:endParaRPr lang="en-US" b="1" dirty="0" smtClean="0"/>
          </a:p>
          <a:p>
            <a:r>
              <a:rPr lang="en-US" b="1" dirty="0" smtClean="0"/>
              <a:t>Right-sided Heart Failure: (</a:t>
            </a:r>
            <a:r>
              <a:rPr lang="en-US" b="1" dirty="0" err="1" smtClean="0"/>
              <a:t>Cor</a:t>
            </a:r>
            <a:r>
              <a:rPr lang="en-US" b="1" dirty="0" smtClean="0"/>
              <a:t> </a:t>
            </a:r>
            <a:r>
              <a:rPr lang="en-US" b="1" dirty="0" err="1" smtClean="0"/>
              <a:t>pulmonale</a:t>
            </a:r>
            <a:r>
              <a:rPr lang="en-US" b="1" dirty="0" smtClean="0"/>
              <a:t>)</a:t>
            </a:r>
          </a:p>
          <a:p>
            <a:pPr>
              <a:buFont typeface="Wingdings" pitchFamily="2" charset="2"/>
              <a:buChar char="ü"/>
            </a:pPr>
            <a:r>
              <a:rPr lang="en-US" dirty="0"/>
              <a:t>I</a:t>
            </a:r>
            <a:r>
              <a:rPr lang="en-US" dirty="0" smtClean="0"/>
              <a:t>neffective contractile function of the right ventricle leads to blood backing up into the right atrium, in the vena cava and the peripheral circulation (venous system), which results in peripheral edema and engorgement of the kidneys and other organs. </a:t>
            </a:r>
          </a:p>
          <a:p>
            <a:pPr>
              <a:buFont typeface="Wingdings" pitchFamily="2" charset="2"/>
              <a:buChar char="ü"/>
            </a:pPr>
            <a:r>
              <a:rPr lang="en-US" dirty="0" smtClean="0"/>
              <a:t>Causes include: severe pulmonary disease and myocardial infarction of right ventricle.</a:t>
            </a:r>
          </a:p>
          <a:p>
            <a:pPr marL="0" indent="0">
              <a:buNone/>
            </a:pPr>
            <a:endParaRPr lang="en-US" b="1" dirty="0"/>
          </a:p>
        </p:txBody>
      </p:sp>
    </p:spTree>
    <p:extLst>
      <p:ext uri="{BB962C8B-B14F-4D97-AF65-F5344CB8AC3E}">
        <p14:creationId xmlns:p14="http://schemas.microsoft.com/office/powerpoint/2010/main" val="112377394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Systolic or diastolic failure</a:t>
            </a:r>
            <a:endParaRPr lang="en-US" dirty="0"/>
          </a:p>
        </p:txBody>
      </p:sp>
      <p:sp>
        <p:nvSpPr>
          <p:cNvPr id="2" name="Content Placeholder 1"/>
          <p:cNvSpPr>
            <a:spLocks noGrp="1"/>
          </p:cNvSpPr>
          <p:nvPr>
            <p:ph idx="1"/>
          </p:nvPr>
        </p:nvSpPr>
        <p:spPr>
          <a:xfrm>
            <a:off x="1905000" y="1295400"/>
            <a:ext cx="8610600" cy="5257800"/>
          </a:xfrm>
        </p:spPr>
        <p:txBody>
          <a:bodyPr>
            <a:normAutofit fontScale="92500" lnSpcReduction="10000"/>
          </a:bodyPr>
          <a:lstStyle/>
          <a:p>
            <a:pPr marL="109537" indent="0">
              <a:buNone/>
            </a:pPr>
            <a:r>
              <a:rPr lang="en-US" sz="3200" b="1" dirty="0"/>
              <a:t>Systolic heart failure:</a:t>
            </a:r>
          </a:p>
          <a:p>
            <a:pPr>
              <a:buFont typeface="Wingdings" pitchFamily="2" charset="2"/>
              <a:buChar char="Ø"/>
            </a:pPr>
            <a:r>
              <a:rPr lang="en-US" sz="3200" dirty="0"/>
              <a:t> </a:t>
            </a:r>
            <a:r>
              <a:rPr lang="en-US" dirty="0" smtClean="0"/>
              <a:t>D</a:t>
            </a:r>
            <a:r>
              <a:rPr lang="en-US" sz="3200" dirty="0"/>
              <a:t>ue to ventricle failure to contract adequately to eject enough blood through aorta into arterial system. Causes decreased ventricular blood ejection</a:t>
            </a:r>
          </a:p>
          <a:p>
            <a:pPr>
              <a:buFont typeface="Wingdings" pitchFamily="2" charset="2"/>
              <a:buChar char="Ø"/>
            </a:pPr>
            <a:r>
              <a:rPr lang="en-US" sz="3200" dirty="0"/>
              <a:t> </a:t>
            </a:r>
            <a:r>
              <a:rPr lang="en-US" sz="3200" dirty="0"/>
              <a:t>Caused by loss of myocardial cells in ischemia, </a:t>
            </a:r>
            <a:r>
              <a:rPr lang="en-US" dirty="0" smtClean="0"/>
              <a:t>myocardial </a:t>
            </a:r>
            <a:r>
              <a:rPr lang="en-US" sz="3200" dirty="0"/>
              <a:t>infarction (contractile dysfunction), cardiomyopathy or inflammations, increased </a:t>
            </a:r>
            <a:r>
              <a:rPr lang="en-US" sz="3200" dirty="0" err="1"/>
              <a:t>afterload</a:t>
            </a:r>
            <a:r>
              <a:rPr lang="en-US" sz="3200" dirty="0"/>
              <a:t> (hypertension), mechanical abnormalities (e.g. </a:t>
            </a:r>
            <a:r>
              <a:rPr lang="en-US" sz="3200" dirty="0" err="1"/>
              <a:t>valvular</a:t>
            </a:r>
            <a:r>
              <a:rPr lang="en-US" sz="3200" dirty="0"/>
              <a:t> disease)</a:t>
            </a:r>
          </a:p>
          <a:p>
            <a:pPr>
              <a:buFont typeface="Wingdings" pitchFamily="2" charset="2"/>
              <a:buChar char="Ø"/>
            </a:pPr>
            <a:r>
              <a:rPr lang="en-US" sz="3200" dirty="0"/>
              <a:t> </a:t>
            </a:r>
            <a:r>
              <a:rPr lang="en-US" sz="3200" dirty="0"/>
              <a:t>manifested in </a:t>
            </a:r>
            <a:r>
              <a:rPr lang="en-US" dirty="0" smtClean="0"/>
              <a:t>effects of low </a:t>
            </a:r>
            <a:r>
              <a:rPr lang="en-US" sz="3200" dirty="0"/>
              <a:t>CO e.g. weakness, fatigue, exercise intolerance</a:t>
            </a:r>
          </a:p>
          <a:p>
            <a:pPr>
              <a:buFont typeface="Wingdings" pitchFamily="2" charset="2"/>
              <a:buChar char="Ø"/>
            </a:pPr>
            <a:r>
              <a:rPr lang="en-US" dirty="0" smtClean="0"/>
              <a:t>Over time, it causes left ventricle dilatation and hypertrophy </a:t>
            </a:r>
            <a:endParaRPr lang="en-US" sz="3200" dirty="0"/>
          </a:p>
        </p:txBody>
      </p:sp>
    </p:spTree>
    <p:extLst>
      <p:ext uri="{BB962C8B-B14F-4D97-AF65-F5344CB8AC3E}">
        <p14:creationId xmlns:p14="http://schemas.microsoft.com/office/powerpoint/2010/main" val="399020913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981200" y="274638"/>
            <a:ext cx="8229600" cy="258762"/>
          </a:xfrm>
        </p:spPr>
        <p:txBody>
          <a:bodyPr>
            <a:normAutofit fontScale="90000"/>
          </a:bodyPr>
          <a:lstStyle/>
          <a:p>
            <a:endParaRPr lang="en-US" dirty="0"/>
          </a:p>
        </p:txBody>
      </p:sp>
      <p:sp>
        <p:nvSpPr>
          <p:cNvPr id="2" name="Content Placeholder 1"/>
          <p:cNvSpPr>
            <a:spLocks noGrp="1"/>
          </p:cNvSpPr>
          <p:nvPr>
            <p:ph idx="1"/>
          </p:nvPr>
        </p:nvSpPr>
        <p:spPr>
          <a:xfrm>
            <a:off x="2133600" y="914400"/>
            <a:ext cx="8534400" cy="5943600"/>
          </a:xfrm>
        </p:spPr>
        <p:txBody>
          <a:bodyPr>
            <a:normAutofit lnSpcReduction="10000"/>
          </a:bodyPr>
          <a:lstStyle/>
          <a:p>
            <a:pPr marL="109537" indent="0">
              <a:buNone/>
            </a:pPr>
            <a:r>
              <a:rPr lang="en-US" b="1" dirty="0"/>
              <a:t>Diastolic heart failure:</a:t>
            </a:r>
          </a:p>
          <a:p>
            <a:pPr>
              <a:buFont typeface="Wingdings" pitchFamily="2" charset="2"/>
              <a:buChar char="Ø"/>
            </a:pPr>
            <a:r>
              <a:rPr lang="en-US" dirty="0"/>
              <a:t> </a:t>
            </a:r>
            <a:r>
              <a:rPr lang="en-US" dirty="0" smtClean="0"/>
              <a:t>Occurs when heart is unable to completely relax (stiffness  and non-compliant  heart muscle) in diastole, thus disrupts normal filling</a:t>
            </a:r>
          </a:p>
          <a:p>
            <a:pPr>
              <a:buFont typeface="Wingdings" pitchFamily="2" charset="2"/>
              <a:buChar char="Ø"/>
            </a:pPr>
            <a:r>
              <a:rPr lang="en-US" dirty="0"/>
              <a:t> </a:t>
            </a:r>
            <a:r>
              <a:rPr lang="en-US" dirty="0" smtClean="0"/>
              <a:t>Passive diastole filling decreases thereby decreasing stroke volume and cardiac output, but increases atrial contraction to preload</a:t>
            </a:r>
          </a:p>
          <a:p>
            <a:pPr>
              <a:buFont typeface="Wingdings" pitchFamily="2" charset="2"/>
              <a:buChar char="Ø"/>
            </a:pPr>
            <a:r>
              <a:rPr lang="en-US" dirty="0"/>
              <a:t> </a:t>
            </a:r>
            <a:r>
              <a:rPr lang="en-US" dirty="0" smtClean="0"/>
              <a:t>Diastolic function occurs from chronic hypertension ( most common), decreased ventricular    compliance due to hypertrophy, and impaired heart muscle contraction</a:t>
            </a:r>
          </a:p>
          <a:p>
            <a:pPr>
              <a:buFont typeface="Wingdings" pitchFamily="2" charset="2"/>
              <a:buChar char="Ø"/>
            </a:pPr>
            <a:r>
              <a:rPr lang="en-US" dirty="0"/>
              <a:t> </a:t>
            </a:r>
            <a:r>
              <a:rPr lang="en-US" dirty="0" smtClean="0"/>
              <a:t>Manifested by dyspnoea, tachypnoea, respiratory crackles in if left ventricle affected and pulmonary hypertension. Neck vein distension, liver enlargement, anorexia, nausea, if right ventricle is affected</a:t>
            </a:r>
          </a:p>
          <a:p>
            <a:pPr>
              <a:buFont typeface="Wingdings" pitchFamily="2" charset="2"/>
              <a:buChar char="Ø"/>
            </a:pPr>
            <a:endParaRPr lang="en-US" dirty="0" smtClean="0"/>
          </a:p>
          <a:p>
            <a:pPr marL="109537" indent="0">
              <a:buNone/>
            </a:pPr>
            <a:endParaRPr lang="en-US" dirty="0"/>
          </a:p>
        </p:txBody>
      </p:sp>
    </p:spTree>
    <p:extLst>
      <p:ext uri="{BB962C8B-B14F-4D97-AF65-F5344CB8AC3E}">
        <p14:creationId xmlns:p14="http://schemas.microsoft.com/office/powerpoint/2010/main" val="319228657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981200" y="274638"/>
            <a:ext cx="8229600" cy="182562"/>
          </a:xfrm>
        </p:spPr>
        <p:txBody>
          <a:bodyPr>
            <a:normAutofit fontScale="90000"/>
          </a:bodyPr>
          <a:lstStyle/>
          <a:p>
            <a:endParaRPr lang="en-US" dirty="0"/>
          </a:p>
        </p:txBody>
      </p:sp>
      <p:sp>
        <p:nvSpPr>
          <p:cNvPr id="2" name="Content Placeholder 1"/>
          <p:cNvSpPr>
            <a:spLocks noGrp="1"/>
          </p:cNvSpPr>
          <p:nvPr>
            <p:ph idx="1"/>
          </p:nvPr>
        </p:nvSpPr>
        <p:spPr>
          <a:xfrm>
            <a:off x="1981200" y="850900"/>
            <a:ext cx="8686800" cy="6007100"/>
          </a:xfrm>
        </p:spPr>
        <p:txBody>
          <a:bodyPr>
            <a:normAutofit fontScale="92500"/>
          </a:bodyPr>
          <a:lstStyle/>
          <a:p>
            <a:pPr marL="109537" indent="0">
              <a:buNone/>
            </a:pPr>
            <a:r>
              <a:rPr lang="en-US" b="1" dirty="0" smtClean="0"/>
              <a:t>Low-output VS high-output failure:</a:t>
            </a:r>
          </a:p>
          <a:p>
            <a:pPr>
              <a:buFont typeface="Wingdings" pitchFamily="2" charset="2"/>
              <a:buChar char="Ø"/>
            </a:pPr>
            <a:r>
              <a:rPr lang="en-US" b="1" i="1" dirty="0" smtClean="0"/>
              <a:t>Low-output failure</a:t>
            </a:r>
          </a:p>
          <a:p>
            <a:r>
              <a:rPr lang="en-US" dirty="0" smtClean="0"/>
              <a:t>Develops  when there is a decrease in the biventricular output resulting from: coronary heart disease, hypertension, cardiomyopathy, and other primary cardiac disorders. </a:t>
            </a:r>
          </a:p>
          <a:p>
            <a:pPr>
              <a:buFont typeface="Wingdings" pitchFamily="2" charset="2"/>
              <a:buChar char="Ø"/>
            </a:pPr>
            <a:r>
              <a:rPr lang="en-US" b="1" i="1" dirty="0" smtClean="0"/>
              <a:t>High-output failure (increased/normal cardiac output)</a:t>
            </a:r>
          </a:p>
          <a:p>
            <a:r>
              <a:rPr lang="en-US" dirty="0" err="1"/>
              <a:t>H</a:t>
            </a:r>
            <a:r>
              <a:rPr lang="en-US" dirty="0" err="1" smtClean="0"/>
              <a:t>ypermetabolic</a:t>
            </a:r>
            <a:r>
              <a:rPr lang="en-US" dirty="0" smtClean="0"/>
              <a:t> states increases CO to maintain blood flow and O2 to tissues</a:t>
            </a:r>
          </a:p>
          <a:p>
            <a:r>
              <a:rPr lang="en-US" dirty="0" smtClean="0"/>
              <a:t>This activates compensatory mechanisms to increase CO thus further increasing O2 demand</a:t>
            </a:r>
          </a:p>
          <a:p>
            <a:r>
              <a:rPr lang="en-US" dirty="0" smtClean="0"/>
              <a:t>Though high CO, the heart is unable to meet increased demands of the tissues and thus fails</a:t>
            </a:r>
          </a:p>
          <a:p>
            <a:r>
              <a:rPr lang="en-US" dirty="0" smtClean="0"/>
              <a:t>Causes include: septicemia, </a:t>
            </a:r>
            <a:r>
              <a:rPr lang="en-US" dirty="0" err="1" smtClean="0"/>
              <a:t>anaemia</a:t>
            </a:r>
            <a:r>
              <a:rPr lang="en-US" dirty="0" smtClean="0"/>
              <a:t>, hyperthyroidism or AV shunting </a:t>
            </a:r>
            <a:endParaRPr lang="en-US" dirty="0"/>
          </a:p>
        </p:txBody>
      </p:sp>
    </p:spTree>
    <p:extLst>
      <p:ext uri="{BB962C8B-B14F-4D97-AF65-F5344CB8AC3E}">
        <p14:creationId xmlns:p14="http://schemas.microsoft.com/office/powerpoint/2010/main" val="30449630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981200" y="274638"/>
            <a:ext cx="8229600" cy="258762"/>
          </a:xfrm>
        </p:spPr>
        <p:txBody>
          <a:bodyPr>
            <a:normAutofit fontScale="90000"/>
          </a:bodyPr>
          <a:lstStyle/>
          <a:p>
            <a:endParaRPr lang="en-US" dirty="0"/>
          </a:p>
        </p:txBody>
      </p:sp>
      <p:sp>
        <p:nvSpPr>
          <p:cNvPr id="2" name="Content Placeholder 1"/>
          <p:cNvSpPr>
            <a:spLocks noGrp="1"/>
          </p:cNvSpPr>
          <p:nvPr>
            <p:ph idx="1"/>
          </p:nvPr>
        </p:nvSpPr>
        <p:spPr>
          <a:xfrm>
            <a:off x="1981200" y="1066800"/>
            <a:ext cx="8686800" cy="5791200"/>
          </a:xfrm>
        </p:spPr>
        <p:txBody>
          <a:bodyPr>
            <a:normAutofit lnSpcReduction="10000"/>
          </a:bodyPr>
          <a:lstStyle/>
          <a:p>
            <a:pPr marL="109537" indent="0">
              <a:buNone/>
            </a:pPr>
            <a:r>
              <a:rPr lang="en-US" b="1" dirty="0" smtClean="0"/>
              <a:t>Acute VS chronic failure:</a:t>
            </a:r>
          </a:p>
          <a:p>
            <a:pPr>
              <a:buFont typeface="Wingdings" pitchFamily="2" charset="2"/>
              <a:buChar char="Ø"/>
            </a:pPr>
            <a:r>
              <a:rPr lang="en-US" sz="3200" b="1" i="1" dirty="0"/>
              <a:t>Acute failure</a:t>
            </a:r>
            <a:r>
              <a:rPr lang="en-US" sz="3200" dirty="0"/>
              <a:t>: it’s life-threatening and occurs abruptly resulting from myocardial injury e.g. massive myocardial infarction manifested by sudden decrease in cardiac function and signs of decreased CO.  Manifests as pulmonary </a:t>
            </a:r>
            <a:r>
              <a:rPr lang="en-US" sz="3200" dirty="0" err="1"/>
              <a:t>oedema</a:t>
            </a:r>
            <a:r>
              <a:rPr lang="en-US" sz="3200" dirty="0"/>
              <a:t> and congestion</a:t>
            </a:r>
          </a:p>
          <a:p>
            <a:pPr>
              <a:buFont typeface="Wingdings" pitchFamily="2" charset="2"/>
              <a:buChar char="Ø"/>
            </a:pPr>
            <a:r>
              <a:rPr lang="en-US" sz="3200" dirty="0"/>
              <a:t> </a:t>
            </a:r>
            <a:r>
              <a:rPr lang="en-US" sz="3200" b="1" i="1" dirty="0"/>
              <a:t>Chronic failure</a:t>
            </a:r>
            <a:r>
              <a:rPr lang="en-US" sz="3200" dirty="0"/>
              <a:t>: progressive (gradual) decline or deterioration of heart muscle, </a:t>
            </a:r>
            <a:r>
              <a:rPr lang="en-US" dirty="0" smtClean="0"/>
              <a:t>which allows compensatory mechanisms to come into play. It </a:t>
            </a:r>
            <a:r>
              <a:rPr lang="en-US" sz="3200" dirty="0"/>
              <a:t>causes decreased cardiac output. </a:t>
            </a:r>
          </a:p>
          <a:p>
            <a:pPr>
              <a:buFont typeface="Wingdings" pitchFamily="2" charset="2"/>
              <a:buChar char="ü"/>
            </a:pPr>
            <a:r>
              <a:rPr lang="en-US" sz="3200" dirty="0"/>
              <a:t>Causes include: </a:t>
            </a:r>
            <a:r>
              <a:rPr lang="en-US" sz="3200" dirty="0" err="1"/>
              <a:t>cardiomyopathies</a:t>
            </a:r>
            <a:r>
              <a:rPr lang="en-US" sz="3200" dirty="0"/>
              <a:t>, </a:t>
            </a:r>
            <a:r>
              <a:rPr lang="en-US" sz="3200" dirty="0" err="1"/>
              <a:t>valvular</a:t>
            </a:r>
            <a:r>
              <a:rPr lang="en-US" sz="3200" dirty="0"/>
              <a:t> disease, or coronary heart disease (CHD)</a:t>
            </a:r>
            <a:endParaRPr lang="en-US" sz="3200" dirty="0"/>
          </a:p>
        </p:txBody>
      </p:sp>
    </p:spTree>
    <p:extLst>
      <p:ext uri="{BB962C8B-B14F-4D97-AF65-F5344CB8AC3E}">
        <p14:creationId xmlns:p14="http://schemas.microsoft.com/office/powerpoint/2010/main" val="173315604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Pathophysiology of Compensatory mechanism leading to heart failure</a:t>
            </a:r>
            <a:endParaRPr lang="en-US" dirty="0"/>
          </a:p>
        </p:txBody>
      </p:sp>
      <p:sp>
        <p:nvSpPr>
          <p:cNvPr id="3" name="Content Placeholder 2"/>
          <p:cNvSpPr>
            <a:spLocks noGrp="1"/>
          </p:cNvSpPr>
          <p:nvPr>
            <p:ph idx="1"/>
          </p:nvPr>
        </p:nvSpPr>
        <p:spPr/>
        <p:txBody>
          <a:bodyPr>
            <a:normAutofit/>
          </a:bodyPr>
          <a:lstStyle/>
          <a:p>
            <a:r>
              <a:rPr lang="en-US" dirty="0" smtClean="0"/>
              <a:t>There are three primary compensatory mechanisms are:</a:t>
            </a:r>
          </a:p>
          <a:p>
            <a:pPr marL="514350" indent="-514350">
              <a:buFont typeface="+mj-lt"/>
              <a:buAutoNum type="arabicPeriod"/>
            </a:pPr>
            <a:r>
              <a:rPr lang="en-US" b="1" dirty="0" smtClean="0"/>
              <a:t>The Frank-Starling mechanism</a:t>
            </a:r>
            <a:r>
              <a:rPr lang="en-US" dirty="0" smtClean="0"/>
              <a:t>: that is, the greater the stretch of the cardiac muscle, the greater the force of contraction. This increases contractile force thereby increasing CO. Complications include: </a:t>
            </a:r>
            <a:r>
              <a:rPr lang="en-US" i="1" dirty="0" smtClean="0"/>
              <a:t>increased myocardial demand; limited by overstretching.</a:t>
            </a:r>
            <a:endParaRPr lang="en-US" i="1" dirty="0"/>
          </a:p>
        </p:txBody>
      </p:sp>
    </p:spTree>
    <p:extLst>
      <p:ext uri="{BB962C8B-B14F-4D97-AF65-F5344CB8AC3E}">
        <p14:creationId xmlns:p14="http://schemas.microsoft.com/office/powerpoint/2010/main" val="75635483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pathophysiology</a:t>
            </a:r>
            <a:endParaRPr lang="en-US" dirty="0"/>
          </a:p>
        </p:txBody>
      </p:sp>
      <p:sp>
        <p:nvSpPr>
          <p:cNvPr id="3" name="Content Placeholder 2"/>
          <p:cNvSpPr>
            <a:spLocks noGrp="1"/>
          </p:cNvSpPr>
          <p:nvPr>
            <p:ph idx="1"/>
          </p:nvPr>
        </p:nvSpPr>
        <p:spPr>
          <a:xfrm>
            <a:off x="1981200" y="1600200"/>
            <a:ext cx="8229600" cy="4724400"/>
          </a:xfrm>
        </p:spPr>
        <p:txBody>
          <a:bodyPr>
            <a:normAutofit/>
          </a:bodyPr>
          <a:lstStyle/>
          <a:p>
            <a:pPr marL="0" indent="0">
              <a:buNone/>
            </a:pPr>
            <a:r>
              <a:rPr lang="en-US" b="1" dirty="0" smtClean="0"/>
              <a:t>2. Neuroendocrine response including      activation of SNS and RAAS</a:t>
            </a:r>
          </a:p>
          <a:p>
            <a:r>
              <a:rPr lang="en-US" dirty="0" smtClean="0"/>
              <a:t>Decreased CO induces SNS and catecholamine release, thereby increasing HR, BP, contractility, vascular resistance and venous return. </a:t>
            </a:r>
          </a:p>
          <a:p>
            <a:r>
              <a:rPr lang="en-US" b="1" dirty="0" smtClean="0"/>
              <a:t>Complications include</a:t>
            </a:r>
            <a:r>
              <a:rPr lang="en-US" dirty="0" smtClean="0"/>
              <a:t>: tachycardia, decreased filling time, low CO, increased vascular resistance, increased myocardial work and  O2 demand</a:t>
            </a:r>
            <a:endParaRPr lang="en-US" dirty="0"/>
          </a:p>
        </p:txBody>
      </p:sp>
    </p:spTree>
    <p:extLst>
      <p:ext uri="{BB962C8B-B14F-4D97-AF65-F5344CB8AC3E}">
        <p14:creationId xmlns:p14="http://schemas.microsoft.com/office/powerpoint/2010/main" val="57063489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pathophysiology</a:t>
            </a:r>
            <a:endParaRPr lang="en-US" dirty="0"/>
          </a:p>
        </p:txBody>
      </p:sp>
      <p:sp>
        <p:nvSpPr>
          <p:cNvPr id="3" name="Content Placeholder 2"/>
          <p:cNvSpPr>
            <a:spLocks noGrp="1"/>
          </p:cNvSpPr>
          <p:nvPr>
            <p:ph idx="1"/>
          </p:nvPr>
        </p:nvSpPr>
        <p:spPr>
          <a:xfrm>
            <a:off x="1905000" y="1371600"/>
            <a:ext cx="8763000" cy="5486400"/>
          </a:xfrm>
        </p:spPr>
        <p:txBody>
          <a:bodyPr>
            <a:normAutofit/>
          </a:bodyPr>
          <a:lstStyle/>
          <a:p>
            <a:r>
              <a:rPr lang="en-US" dirty="0" smtClean="0"/>
              <a:t>Decreased CO and renal perfusion induce renin-angiotensin system. This causes vasoconstriction and increased BP. Complications include: increased myocardial work, renal vasoconstriction, and decreased renal perfusion</a:t>
            </a:r>
          </a:p>
          <a:p>
            <a:r>
              <a:rPr lang="en-US" dirty="0" smtClean="0"/>
              <a:t>ACE converts </a:t>
            </a:r>
            <a:r>
              <a:rPr lang="en-US" dirty="0" err="1" smtClean="0"/>
              <a:t>angiotensin</a:t>
            </a:r>
            <a:r>
              <a:rPr lang="en-US" dirty="0" smtClean="0"/>
              <a:t> I to </a:t>
            </a:r>
            <a:r>
              <a:rPr lang="en-US" dirty="0" err="1" smtClean="0"/>
              <a:t>angiotensin</a:t>
            </a:r>
            <a:r>
              <a:rPr lang="en-US" dirty="0" smtClean="0"/>
              <a:t> II, which stimulates aldosterone release from renal cortex resulting in salt and water retention by kidneys, and increased vascular volume overload and vasoconstriction, increasing BP and </a:t>
            </a:r>
            <a:r>
              <a:rPr lang="en-US" dirty="0" err="1" smtClean="0"/>
              <a:t>afterload</a:t>
            </a:r>
            <a:r>
              <a:rPr lang="en-US" dirty="0" smtClean="0"/>
              <a:t>. Complications include: increased preload and afterload; pulmonary congestion; increased stress on ventricular wall (increased cardiac work-load).</a:t>
            </a:r>
          </a:p>
          <a:p>
            <a:endParaRPr lang="en-US" dirty="0"/>
          </a:p>
        </p:txBody>
      </p:sp>
    </p:spTree>
    <p:extLst>
      <p:ext uri="{BB962C8B-B14F-4D97-AF65-F5344CB8AC3E}">
        <p14:creationId xmlns:p14="http://schemas.microsoft.com/office/powerpoint/2010/main" val="150858962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pathophysiology</a:t>
            </a:r>
            <a:endParaRPr lang="en-US" dirty="0"/>
          </a:p>
        </p:txBody>
      </p:sp>
      <p:sp>
        <p:nvSpPr>
          <p:cNvPr id="3" name="Content Placeholder 2"/>
          <p:cNvSpPr>
            <a:spLocks noGrp="1"/>
          </p:cNvSpPr>
          <p:nvPr>
            <p:ph idx="1"/>
          </p:nvPr>
        </p:nvSpPr>
        <p:spPr>
          <a:xfrm>
            <a:off x="1981200" y="1600200"/>
            <a:ext cx="8610600" cy="5181600"/>
          </a:xfrm>
        </p:spPr>
        <p:txBody>
          <a:bodyPr>
            <a:normAutofit/>
          </a:bodyPr>
          <a:lstStyle/>
          <a:p>
            <a:r>
              <a:rPr lang="en-US" dirty="0" smtClean="0"/>
              <a:t>ADH is released from </a:t>
            </a:r>
            <a:r>
              <a:rPr lang="en-US" dirty="0" err="1" smtClean="0"/>
              <a:t>neurohypophysis</a:t>
            </a:r>
            <a:r>
              <a:rPr lang="en-US" dirty="0" smtClean="0"/>
              <a:t>, which inhibits water excretion; while atrial natriuretic factor  that is released from the heart increases Na excretion and diuresis. Complications include; fluid retention and increased preload and afterload</a:t>
            </a:r>
          </a:p>
          <a:p>
            <a:r>
              <a:rPr lang="en-US" dirty="0" smtClean="0"/>
              <a:t>Blood flow is redistributed to vital organs (heart and brain) thereby decreasing perfusion of other organ systems, skin and muscles. Complications include: renal failure, anaerobic metabolism, and lactic acidosis.</a:t>
            </a:r>
            <a:endParaRPr lang="en-US" dirty="0"/>
          </a:p>
        </p:txBody>
      </p:sp>
    </p:spTree>
    <p:extLst>
      <p:ext uri="{BB962C8B-B14F-4D97-AF65-F5344CB8AC3E}">
        <p14:creationId xmlns:p14="http://schemas.microsoft.com/office/powerpoint/2010/main" val="342878705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pathophysiology</a:t>
            </a:r>
            <a:endParaRPr lang="en-US" dirty="0"/>
          </a:p>
        </p:txBody>
      </p:sp>
      <p:sp>
        <p:nvSpPr>
          <p:cNvPr id="3" name="Content Placeholder 2"/>
          <p:cNvSpPr>
            <a:spLocks noGrp="1"/>
          </p:cNvSpPr>
          <p:nvPr>
            <p:ph idx="1"/>
          </p:nvPr>
        </p:nvSpPr>
        <p:spPr>
          <a:xfrm>
            <a:off x="1981200" y="1600200"/>
            <a:ext cx="8686800" cy="5257800"/>
          </a:xfrm>
        </p:spPr>
        <p:txBody>
          <a:bodyPr>
            <a:normAutofit/>
          </a:bodyPr>
          <a:lstStyle/>
          <a:p>
            <a:pPr marL="0" indent="0">
              <a:buNone/>
            </a:pPr>
            <a:r>
              <a:rPr lang="en-US" b="1" dirty="0" smtClean="0"/>
              <a:t>3. Ventricular hypertrophy:</a:t>
            </a:r>
          </a:p>
          <a:p>
            <a:r>
              <a:rPr lang="en-US" dirty="0" smtClean="0"/>
              <a:t>Increased cardiac workload causes myocardial muscle to hypertrophy and ventricles to dilate.</a:t>
            </a:r>
          </a:p>
          <a:p>
            <a:r>
              <a:rPr lang="en-US" dirty="0" smtClean="0"/>
              <a:t>This in turn leads to increased contractile force to maintain CO. </a:t>
            </a:r>
          </a:p>
          <a:p>
            <a:r>
              <a:rPr lang="en-US" dirty="0" smtClean="0"/>
              <a:t>This effect complicates into: increased myocardial O2 demand and cellular enlargement</a:t>
            </a:r>
          </a:p>
          <a:p>
            <a:r>
              <a:rPr lang="en-US" dirty="0" smtClean="0"/>
              <a:t>The enlarged myocardial cells become dysfunctional and die early (apoptosis), thus leading to low CO. </a:t>
            </a:r>
            <a:endParaRPr lang="en-US" dirty="0"/>
          </a:p>
        </p:txBody>
      </p:sp>
    </p:spTree>
    <p:extLst>
      <p:ext uri="{BB962C8B-B14F-4D97-AF65-F5344CB8AC3E}">
        <p14:creationId xmlns:p14="http://schemas.microsoft.com/office/powerpoint/2010/main" val="424268555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causes</a:t>
            </a:r>
            <a:endParaRPr lang="en-US" b="1" dirty="0"/>
          </a:p>
        </p:txBody>
      </p:sp>
      <p:sp>
        <p:nvSpPr>
          <p:cNvPr id="3" name="Content Placeholder 2"/>
          <p:cNvSpPr>
            <a:spLocks noGrp="1"/>
          </p:cNvSpPr>
          <p:nvPr>
            <p:ph idx="1"/>
          </p:nvPr>
        </p:nvSpPr>
        <p:spPr>
          <a:xfrm>
            <a:off x="1981200" y="1600200"/>
            <a:ext cx="8229600" cy="5257800"/>
          </a:xfrm>
        </p:spPr>
        <p:txBody>
          <a:bodyPr>
            <a:normAutofit/>
          </a:bodyPr>
          <a:lstStyle/>
          <a:p>
            <a:r>
              <a:rPr lang="en-US" dirty="0" smtClean="0"/>
              <a:t>Mitral stenosis secondary to rheumatic heart disease, constrictive pericarditis, or atrial fibrillation</a:t>
            </a:r>
          </a:p>
          <a:p>
            <a:r>
              <a:rPr lang="en-US" dirty="0" smtClean="0"/>
              <a:t>Mitral and aortic insufficiency</a:t>
            </a:r>
          </a:p>
          <a:p>
            <a:r>
              <a:rPr lang="en-US" dirty="0" smtClean="0"/>
              <a:t>Arrhythmias</a:t>
            </a:r>
          </a:p>
          <a:p>
            <a:r>
              <a:rPr lang="en-US" dirty="0" smtClean="0"/>
              <a:t>Hypertension</a:t>
            </a:r>
          </a:p>
          <a:p>
            <a:r>
              <a:rPr lang="en-US" dirty="0" smtClean="0"/>
              <a:t>Atherosclerosis with myocardial infarction (MI)</a:t>
            </a:r>
          </a:p>
          <a:p>
            <a:r>
              <a:rPr lang="en-US" dirty="0" err="1" smtClean="0"/>
              <a:t>Myocarditis</a:t>
            </a:r>
            <a:endParaRPr lang="en-US" dirty="0" smtClean="0"/>
          </a:p>
          <a:p>
            <a:r>
              <a:rPr lang="en-US" dirty="0" smtClean="0"/>
              <a:t>Ventricular and atrial </a:t>
            </a:r>
            <a:r>
              <a:rPr lang="en-US" dirty="0" err="1" smtClean="0"/>
              <a:t>septal</a:t>
            </a:r>
            <a:r>
              <a:rPr lang="en-US" dirty="0" smtClean="0"/>
              <a:t> defects</a:t>
            </a:r>
          </a:p>
          <a:p>
            <a:endParaRPr lang="en-US" dirty="0"/>
          </a:p>
        </p:txBody>
      </p:sp>
    </p:spTree>
    <p:extLst>
      <p:ext uri="{BB962C8B-B14F-4D97-AF65-F5344CB8AC3E}">
        <p14:creationId xmlns:p14="http://schemas.microsoft.com/office/powerpoint/2010/main" val="201169756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causes</a:t>
            </a:r>
            <a:endParaRPr lang="en-US" b="1" dirty="0"/>
          </a:p>
        </p:txBody>
      </p:sp>
      <p:sp>
        <p:nvSpPr>
          <p:cNvPr id="3" name="Content Placeholder 2"/>
          <p:cNvSpPr>
            <a:spLocks noGrp="1"/>
          </p:cNvSpPr>
          <p:nvPr>
            <p:ph idx="1"/>
          </p:nvPr>
        </p:nvSpPr>
        <p:spPr>
          <a:xfrm>
            <a:off x="1981200" y="1295400"/>
            <a:ext cx="8686800" cy="5562600"/>
          </a:xfrm>
        </p:spPr>
        <p:txBody>
          <a:bodyPr>
            <a:normAutofit/>
          </a:bodyPr>
          <a:lstStyle/>
          <a:p>
            <a:r>
              <a:rPr lang="en-US" dirty="0" err="1" smtClean="0"/>
              <a:t>Endocarditis</a:t>
            </a:r>
            <a:r>
              <a:rPr lang="en-US" dirty="0" smtClean="0"/>
              <a:t> </a:t>
            </a:r>
          </a:p>
          <a:p>
            <a:r>
              <a:rPr lang="en-US" dirty="0" smtClean="0"/>
              <a:t>Pregnancy</a:t>
            </a:r>
          </a:p>
          <a:p>
            <a:r>
              <a:rPr lang="en-US" dirty="0" smtClean="0"/>
              <a:t>Thyrotoxicosis</a:t>
            </a:r>
          </a:p>
          <a:p>
            <a:r>
              <a:rPr lang="en-US" dirty="0" smtClean="0"/>
              <a:t>Pulmonary embolism</a:t>
            </a:r>
          </a:p>
          <a:p>
            <a:r>
              <a:rPr lang="en-US" dirty="0" smtClean="0"/>
              <a:t>Infections</a:t>
            </a:r>
          </a:p>
          <a:p>
            <a:r>
              <a:rPr lang="en-US" dirty="0" smtClean="0"/>
              <a:t>Anaemia</a:t>
            </a:r>
          </a:p>
          <a:p>
            <a:r>
              <a:rPr lang="en-US" dirty="0" smtClean="0"/>
              <a:t>Emotional </a:t>
            </a:r>
          </a:p>
          <a:p>
            <a:r>
              <a:rPr lang="en-US" dirty="0" smtClean="0"/>
              <a:t>Increased sodium or water intake</a:t>
            </a:r>
          </a:p>
          <a:p>
            <a:r>
              <a:rPr lang="en-US" dirty="0" smtClean="0"/>
              <a:t>Renal failure </a:t>
            </a:r>
            <a:endParaRPr lang="en-US" dirty="0"/>
          </a:p>
        </p:txBody>
      </p:sp>
    </p:spTree>
    <p:extLst>
      <p:ext uri="{BB962C8B-B14F-4D97-AF65-F5344CB8AC3E}">
        <p14:creationId xmlns:p14="http://schemas.microsoft.com/office/powerpoint/2010/main" val="99860888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Incidence</a:t>
            </a:r>
            <a:r>
              <a:rPr lang="en-US" dirty="0" smtClean="0"/>
              <a:t> </a:t>
            </a:r>
            <a:endParaRPr lang="en-US" dirty="0"/>
          </a:p>
        </p:txBody>
      </p:sp>
      <p:sp>
        <p:nvSpPr>
          <p:cNvPr id="3" name="Content Placeholder 2"/>
          <p:cNvSpPr>
            <a:spLocks noGrp="1"/>
          </p:cNvSpPr>
          <p:nvPr>
            <p:ph idx="1"/>
          </p:nvPr>
        </p:nvSpPr>
        <p:spPr>
          <a:xfrm>
            <a:off x="1981200" y="1447800"/>
            <a:ext cx="8534400" cy="4953000"/>
          </a:xfrm>
        </p:spPr>
        <p:txBody>
          <a:bodyPr>
            <a:normAutofit/>
          </a:bodyPr>
          <a:lstStyle/>
          <a:p>
            <a:r>
              <a:rPr lang="en-US" dirty="0" smtClean="0"/>
              <a:t>Affects less than 5% in ages between 55 – 64 years</a:t>
            </a:r>
          </a:p>
          <a:p>
            <a:r>
              <a:rPr lang="en-US" dirty="0" smtClean="0"/>
              <a:t>Affects about 10% of people older than 65 years</a:t>
            </a:r>
          </a:p>
          <a:p>
            <a:pPr marL="0" indent="0">
              <a:buNone/>
            </a:pPr>
            <a:r>
              <a:rPr lang="en-US" dirty="0"/>
              <a:t> </a:t>
            </a:r>
            <a:r>
              <a:rPr lang="en-US" dirty="0" smtClean="0"/>
              <a:t>                    </a:t>
            </a:r>
            <a:r>
              <a:rPr lang="en-US" sz="3900" b="1" dirty="0"/>
              <a:t>common characteristics</a:t>
            </a:r>
          </a:p>
          <a:p>
            <a:r>
              <a:rPr lang="en-US" dirty="0" smtClean="0"/>
              <a:t>Reduced cardiac output</a:t>
            </a:r>
          </a:p>
          <a:p>
            <a:r>
              <a:rPr lang="en-US" dirty="0" smtClean="0"/>
              <a:t>Shortness of breath</a:t>
            </a:r>
          </a:p>
          <a:p>
            <a:r>
              <a:rPr lang="en-US" dirty="0" smtClean="0"/>
              <a:t>Peripheral oedema</a:t>
            </a:r>
          </a:p>
          <a:p>
            <a:r>
              <a:rPr lang="en-US" dirty="0" smtClean="0"/>
              <a:t>Dyspnoea on exertion</a:t>
            </a:r>
            <a:endParaRPr lang="en-US" dirty="0"/>
          </a:p>
        </p:txBody>
      </p:sp>
    </p:spTree>
    <p:extLst>
      <p:ext uri="{BB962C8B-B14F-4D97-AF65-F5344CB8AC3E}">
        <p14:creationId xmlns:p14="http://schemas.microsoft.com/office/powerpoint/2010/main" val="78281377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3700" b="1" dirty="0">
                <a:solidFill>
                  <a:srgbClr val="464646"/>
                </a:solidFill>
              </a:rPr>
              <a:t>Classification heart disease by New York Heart Association</a:t>
            </a:r>
            <a:endParaRPr lang="en-US" b="1" dirty="0"/>
          </a:p>
        </p:txBody>
      </p:sp>
      <p:sp>
        <p:nvSpPr>
          <p:cNvPr id="2" name="Content Placeholder 1"/>
          <p:cNvSpPr>
            <a:spLocks noGrp="1"/>
          </p:cNvSpPr>
          <p:nvPr>
            <p:ph idx="1"/>
          </p:nvPr>
        </p:nvSpPr>
        <p:spPr/>
        <p:txBody>
          <a:bodyPr/>
          <a:lstStyle/>
          <a:p>
            <a:pPr marL="109537" indent="0">
              <a:buNone/>
            </a:pPr>
            <a:endParaRPr lang="en-US" dirty="0"/>
          </a:p>
          <a:p>
            <a:pPr marL="109537" indent="0">
              <a:buNone/>
            </a:pPr>
            <a:endParaRPr lang="en-US" dirty="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a:p>
          <a:p>
            <a:pPr marL="109537" indent="0">
              <a:buNone/>
            </a:pPr>
            <a:endParaRPr lang="en-US" dirty="0" smtClean="0"/>
          </a:p>
          <a:p>
            <a:pPr marL="109537" indent="0">
              <a:buNone/>
            </a:pPr>
            <a:endParaRPr lang="en-US" dirty="0" smtClean="0"/>
          </a:p>
        </p:txBody>
      </p:sp>
      <p:sp>
        <p:nvSpPr>
          <p:cNvPr id="4" name="Rectangle 3"/>
          <p:cNvSpPr/>
          <p:nvPr/>
        </p:nvSpPr>
        <p:spPr>
          <a:xfrm>
            <a:off x="2209800" y="1571686"/>
            <a:ext cx="8229600" cy="4524315"/>
          </a:xfrm>
          <a:prstGeom prst="rect">
            <a:avLst/>
          </a:prstGeom>
        </p:spPr>
        <p:txBody>
          <a:bodyPr wrap="square">
            <a:spAutoFit/>
          </a:bodyPr>
          <a:lstStyle/>
          <a:p>
            <a:r>
              <a:rPr lang="en-US" sz="3200" b="1" dirty="0"/>
              <a:t>Class I:</a:t>
            </a:r>
            <a:endParaRPr lang="en-US" sz="3200" dirty="0"/>
          </a:p>
          <a:p>
            <a:r>
              <a:rPr lang="en-US" sz="3200" dirty="0"/>
              <a:t>No limitation of physical activity</a:t>
            </a:r>
          </a:p>
          <a:p>
            <a:r>
              <a:rPr lang="en-US" sz="3200" dirty="0"/>
              <a:t>Ordinary activity does not cause fatigue, dyspnoea, </a:t>
            </a:r>
            <a:r>
              <a:rPr lang="en-US" sz="3200" dirty="0"/>
              <a:t>palpitation </a:t>
            </a:r>
            <a:r>
              <a:rPr lang="en-US" sz="3200" dirty="0"/>
              <a:t>or </a:t>
            </a:r>
            <a:r>
              <a:rPr lang="en-US" sz="3200" dirty="0" err="1"/>
              <a:t>anginal</a:t>
            </a:r>
            <a:r>
              <a:rPr lang="en-US" sz="3200" dirty="0"/>
              <a:t> pain</a:t>
            </a:r>
          </a:p>
          <a:p>
            <a:r>
              <a:rPr lang="en-US" sz="3200" b="1" dirty="0"/>
              <a:t>Class II:</a:t>
            </a:r>
            <a:endParaRPr lang="en-US" sz="3200" dirty="0"/>
          </a:p>
          <a:p>
            <a:r>
              <a:rPr lang="en-US" sz="3200" dirty="0"/>
              <a:t>Slight limitation of physical activity</a:t>
            </a:r>
          </a:p>
          <a:p>
            <a:r>
              <a:rPr lang="en-US" sz="3200" dirty="0"/>
              <a:t>No symptoms at rest</a:t>
            </a:r>
          </a:p>
          <a:p>
            <a:r>
              <a:rPr lang="en-US" sz="3200" dirty="0"/>
              <a:t>Ordinary physical activity causes fatigue, dyspnoea, palpitations </a:t>
            </a:r>
            <a:r>
              <a:rPr lang="en-US" sz="2800" dirty="0"/>
              <a:t>or </a:t>
            </a:r>
            <a:r>
              <a:rPr lang="en-US" sz="2800" dirty="0" err="1"/>
              <a:t>anginal</a:t>
            </a:r>
            <a:r>
              <a:rPr lang="en-US" sz="2800" dirty="0"/>
              <a:t> pain</a:t>
            </a:r>
          </a:p>
        </p:txBody>
      </p:sp>
    </p:spTree>
    <p:extLst>
      <p:ext uri="{BB962C8B-B14F-4D97-AF65-F5344CB8AC3E}">
        <p14:creationId xmlns:p14="http://schemas.microsoft.com/office/powerpoint/2010/main" val="98559240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981200" y="-228600"/>
            <a:ext cx="8229600" cy="1143000"/>
          </a:xfrm>
        </p:spPr>
        <p:txBody>
          <a:bodyPr/>
          <a:lstStyle/>
          <a:p>
            <a:r>
              <a:rPr lang="en-US" sz="3700" dirty="0">
                <a:solidFill>
                  <a:srgbClr val="464646"/>
                </a:solidFill>
              </a:rPr>
              <a:t>Classification cont.</a:t>
            </a:r>
            <a:endParaRPr lang="en-US" dirty="0"/>
          </a:p>
        </p:txBody>
      </p:sp>
      <p:sp>
        <p:nvSpPr>
          <p:cNvPr id="2" name="Content Placeholder 1"/>
          <p:cNvSpPr>
            <a:spLocks noGrp="1"/>
          </p:cNvSpPr>
          <p:nvPr>
            <p:ph idx="1"/>
          </p:nvPr>
        </p:nvSpPr>
        <p:spPr>
          <a:xfrm>
            <a:off x="2209800" y="609600"/>
            <a:ext cx="8458200" cy="5943600"/>
          </a:xfrm>
        </p:spPr>
        <p:txBody>
          <a:bodyPr/>
          <a:lstStyle/>
          <a:p>
            <a:pPr marL="109537" indent="0">
              <a:buNone/>
            </a:pPr>
            <a:endParaRPr lang="en-US" sz="2400" dirty="0"/>
          </a:p>
        </p:txBody>
      </p:sp>
      <p:sp>
        <p:nvSpPr>
          <p:cNvPr id="4" name="Rectangle 3"/>
          <p:cNvSpPr/>
          <p:nvPr/>
        </p:nvSpPr>
        <p:spPr>
          <a:xfrm>
            <a:off x="2209800" y="914401"/>
            <a:ext cx="7620000" cy="5262979"/>
          </a:xfrm>
          <a:prstGeom prst="rect">
            <a:avLst/>
          </a:prstGeom>
        </p:spPr>
        <p:txBody>
          <a:bodyPr wrap="square">
            <a:spAutoFit/>
          </a:bodyPr>
          <a:lstStyle/>
          <a:p>
            <a:endParaRPr lang="en-US" sz="2800" b="1" dirty="0"/>
          </a:p>
          <a:p>
            <a:r>
              <a:rPr lang="en-US" sz="2800" b="1" dirty="0"/>
              <a:t>Class </a:t>
            </a:r>
            <a:r>
              <a:rPr lang="en-US" sz="2800" b="1" dirty="0"/>
              <a:t>III:</a:t>
            </a:r>
          </a:p>
          <a:p>
            <a:r>
              <a:rPr lang="en-US" sz="2800" dirty="0"/>
              <a:t>Marked limitation of physical activity but usually comfortable at rest</a:t>
            </a:r>
          </a:p>
          <a:p>
            <a:r>
              <a:rPr lang="en-US" sz="2800" dirty="0"/>
              <a:t>Ordinary physical activity causes fatigue, dyspnoea, palpitations, or </a:t>
            </a:r>
            <a:r>
              <a:rPr lang="en-US" sz="2800" dirty="0" err="1"/>
              <a:t>anginal</a:t>
            </a:r>
            <a:r>
              <a:rPr lang="en-US" sz="2800" dirty="0"/>
              <a:t> pain</a:t>
            </a:r>
          </a:p>
          <a:p>
            <a:r>
              <a:rPr lang="en-US" sz="2800" b="1" dirty="0"/>
              <a:t>Class IV:</a:t>
            </a:r>
          </a:p>
          <a:p>
            <a:r>
              <a:rPr lang="en-US" sz="2800" dirty="0"/>
              <a:t>Inability to carry on any physical activity without any discomfort</a:t>
            </a:r>
          </a:p>
          <a:p>
            <a:r>
              <a:rPr lang="en-US" sz="2800" dirty="0"/>
              <a:t>Cardiac insufficiency symptoms or angina may be present</a:t>
            </a:r>
          </a:p>
          <a:p>
            <a:r>
              <a:rPr lang="en-US" sz="2800" dirty="0"/>
              <a:t>Increased discomfort for any activity undertaken</a:t>
            </a:r>
          </a:p>
        </p:txBody>
      </p:sp>
    </p:spTree>
    <p:extLst>
      <p:ext uri="{BB962C8B-B14F-4D97-AF65-F5344CB8AC3E}">
        <p14:creationId xmlns:p14="http://schemas.microsoft.com/office/powerpoint/2010/main" val="59324063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complications</a:t>
            </a:r>
            <a:endParaRPr lang="en-US" dirty="0"/>
          </a:p>
        </p:txBody>
      </p:sp>
      <p:sp>
        <p:nvSpPr>
          <p:cNvPr id="3" name="Content Placeholder 2"/>
          <p:cNvSpPr>
            <a:spLocks noGrp="1"/>
          </p:cNvSpPr>
          <p:nvPr>
            <p:ph idx="1"/>
          </p:nvPr>
        </p:nvSpPr>
        <p:spPr/>
        <p:txBody>
          <a:bodyPr/>
          <a:lstStyle/>
          <a:p>
            <a:r>
              <a:rPr lang="en-US" dirty="0" smtClean="0"/>
              <a:t>Pulmonary oedema</a:t>
            </a:r>
          </a:p>
          <a:p>
            <a:r>
              <a:rPr lang="en-US" dirty="0" smtClean="0"/>
              <a:t>Organ failure, especially the brain and kidneys</a:t>
            </a:r>
          </a:p>
          <a:p>
            <a:r>
              <a:rPr lang="en-US" dirty="0" smtClean="0"/>
              <a:t>Myocardial infarction </a:t>
            </a:r>
          </a:p>
          <a:p>
            <a:r>
              <a:rPr lang="en-US" dirty="0" smtClean="0"/>
              <a:t>Pleural effusion</a:t>
            </a:r>
          </a:p>
          <a:p>
            <a:r>
              <a:rPr lang="en-US" dirty="0" smtClean="0"/>
              <a:t>Left ventricular thrombus </a:t>
            </a:r>
            <a:endParaRPr lang="en-US" dirty="0"/>
          </a:p>
        </p:txBody>
      </p:sp>
    </p:spTree>
    <p:extLst>
      <p:ext uri="{BB962C8B-B14F-4D97-AF65-F5344CB8AC3E}">
        <p14:creationId xmlns:p14="http://schemas.microsoft.com/office/powerpoint/2010/main" val="8651825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Complications cont.</a:t>
            </a:r>
            <a:endParaRPr lang="en-US" dirty="0"/>
          </a:p>
        </p:txBody>
      </p:sp>
      <p:sp>
        <p:nvSpPr>
          <p:cNvPr id="2" name="Content Placeholder 1"/>
          <p:cNvSpPr>
            <a:spLocks noGrp="1"/>
          </p:cNvSpPr>
          <p:nvPr>
            <p:ph idx="1"/>
          </p:nvPr>
        </p:nvSpPr>
        <p:spPr/>
        <p:txBody>
          <a:bodyPr/>
          <a:lstStyle/>
          <a:p>
            <a:pPr>
              <a:buFont typeface="Courier New" pitchFamily="49" charset="0"/>
              <a:buChar char="o"/>
            </a:pPr>
            <a:r>
              <a:rPr lang="en-US" dirty="0" err="1" smtClean="0"/>
              <a:t>Hepatomegaly</a:t>
            </a:r>
            <a:r>
              <a:rPr lang="en-US" dirty="0" smtClean="0"/>
              <a:t> (right ventricular failure)</a:t>
            </a:r>
          </a:p>
          <a:p>
            <a:pPr>
              <a:buFont typeface="Courier New" pitchFamily="49" charset="0"/>
              <a:buChar char="o"/>
            </a:pPr>
            <a:r>
              <a:rPr lang="en-US" dirty="0" err="1" smtClean="0"/>
              <a:t>Splenomegaly</a:t>
            </a:r>
            <a:r>
              <a:rPr lang="en-US" dirty="0" smtClean="0"/>
              <a:t> (in right ventricular failure)</a:t>
            </a:r>
          </a:p>
          <a:p>
            <a:pPr>
              <a:buFont typeface="Courier New" pitchFamily="49" charset="0"/>
              <a:buChar char="o"/>
            </a:pPr>
            <a:r>
              <a:rPr lang="en-US" dirty="0" err="1" smtClean="0"/>
              <a:t>Ascites</a:t>
            </a:r>
            <a:r>
              <a:rPr lang="en-US" dirty="0" smtClean="0"/>
              <a:t> (in right ventricular failure)</a:t>
            </a:r>
          </a:p>
          <a:p>
            <a:pPr>
              <a:buFont typeface="Courier New" pitchFamily="49" charset="0"/>
              <a:buChar char="o"/>
            </a:pPr>
            <a:r>
              <a:rPr lang="en-US" dirty="0" err="1" smtClean="0"/>
              <a:t>Dysarrhythmias</a:t>
            </a:r>
            <a:r>
              <a:rPr lang="en-US" dirty="0" smtClean="0"/>
              <a:t>- due to enlargement of chambers of the heart</a:t>
            </a:r>
          </a:p>
          <a:p>
            <a:pPr>
              <a:buFont typeface="Courier New" pitchFamily="49" charset="0"/>
              <a:buChar char="o"/>
            </a:pPr>
            <a:r>
              <a:rPr lang="en-US" dirty="0" err="1" smtClean="0"/>
              <a:t>Cardiomyogenic</a:t>
            </a:r>
            <a:r>
              <a:rPr lang="en-US" dirty="0" smtClean="0"/>
              <a:t> shock</a:t>
            </a:r>
          </a:p>
          <a:p>
            <a:pPr>
              <a:buFont typeface="Courier New" pitchFamily="49" charset="0"/>
              <a:buChar char="o"/>
            </a:pPr>
            <a:endParaRPr lang="en-US" dirty="0"/>
          </a:p>
          <a:p>
            <a:pPr>
              <a:buFont typeface="Courier New" pitchFamily="49" charset="0"/>
              <a:buChar char="o"/>
            </a:pPr>
            <a:endParaRPr lang="en-US" dirty="0"/>
          </a:p>
        </p:txBody>
      </p:sp>
    </p:spTree>
    <p:extLst>
      <p:ext uri="{BB962C8B-B14F-4D97-AF65-F5344CB8AC3E}">
        <p14:creationId xmlns:p14="http://schemas.microsoft.com/office/powerpoint/2010/main" val="41419094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Diagnostic assessments</a:t>
            </a:r>
            <a:endParaRPr lang="en-US" dirty="0"/>
          </a:p>
        </p:txBody>
      </p:sp>
      <p:sp>
        <p:nvSpPr>
          <p:cNvPr id="3" name="Content Placeholder 2"/>
          <p:cNvSpPr>
            <a:spLocks noGrp="1"/>
          </p:cNvSpPr>
          <p:nvPr>
            <p:ph idx="1"/>
          </p:nvPr>
        </p:nvSpPr>
        <p:spPr/>
        <p:txBody>
          <a:bodyPr>
            <a:normAutofit/>
          </a:bodyPr>
          <a:lstStyle/>
          <a:p>
            <a:pPr marL="0" indent="0">
              <a:buNone/>
            </a:pPr>
            <a:r>
              <a:rPr lang="en-US" b="1" dirty="0" smtClean="0"/>
              <a:t>History of:</a:t>
            </a:r>
          </a:p>
          <a:p>
            <a:r>
              <a:rPr lang="en-US" dirty="0" smtClean="0"/>
              <a:t>A disorder or condition that can precipitate heart failure</a:t>
            </a:r>
          </a:p>
          <a:p>
            <a:r>
              <a:rPr lang="en-US" dirty="0" smtClean="0"/>
              <a:t>Dyspnoea or paroxysmal nocturnal dyspnoea</a:t>
            </a:r>
          </a:p>
          <a:p>
            <a:r>
              <a:rPr lang="en-US" dirty="0" smtClean="0"/>
              <a:t>Peripheral oedema</a:t>
            </a:r>
          </a:p>
          <a:p>
            <a:r>
              <a:rPr lang="en-US" dirty="0" smtClean="0"/>
              <a:t>Fatigue</a:t>
            </a:r>
          </a:p>
          <a:p>
            <a:r>
              <a:rPr lang="en-US" dirty="0" smtClean="0"/>
              <a:t>Weakness</a:t>
            </a:r>
          </a:p>
          <a:p>
            <a:r>
              <a:rPr lang="en-US" dirty="0" smtClean="0"/>
              <a:t>Insomnia </a:t>
            </a:r>
          </a:p>
          <a:p>
            <a:endParaRPr lang="en-US" dirty="0" smtClean="0"/>
          </a:p>
          <a:p>
            <a:endParaRPr lang="en-US" dirty="0"/>
          </a:p>
        </p:txBody>
      </p:sp>
    </p:spTree>
    <p:extLst>
      <p:ext uri="{BB962C8B-B14F-4D97-AF65-F5344CB8AC3E}">
        <p14:creationId xmlns:p14="http://schemas.microsoft.com/office/powerpoint/2010/main" val="301116297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pPr marL="0" indent="0">
              <a:buNone/>
            </a:pPr>
            <a:r>
              <a:rPr lang="en-US" b="1" dirty="0" smtClean="0"/>
              <a:t>History of:</a:t>
            </a:r>
          </a:p>
          <a:p>
            <a:r>
              <a:rPr lang="en-US" dirty="0" smtClean="0"/>
              <a:t>Anorexia</a:t>
            </a:r>
          </a:p>
          <a:p>
            <a:r>
              <a:rPr lang="en-US" dirty="0" smtClean="0"/>
              <a:t>Nausea</a:t>
            </a:r>
          </a:p>
          <a:p>
            <a:r>
              <a:rPr lang="en-US" dirty="0" smtClean="0"/>
              <a:t>Sense of abdominal fullness, due to right-sided heart failure</a:t>
            </a:r>
          </a:p>
          <a:p>
            <a:r>
              <a:rPr lang="en-US" dirty="0" smtClean="0"/>
              <a:t>Substance abuse e.g. alcohol, drugs, tobacco.</a:t>
            </a:r>
            <a:endParaRPr lang="en-US" dirty="0"/>
          </a:p>
        </p:txBody>
      </p:sp>
    </p:spTree>
    <p:extLst>
      <p:ext uri="{BB962C8B-B14F-4D97-AF65-F5344CB8AC3E}">
        <p14:creationId xmlns:p14="http://schemas.microsoft.com/office/powerpoint/2010/main" val="154894963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Physical exam findings</a:t>
            </a:r>
            <a:endParaRPr lang="en-US" dirty="0"/>
          </a:p>
        </p:txBody>
      </p:sp>
      <p:sp>
        <p:nvSpPr>
          <p:cNvPr id="3" name="Content Placeholder 2"/>
          <p:cNvSpPr>
            <a:spLocks noGrp="1"/>
          </p:cNvSpPr>
          <p:nvPr>
            <p:ph idx="1"/>
          </p:nvPr>
        </p:nvSpPr>
        <p:spPr>
          <a:xfrm>
            <a:off x="1981200" y="1600200"/>
            <a:ext cx="8229600" cy="5029200"/>
          </a:xfrm>
        </p:spPr>
        <p:txBody>
          <a:bodyPr>
            <a:normAutofit lnSpcReduction="10000"/>
          </a:bodyPr>
          <a:lstStyle/>
          <a:p>
            <a:r>
              <a:rPr lang="en-US" dirty="0" smtClean="0"/>
              <a:t>Cough that produces pink, frothy sputum</a:t>
            </a:r>
          </a:p>
          <a:p>
            <a:r>
              <a:rPr lang="en-US" dirty="0" smtClean="0"/>
              <a:t>Cyanosis of the lips and nail beds</a:t>
            </a:r>
          </a:p>
          <a:p>
            <a:r>
              <a:rPr lang="en-US" dirty="0" err="1" smtClean="0"/>
              <a:t>Orthopnoea</a:t>
            </a:r>
            <a:r>
              <a:rPr lang="en-US" dirty="0" smtClean="0"/>
              <a:t> </a:t>
            </a:r>
          </a:p>
          <a:p>
            <a:r>
              <a:rPr lang="en-US" dirty="0" smtClean="0"/>
              <a:t>Pale, cool, clammy skin</a:t>
            </a:r>
          </a:p>
          <a:p>
            <a:r>
              <a:rPr lang="en-US" dirty="0" smtClean="0"/>
              <a:t>Diaphoresis</a:t>
            </a:r>
          </a:p>
          <a:p>
            <a:r>
              <a:rPr lang="en-US" dirty="0" smtClean="0"/>
              <a:t>Jugular vein distension</a:t>
            </a:r>
          </a:p>
          <a:p>
            <a:r>
              <a:rPr lang="en-US" dirty="0" err="1" smtClean="0"/>
              <a:t>Ascites</a:t>
            </a:r>
            <a:r>
              <a:rPr lang="en-US" dirty="0" smtClean="0"/>
              <a:t> resulting poor venous return from abdomen and liver congestion</a:t>
            </a:r>
          </a:p>
          <a:p>
            <a:r>
              <a:rPr lang="en-US" dirty="0" smtClean="0"/>
              <a:t>Tachycardia</a:t>
            </a:r>
          </a:p>
          <a:p>
            <a:r>
              <a:rPr lang="en-US" dirty="0" err="1" smtClean="0"/>
              <a:t>Pulsus</a:t>
            </a:r>
            <a:r>
              <a:rPr lang="en-US" dirty="0" smtClean="0"/>
              <a:t> </a:t>
            </a:r>
            <a:r>
              <a:rPr lang="en-US" dirty="0" err="1" smtClean="0"/>
              <a:t>alternans</a:t>
            </a:r>
            <a:r>
              <a:rPr lang="en-US" dirty="0" smtClean="0"/>
              <a:t>- weak pulse alternating with strong one</a:t>
            </a:r>
          </a:p>
          <a:p>
            <a:endParaRPr lang="en-US" dirty="0"/>
          </a:p>
        </p:txBody>
      </p:sp>
    </p:spTree>
    <p:extLst>
      <p:ext uri="{BB962C8B-B14F-4D97-AF65-F5344CB8AC3E}">
        <p14:creationId xmlns:p14="http://schemas.microsoft.com/office/powerpoint/2010/main" val="429305197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Physical findings cont.</a:t>
            </a:r>
            <a:endParaRPr lang="en-US" dirty="0"/>
          </a:p>
        </p:txBody>
      </p:sp>
      <p:sp>
        <p:nvSpPr>
          <p:cNvPr id="3" name="Content Placeholder 2"/>
          <p:cNvSpPr>
            <a:spLocks noGrp="1"/>
          </p:cNvSpPr>
          <p:nvPr>
            <p:ph idx="1"/>
          </p:nvPr>
        </p:nvSpPr>
        <p:spPr>
          <a:xfrm>
            <a:off x="1981200" y="1600200"/>
            <a:ext cx="8534400" cy="5181600"/>
          </a:xfrm>
        </p:spPr>
        <p:txBody>
          <a:bodyPr>
            <a:normAutofit/>
          </a:bodyPr>
          <a:lstStyle/>
          <a:p>
            <a:r>
              <a:rPr lang="en-US" dirty="0" smtClean="0"/>
              <a:t>Hepatomegaly and, possibly, splenomegaly</a:t>
            </a:r>
          </a:p>
          <a:p>
            <a:r>
              <a:rPr lang="en-US" dirty="0" smtClean="0"/>
              <a:t>Decreased pulse pressure</a:t>
            </a:r>
          </a:p>
          <a:p>
            <a:r>
              <a:rPr lang="en-US" dirty="0" smtClean="0"/>
              <a:t>S3 and S4 heart sounds</a:t>
            </a:r>
          </a:p>
          <a:p>
            <a:r>
              <a:rPr lang="en-US" dirty="0" smtClean="0"/>
              <a:t>Moist, bibasilar crackles, rhonchi, and expiratory wheezing</a:t>
            </a:r>
          </a:p>
          <a:p>
            <a:r>
              <a:rPr lang="en-US" dirty="0" smtClean="0"/>
              <a:t>Decreased pulse oximetry</a:t>
            </a:r>
          </a:p>
          <a:p>
            <a:r>
              <a:rPr lang="en-US" dirty="0" smtClean="0"/>
              <a:t>Peripheral oedema</a:t>
            </a:r>
          </a:p>
          <a:p>
            <a:r>
              <a:rPr lang="en-US" dirty="0" smtClean="0"/>
              <a:t>Decreased urinary output</a:t>
            </a:r>
            <a:endParaRPr lang="en-US" dirty="0"/>
          </a:p>
        </p:txBody>
      </p:sp>
    </p:spTree>
    <p:extLst>
      <p:ext uri="{BB962C8B-B14F-4D97-AF65-F5344CB8AC3E}">
        <p14:creationId xmlns:p14="http://schemas.microsoft.com/office/powerpoint/2010/main" val="212865006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05000" y="-152400"/>
            <a:ext cx="8229600" cy="152400"/>
          </a:xfrm>
        </p:spPr>
        <p:txBody>
          <a:bodyPr>
            <a:normAutofit fontScale="90000"/>
          </a:bodyPr>
          <a:lstStyle/>
          <a:p>
            <a:endParaRPr lang="en-US" dirty="0"/>
          </a:p>
        </p:txBody>
      </p:sp>
      <p:sp>
        <p:nvSpPr>
          <p:cNvPr id="3" name="Content Placeholder 2"/>
          <p:cNvSpPr>
            <a:spLocks noGrp="1"/>
          </p:cNvSpPr>
          <p:nvPr>
            <p:ph idx="1"/>
          </p:nvPr>
        </p:nvSpPr>
        <p:spPr>
          <a:xfrm>
            <a:off x="1981200" y="0"/>
            <a:ext cx="8686800" cy="7010400"/>
          </a:xfrm>
        </p:spPr>
        <p:txBody>
          <a:bodyPr>
            <a:normAutofit/>
          </a:bodyPr>
          <a:lstStyle/>
          <a:p>
            <a:pPr marL="0" indent="0">
              <a:buNone/>
            </a:pPr>
            <a:r>
              <a:rPr lang="en-US" sz="3600" b="1" dirty="0"/>
              <a:t>Lab test results:</a:t>
            </a:r>
          </a:p>
          <a:p>
            <a:r>
              <a:rPr lang="en-US" dirty="0" smtClean="0"/>
              <a:t>B-type natriuretic peptide immunoassay is elevated</a:t>
            </a:r>
          </a:p>
          <a:p>
            <a:r>
              <a:rPr lang="en-US" dirty="0" smtClean="0"/>
              <a:t>Liver function tests e.g. ALT, AST, LDH, serum bilirubin, and total protein and albumin levels are evaluated to show effect of heart failure on the liver</a:t>
            </a:r>
          </a:p>
          <a:p>
            <a:r>
              <a:rPr lang="en-US" dirty="0" smtClean="0"/>
              <a:t>Thyroid function tests  e.g. TSH, TH levels done because both hypothyroidism and hyperthyroidism can be primary or contributory factor for heart failure</a:t>
            </a:r>
          </a:p>
          <a:p>
            <a:r>
              <a:rPr lang="en-US" dirty="0" smtClean="0"/>
              <a:t>In acute heart failure, ABGs done to evaluate gas exchange in lung tissues</a:t>
            </a:r>
          </a:p>
          <a:p>
            <a:pPr marL="0" indent="0">
              <a:buNone/>
            </a:pPr>
            <a:endParaRPr lang="en-US" b="1" dirty="0" smtClean="0"/>
          </a:p>
          <a:p>
            <a:pPr marL="0" indent="0">
              <a:buNone/>
            </a:pPr>
            <a:endParaRPr lang="en-US" dirty="0" smtClean="0"/>
          </a:p>
          <a:p>
            <a:pPr marL="0" indent="0">
              <a:buNone/>
            </a:pPr>
            <a:endParaRPr lang="en-US" dirty="0"/>
          </a:p>
        </p:txBody>
      </p:sp>
    </p:spTree>
    <p:extLst>
      <p:ext uri="{BB962C8B-B14F-4D97-AF65-F5344CB8AC3E}">
        <p14:creationId xmlns:p14="http://schemas.microsoft.com/office/powerpoint/2010/main" val="66077080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0"/>
            <a:ext cx="8229600" cy="1143000"/>
          </a:xfrm>
        </p:spPr>
        <p:txBody>
          <a:bodyPr>
            <a:normAutofit fontScale="90000"/>
          </a:bodyPr>
          <a:lstStyle/>
          <a:p>
            <a:r>
              <a:rPr lang="en-US" dirty="0" smtClean="0"/>
              <a:t/>
            </a:r>
            <a:br>
              <a:rPr lang="en-US" dirty="0" smtClean="0"/>
            </a:br>
            <a:r>
              <a:rPr lang="en-US" dirty="0" smtClean="0"/>
              <a:t>Imaging results</a:t>
            </a:r>
            <a:endParaRPr lang="en-US" dirty="0"/>
          </a:p>
        </p:txBody>
      </p:sp>
      <p:sp>
        <p:nvSpPr>
          <p:cNvPr id="3" name="Content Placeholder 2"/>
          <p:cNvSpPr>
            <a:spLocks noGrp="1"/>
          </p:cNvSpPr>
          <p:nvPr>
            <p:ph idx="1"/>
          </p:nvPr>
        </p:nvSpPr>
        <p:spPr>
          <a:xfrm>
            <a:off x="1981200" y="3581400"/>
            <a:ext cx="8686800" cy="5257800"/>
          </a:xfrm>
        </p:spPr>
        <p:txBody>
          <a:bodyPr/>
          <a:lstStyle/>
          <a:p>
            <a:r>
              <a:rPr lang="en-US" dirty="0" smtClean="0"/>
              <a:t>Chest x-ray shows increased pulmonary markings, interstitial oedema, or pleural effusion and cardiomegaly</a:t>
            </a:r>
          </a:p>
          <a:p>
            <a:r>
              <a:rPr lang="en-US" dirty="0" smtClean="0"/>
              <a:t>Radionuclide imaging to evaluate ventricular function and size</a:t>
            </a:r>
            <a:endParaRPr lang="en-US" dirty="0"/>
          </a:p>
        </p:txBody>
      </p:sp>
      <p:sp>
        <p:nvSpPr>
          <p:cNvPr id="4" name="Rectangle 3"/>
          <p:cNvSpPr/>
          <p:nvPr/>
        </p:nvSpPr>
        <p:spPr>
          <a:xfrm>
            <a:off x="2133600" y="774918"/>
            <a:ext cx="8534400" cy="1815882"/>
          </a:xfrm>
          <a:prstGeom prst="rect">
            <a:avLst/>
          </a:prstGeom>
        </p:spPr>
        <p:txBody>
          <a:bodyPr wrap="square">
            <a:spAutoFit/>
          </a:bodyPr>
          <a:lstStyle/>
          <a:p>
            <a:pPr marL="457200" indent="-457200">
              <a:buFont typeface="Arial" pitchFamily="34" charset="0"/>
              <a:buChar char="•"/>
            </a:pPr>
            <a:r>
              <a:rPr lang="en-US" sz="2800" dirty="0"/>
              <a:t>Serum electrolytes measured to evaluate fluid and electrolyte status</a:t>
            </a:r>
          </a:p>
          <a:p>
            <a:pPr marL="457200" indent="-457200">
              <a:buFont typeface="Arial" pitchFamily="34" charset="0"/>
              <a:buChar char="•"/>
            </a:pPr>
            <a:r>
              <a:rPr lang="en-US" sz="2800" dirty="0"/>
              <a:t>Urinalysis, BUN and serum </a:t>
            </a:r>
            <a:r>
              <a:rPr lang="en-US" sz="2800" dirty="0" err="1"/>
              <a:t>creatinine</a:t>
            </a:r>
            <a:r>
              <a:rPr lang="en-US" sz="2800" dirty="0"/>
              <a:t> done to evaluate renal function</a:t>
            </a:r>
          </a:p>
        </p:txBody>
      </p:sp>
    </p:spTree>
    <p:extLst>
      <p:ext uri="{BB962C8B-B14F-4D97-AF65-F5344CB8AC3E}">
        <p14:creationId xmlns:p14="http://schemas.microsoft.com/office/powerpoint/2010/main" val="394468660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13857" y="-29029"/>
            <a:ext cx="8229600" cy="1143000"/>
          </a:xfrm>
        </p:spPr>
        <p:txBody>
          <a:bodyPr>
            <a:normAutofit fontScale="90000"/>
          </a:bodyPr>
          <a:lstStyle/>
          <a:p>
            <a:r>
              <a:rPr lang="en-US" sz="4000" dirty="0"/>
              <a:t/>
            </a:r>
            <a:br>
              <a:rPr lang="en-US" sz="4000" dirty="0"/>
            </a:br>
            <a:r>
              <a:rPr lang="en-US" b="1" dirty="0" smtClean="0"/>
              <a:t>Diagnostic procedures</a:t>
            </a:r>
            <a:endParaRPr lang="en-US" b="1" dirty="0"/>
          </a:p>
        </p:txBody>
      </p:sp>
      <p:sp>
        <p:nvSpPr>
          <p:cNvPr id="3" name="Content Placeholder 2"/>
          <p:cNvSpPr>
            <a:spLocks noGrp="1"/>
          </p:cNvSpPr>
          <p:nvPr>
            <p:ph idx="1"/>
          </p:nvPr>
        </p:nvSpPr>
        <p:spPr>
          <a:xfrm>
            <a:off x="2086429" y="1295400"/>
            <a:ext cx="8610600" cy="5257800"/>
          </a:xfrm>
        </p:spPr>
        <p:txBody>
          <a:bodyPr>
            <a:normAutofit/>
          </a:bodyPr>
          <a:lstStyle/>
          <a:p>
            <a:r>
              <a:rPr lang="en-US" dirty="0" smtClean="0"/>
              <a:t>ECG reflects heart strain or enlargement or ischemia; atrial enlargement, tachycardia, </a:t>
            </a:r>
            <a:r>
              <a:rPr lang="en-US" dirty="0" err="1" smtClean="0"/>
              <a:t>extrasystole</a:t>
            </a:r>
            <a:r>
              <a:rPr lang="en-US" dirty="0" smtClean="0"/>
              <a:t>, or atrial fibrillations</a:t>
            </a:r>
          </a:p>
          <a:p>
            <a:r>
              <a:rPr lang="en-US" dirty="0" smtClean="0"/>
              <a:t>Pulmonary artery pressure monitoring typically shows elevated pulmonary artery wedge pressures, left ventricular end-diastolic pressure in left-sided heart failure, and elevated right atrial or central venous pressure in right-sided heart failure</a:t>
            </a:r>
            <a:endParaRPr lang="en-US" dirty="0"/>
          </a:p>
        </p:txBody>
      </p:sp>
    </p:spTree>
    <p:extLst>
      <p:ext uri="{BB962C8B-B14F-4D97-AF65-F5344CB8AC3E}">
        <p14:creationId xmlns:p14="http://schemas.microsoft.com/office/powerpoint/2010/main" val="281407884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Management </a:t>
            </a:r>
            <a:endParaRPr lang="en-US" dirty="0"/>
          </a:p>
        </p:txBody>
      </p:sp>
      <p:sp>
        <p:nvSpPr>
          <p:cNvPr id="3" name="Content Placeholder 2"/>
          <p:cNvSpPr>
            <a:spLocks noGrp="1"/>
          </p:cNvSpPr>
          <p:nvPr>
            <p:ph idx="1"/>
          </p:nvPr>
        </p:nvSpPr>
        <p:spPr>
          <a:xfrm>
            <a:off x="1981200" y="1600200"/>
            <a:ext cx="8686800" cy="5257800"/>
          </a:xfrm>
        </p:spPr>
        <p:txBody>
          <a:bodyPr>
            <a:normAutofit/>
          </a:bodyPr>
          <a:lstStyle/>
          <a:p>
            <a:pPr marL="0" indent="0">
              <a:buNone/>
            </a:pPr>
            <a:r>
              <a:rPr lang="en-US" b="1" dirty="0" smtClean="0"/>
              <a:t>General management:</a:t>
            </a:r>
          </a:p>
          <a:p>
            <a:r>
              <a:rPr lang="en-US" dirty="0" err="1" smtClean="0"/>
              <a:t>Antiembolism</a:t>
            </a:r>
            <a:r>
              <a:rPr lang="en-US" dirty="0" smtClean="0"/>
              <a:t> stockings to promote venous return</a:t>
            </a:r>
          </a:p>
          <a:p>
            <a:r>
              <a:rPr lang="en-US" dirty="0" smtClean="0"/>
              <a:t>Elevation of lower extremities to relieve </a:t>
            </a:r>
            <a:r>
              <a:rPr lang="en-US" dirty="0" err="1" smtClean="0"/>
              <a:t>oedema</a:t>
            </a:r>
            <a:endParaRPr lang="en-US" dirty="0" smtClean="0"/>
          </a:p>
          <a:p>
            <a:r>
              <a:rPr lang="en-US" dirty="0" smtClean="0"/>
              <a:t>Sodium restricted diet to prevent fluid retention </a:t>
            </a:r>
          </a:p>
          <a:p>
            <a:r>
              <a:rPr lang="en-US" dirty="0" smtClean="0"/>
              <a:t>Fluid restriction to prevent fluid overload</a:t>
            </a:r>
          </a:p>
          <a:p>
            <a:r>
              <a:rPr lang="en-US" dirty="0" smtClean="0"/>
              <a:t>Calorie restriction if indicated to prevent </a:t>
            </a:r>
            <a:r>
              <a:rPr lang="en-US" dirty="0" err="1" smtClean="0"/>
              <a:t>obessity</a:t>
            </a:r>
            <a:endParaRPr lang="en-US" dirty="0" smtClean="0"/>
          </a:p>
          <a:p>
            <a:r>
              <a:rPr lang="en-US" dirty="0" smtClean="0"/>
              <a:t>Low-fat fat diet to prevent atherosclerosis</a:t>
            </a:r>
          </a:p>
          <a:p>
            <a:r>
              <a:rPr lang="en-US" dirty="0" smtClean="0"/>
              <a:t>Walking programs to reduce weight to optimum level </a:t>
            </a:r>
          </a:p>
          <a:p>
            <a:r>
              <a:rPr lang="en-US" dirty="0" smtClean="0"/>
              <a:t>Activity as tolerated to keep fit and prevent </a:t>
            </a:r>
            <a:r>
              <a:rPr lang="en-US" dirty="0" err="1" smtClean="0"/>
              <a:t>dependance</a:t>
            </a:r>
            <a:endParaRPr lang="en-US" dirty="0" smtClean="0"/>
          </a:p>
          <a:p>
            <a:endParaRPr lang="en-US" dirty="0"/>
          </a:p>
        </p:txBody>
      </p:sp>
    </p:spTree>
    <p:extLst>
      <p:ext uri="{BB962C8B-B14F-4D97-AF65-F5344CB8AC3E}">
        <p14:creationId xmlns:p14="http://schemas.microsoft.com/office/powerpoint/2010/main" val="3451196443"/>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Medications </a:t>
            </a:r>
            <a:endParaRPr lang="en-US" dirty="0"/>
          </a:p>
        </p:txBody>
      </p:sp>
      <p:sp>
        <p:nvSpPr>
          <p:cNvPr id="3" name="Content Placeholder 2"/>
          <p:cNvSpPr>
            <a:spLocks noGrp="1"/>
          </p:cNvSpPr>
          <p:nvPr>
            <p:ph idx="1"/>
          </p:nvPr>
        </p:nvSpPr>
        <p:spPr>
          <a:xfrm>
            <a:off x="1981200" y="1600200"/>
            <a:ext cx="8534400" cy="5105400"/>
          </a:xfrm>
        </p:spPr>
        <p:txBody>
          <a:bodyPr>
            <a:normAutofit/>
          </a:bodyPr>
          <a:lstStyle/>
          <a:p>
            <a:r>
              <a:rPr lang="en-US" b="1" dirty="0" smtClean="0"/>
              <a:t>Oxygen therapy </a:t>
            </a:r>
            <a:r>
              <a:rPr lang="en-US" dirty="0" smtClean="0"/>
              <a:t>as necessary</a:t>
            </a:r>
          </a:p>
          <a:p>
            <a:r>
              <a:rPr lang="en-US" b="1" dirty="0" smtClean="0"/>
              <a:t>Diuretics</a:t>
            </a:r>
            <a:r>
              <a:rPr lang="en-US" dirty="0" smtClean="0"/>
              <a:t>, such as </a:t>
            </a:r>
            <a:r>
              <a:rPr lang="en-US" dirty="0" err="1" smtClean="0"/>
              <a:t>frusemide</a:t>
            </a:r>
            <a:r>
              <a:rPr lang="en-US" dirty="0" smtClean="0"/>
              <a:t>, </a:t>
            </a:r>
            <a:r>
              <a:rPr lang="en-US" dirty="0" err="1" smtClean="0"/>
              <a:t>bumetanide</a:t>
            </a:r>
            <a:r>
              <a:rPr lang="en-US" dirty="0" smtClean="0"/>
              <a:t>, </a:t>
            </a:r>
            <a:r>
              <a:rPr lang="en-US" dirty="0" err="1" smtClean="0"/>
              <a:t>torsemide</a:t>
            </a:r>
            <a:r>
              <a:rPr lang="en-US" dirty="0" smtClean="0"/>
              <a:t>, </a:t>
            </a:r>
            <a:r>
              <a:rPr lang="en-US" dirty="0" err="1" smtClean="0"/>
              <a:t>metolazone</a:t>
            </a:r>
            <a:r>
              <a:rPr lang="en-US" dirty="0" smtClean="0"/>
              <a:t> and hydrochlorothiazide</a:t>
            </a:r>
          </a:p>
          <a:p>
            <a:r>
              <a:rPr lang="en-US" b="1" dirty="0" smtClean="0"/>
              <a:t>Inotropic drugs</a:t>
            </a:r>
            <a:r>
              <a:rPr lang="en-US" b="1" dirty="0"/>
              <a:t> </a:t>
            </a:r>
            <a:r>
              <a:rPr lang="en-US" dirty="0" smtClean="0"/>
              <a:t>such as </a:t>
            </a:r>
            <a:r>
              <a:rPr lang="en-US" dirty="0" err="1" smtClean="0"/>
              <a:t>digoxin</a:t>
            </a:r>
            <a:r>
              <a:rPr lang="en-US" dirty="0" smtClean="0"/>
              <a:t> (digitalis), </a:t>
            </a:r>
            <a:r>
              <a:rPr lang="en-US" dirty="0" err="1" smtClean="0"/>
              <a:t>dobutamine</a:t>
            </a:r>
            <a:r>
              <a:rPr lang="en-US" dirty="0" smtClean="0"/>
              <a:t>, and dopamine to reduce heart rate and improve cardiac output</a:t>
            </a:r>
          </a:p>
          <a:p>
            <a:r>
              <a:rPr lang="en-US" b="1" dirty="0" smtClean="0"/>
              <a:t>Vasodilators</a:t>
            </a:r>
            <a:r>
              <a:rPr lang="en-US" dirty="0" smtClean="0"/>
              <a:t> such as nitrates (nitroglycerin), sodium </a:t>
            </a:r>
            <a:r>
              <a:rPr lang="en-US" dirty="0" err="1" smtClean="0"/>
              <a:t>nitroprusside</a:t>
            </a:r>
            <a:r>
              <a:rPr lang="en-US" dirty="0" smtClean="0"/>
              <a:t>, </a:t>
            </a:r>
            <a:r>
              <a:rPr lang="en-US" dirty="0" err="1" smtClean="0"/>
              <a:t>isosorbide</a:t>
            </a:r>
            <a:r>
              <a:rPr lang="en-US" dirty="0" smtClean="0"/>
              <a:t>, and </a:t>
            </a:r>
            <a:r>
              <a:rPr lang="en-US" dirty="0" err="1" smtClean="0"/>
              <a:t>nesiritide</a:t>
            </a:r>
            <a:r>
              <a:rPr lang="en-US" dirty="0" smtClean="0"/>
              <a:t>- causes dilatation of arteries and veins</a:t>
            </a:r>
          </a:p>
          <a:p>
            <a:r>
              <a:rPr lang="en-US" b="1" dirty="0" smtClean="0"/>
              <a:t>Angiotensin-converting enzyme inhibitors</a:t>
            </a:r>
            <a:r>
              <a:rPr lang="en-US" dirty="0" smtClean="0"/>
              <a:t>, such as captopril, enalapril, and lisinopril</a:t>
            </a:r>
            <a:endParaRPr lang="en-US" dirty="0"/>
          </a:p>
        </p:txBody>
      </p:sp>
    </p:spTree>
    <p:extLst>
      <p:ext uri="{BB962C8B-B14F-4D97-AF65-F5344CB8AC3E}">
        <p14:creationId xmlns:p14="http://schemas.microsoft.com/office/powerpoint/2010/main" val="259514104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a:xfrm>
            <a:off x="1981200" y="1600200"/>
            <a:ext cx="8534400" cy="5105400"/>
          </a:xfrm>
        </p:spPr>
        <p:txBody>
          <a:bodyPr>
            <a:normAutofit/>
          </a:bodyPr>
          <a:lstStyle/>
          <a:p>
            <a:r>
              <a:rPr lang="en-US" b="1" dirty="0" smtClean="0"/>
              <a:t>Angiotensin-receptor blockers</a:t>
            </a:r>
            <a:r>
              <a:rPr lang="en-US" dirty="0" smtClean="0"/>
              <a:t>, such as losartan, valsartan, and </a:t>
            </a:r>
            <a:r>
              <a:rPr lang="en-US" dirty="0" err="1" smtClean="0"/>
              <a:t>irbesartan</a:t>
            </a:r>
            <a:r>
              <a:rPr lang="en-US" dirty="0" smtClean="0"/>
              <a:t> to prevent action of </a:t>
            </a:r>
            <a:r>
              <a:rPr lang="en-US" dirty="0" err="1" smtClean="0"/>
              <a:t>angiotensin</a:t>
            </a:r>
            <a:r>
              <a:rPr lang="en-US" dirty="0" smtClean="0"/>
              <a:t> II and produce vasoconstriction and increased salt and water excretion. Full effect experienced after 3-6 weeks.</a:t>
            </a:r>
          </a:p>
          <a:p>
            <a:r>
              <a:rPr lang="en-US" b="1" dirty="0" smtClean="0"/>
              <a:t>Calcium channel blockers</a:t>
            </a:r>
            <a:r>
              <a:rPr lang="en-US" dirty="0" smtClean="0"/>
              <a:t>, such as </a:t>
            </a:r>
            <a:r>
              <a:rPr lang="en-US" dirty="0" err="1" smtClean="0"/>
              <a:t>amiodipine</a:t>
            </a:r>
            <a:r>
              <a:rPr lang="en-US" dirty="0" smtClean="0"/>
              <a:t>, </a:t>
            </a:r>
            <a:r>
              <a:rPr lang="en-US" dirty="0" err="1" smtClean="0"/>
              <a:t>felodipine</a:t>
            </a:r>
            <a:r>
              <a:rPr lang="en-US" dirty="0" smtClean="0"/>
              <a:t>, </a:t>
            </a:r>
            <a:r>
              <a:rPr lang="en-US" dirty="0" err="1" smtClean="0"/>
              <a:t>nefedipine</a:t>
            </a:r>
            <a:r>
              <a:rPr lang="en-US" dirty="0" smtClean="0"/>
              <a:t>, </a:t>
            </a:r>
            <a:r>
              <a:rPr lang="en-US" dirty="0" err="1" smtClean="0"/>
              <a:t>verapamil</a:t>
            </a:r>
            <a:r>
              <a:rPr lang="en-US" dirty="0" smtClean="0"/>
              <a:t> to block movement of extracellular Ca++ into cells, causing </a:t>
            </a:r>
            <a:r>
              <a:rPr lang="en-US" dirty="0" err="1" smtClean="0"/>
              <a:t>vasodilation</a:t>
            </a:r>
            <a:r>
              <a:rPr lang="en-US" dirty="0" smtClean="0"/>
              <a:t> and decreased HR, </a:t>
            </a:r>
            <a:r>
              <a:rPr lang="en-US" dirty="0" err="1" smtClean="0"/>
              <a:t>conractility</a:t>
            </a:r>
            <a:r>
              <a:rPr lang="en-US" dirty="0" smtClean="0"/>
              <a:t> and systemic vascular resistance</a:t>
            </a:r>
            <a:endParaRPr lang="en-US" dirty="0"/>
          </a:p>
          <a:p>
            <a:pPr>
              <a:buNone/>
            </a:pPr>
            <a:endParaRPr lang="en-US" dirty="0" smtClean="0"/>
          </a:p>
          <a:p>
            <a:pPr marL="0" indent="0">
              <a:buNone/>
            </a:pPr>
            <a:endParaRPr lang="en-US" dirty="0"/>
          </a:p>
        </p:txBody>
      </p:sp>
    </p:spTree>
    <p:extLst>
      <p:ext uri="{BB962C8B-B14F-4D97-AF65-F5344CB8AC3E}">
        <p14:creationId xmlns:p14="http://schemas.microsoft.com/office/powerpoint/2010/main" val="4050700356"/>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a:xfrm>
            <a:off x="1981200" y="1600200"/>
            <a:ext cx="8686800" cy="5105400"/>
          </a:xfrm>
        </p:spPr>
        <p:txBody>
          <a:bodyPr>
            <a:normAutofit/>
          </a:bodyPr>
          <a:lstStyle/>
          <a:p>
            <a:r>
              <a:rPr lang="en-US" b="1" dirty="0" smtClean="0"/>
              <a:t>Potassium –sparing diuretics  </a:t>
            </a:r>
            <a:r>
              <a:rPr lang="en-US" dirty="0" smtClean="0"/>
              <a:t>e.g. </a:t>
            </a:r>
            <a:r>
              <a:rPr lang="en-US" dirty="0" err="1" smtClean="0"/>
              <a:t>amiloride</a:t>
            </a:r>
            <a:r>
              <a:rPr lang="en-US" dirty="0" smtClean="0"/>
              <a:t> and </a:t>
            </a:r>
            <a:r>
              <a:rPr lang="en-US" dirty="0" err="1" smtClean="0"/>
              <a:t>spilonolactone</a:t>
            </a:r>
            <a:r>
              <a:rPr lang="en-US" dirty="0" smtClean="0"/>
              <a:t> (</a:t>
            </a:r>
            <a:r>
              <a:rPr lang="en-US" dirty="0" err="1" smtClean="0"/>
              <a:t>Aldactone</a:t>
            </a:r>
            <a:r>
              <a:rPr lang="en-US" dirty="0" smtClean="0"/>
              <a:t>) for exchange of K+ and Na+ in distal renal tubules and reduce excretion of K+, H+, Ca++ and Mg++</a:t>
            </a:r>
          </a:p>
          <a:p>
            <a:r>
              <a:rPr lang="en-US" b="1" dirty="0" smtClean="0"/>
              <a:t>Beta-adrenergic blockers</a:t>
            </a:r>
            <a:r>
              <a:rPr lang="en-US" dirty="0" smtClean="0"/>
              <a:t>, such as atenolol, </a:t>
            </a:r>
            <a:r>
              <a:rPr lang="en-US" dirty="0" err="1" smtClean="0"/>
              <a:t>metoprolol</a:t>
            </a:r>
            <a:r>
              <a:rPr lang="en-US" dirty="0" smtClean="0"/>
              <a:t>, propranolol (</a:t>
            </a:r>
            <a:r>
              <a:rPr lang="en-US" dirty="0" err="1" smtClean="0"/>
              <a:t>inderal</a:t>
            </a:r>
            <a:r>
              <a:rPr lang="en-US" dirty="0" smtClean="0"/>
              <a:t>) and carvedilol</a:t>
            </a:r>
          </a:p>
          <a:p>
            <a:r>
              <a:rPr lang="en-US" b="1" dirty="0" smtClean="0"/>
              <a:t>Anticoagulants</a:t>
            </a:r>
            <a:r>
              <a:rPr lang="en-US" dirty="0" smtClean="0"/>
              <a:t>, such as </a:t>
            </a:r>
            <a:r>
              <a:rPr lang="en-US" dirty="0" err="1" smtClean="0"/>
              <a:t>warfarin</a:t>
            </a:r>
            <a:endParaRPr lang="en-US" dirty="0" smtClean="0"/>
          </a:p>
          <a:p>
            <a:r>
              <a:rPr lang="en-US" b="1" dirty="0" smtClean="0"/>
              <a:t>Morphine</a:t>
            </a:r>
            <a:r>
              <a:rPr lang="en-US" dirty="0" smtClean="0"/>
              <a:t>- decreases preload and </a:t>
            </a:r>
            <a:r>
              <a:rPr lang="en-US" dirty="0" err="1" smtClean="0"/>
              <a:t>afterload</a:t>
            </a:r>
            <a:r>
              <a:rPr lang="en-US" dirty="0" smtClean="0"/>
              <a:t> in acute </a:t>
            </a:r>
            <a:r>
              <a:rPr lang="en-US" dirty="0" err="1" smtClean="0"/>
              <a:t>decompesated</a:t>
            </a:r>
            <a:r>
              <a:rPr lang="en-US" dirty="0" smtClean="0"/>
              <a:t> heart failure and pulmonary </a:t>
            </a:r>
            <a:r>
              <a:rPr lang="en-US" dirty="0" err="1" smtClean="0"/>
              <a:t>oedema</a:t>
            </a:r>
            <a:r>
              <a:rPr lang="en-US" dirty="0" smtClean="0"/>
              <a:t>, dilates pulmonary and systemic blood vessels.</a:t>
            </a:r>
          </a:p>
          <a:p>
            <a:endParaRPr lang="en-US" dirty="0"/>
          </a:p>
        </p:txBody>
      </p:sp>
    </p:spTree>
    <p:extLst>
      <p:ext uri="{BB962C8B-B14F-4D97-AF65-F5344CB8AC3E}">
        <p14:creationId xmlns:p14="http://schemas.microsoft.com/office/powerpoint/2010/main" val="318965195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Surgical intervention </a:t>
            </a:r>
            <a:endParaRPr lang="en-US" dirty="0"/>
          </a:p>
        </p:txBody>
      </p:sp>
      <p:sp>
        <p:nvSpPr>
          <p:cNvPr id="3" name="Content Placeholder 2"/>
          <p:cNvSpPr>
            <a:spLocks noGrp="1"/>
          </p:cNvSpPr>
          <p:nvPr>
            <p:ph idx="1"/>
          </p:nvPr>
        </p:nvSpPr>
        <p:spPr/>
        <p:txBody>
          <a:bodyPr/>
          <a:lstStyle/>
          <a:p>
            <a:r>
              <a:rPr lang="en-US" dirty="0" smtClean="0"/>
              <a:t>For valvular dysfunction with recurrent acute heart failure, surgical replacement</a:t>
            </a:r>
          </a:p>
          <a:p>
            <a:r>
              <a:rPr lang="en-US" dirty="0" smtClean="0"/>
              <a:t>Heart transplant – transfer of a heart from one person (especially for one who has suffered massive brain dead) to another</a:t>
            </a:r>
          </a:p>
          <a:p>
            <a:r>
              <a:rPr lang="en-US" dirty="0" smtClean="0"/>
              <a:t>Ventricular assist device</a:t>
            </a:r>
          </a:p>
          <a:p>
            <a:r>
              <a:rPr lang="en-US" dirty="0" smtClean="0"/>
              <a:t>Stent placement</a:t>
            </a:r>
          </a:p>
          <a:p>
            <a:endParaRPr lang="en-US" dirty="0" smtClean="0"/>
          </a:p>
          <a:p>
            <a:endParaRPr lang="en-US" dirty="0" smtClean="0"/>
          </a:p>
          <a:p>
            <a:endParaRPr lang="en-US" dirty="0"/>
          </a:p>
        </p:txBody>
      </p:sp>
    </p:spTree>
    <p:extLst>
      <p:ext uri="{BB962C8B-B14F-4D97-AF65-F5344CB8AC3E}">
        <p14:creationId xmlns:p14="http://schemas.microsoft.com/office/powerpoint/2010/main" val="91350668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05000" y="0"/>
            <a:ext cx="8229600" cy="1143000"/>
          </a:xfrm>
        </p:spPr>
        <p:txBody>
          <a:bodyPr/>
          <a:lstStyle/>
          <a:p>
            <a:r>
              <a:rPr lang="en-US" dirty="0" smtClean="0"/>
              <a:t>Nursing management</a:t>
            </a:r>
            <a:endParaRPr lang="en-US" dirty="0"/>
          </a:p>
        </p:txBody>
      </p:sp>
      <p:sp>
        <p:nvSpPr>
          <p:cNvPr id="3" name="Content Placeholder 2"/>
          <p:cNvSpPr>
            <a:spLocks noGrp="1"/>
          </p:cNvSpPr>
          <p:nvPr>
            <p:ph idx="1"/>
          </p:nvPr>
        </p:nvSpPr>
        <p:spPr>
          <a:xfrm>
            <a:off x="1981200" y="1066800"/>
            <a:ext cx="8686800" cy="5791200"/>
          </a:xfrm>
        </p:spPr>
        <p:txBody>
          <a:bodyPr>
            <a:normAutofit/>
          </a:bodyPr>
          <a:lstStyle/>
          <a:p>
            <a:pPr marL="0" indent="0">
              <a:buNone/>
            </a:pPr>
            <a:r>
              <a:rPr lang="en-US" b="1" dirty="0" smtClean="0"/>
              <a:t>Nursing Diagnoses</a:t>
            </a:r>
          </a:p>
          <a:p>
            <a:r>
              <a:rPr lang="en-US" dirty="0" smtClean="0"/>
              <a:t>Decreased cardiac output related to altered contractility, altered preload and altered stroke volume as evidenced by jugular vein distension, </a:t>
            </a:r>
            <a:r>
              <a:rPr lang="en-US" dirty="0" err="1" smtClean="0"/>
              <a:t>orthopnoea</a:t>
            </a:r>
            <a:r>
              <a:rPr lang="en-US" dirty="0" smtClean="0"/>
              <a:t>, S3, S4</a:t>
            </a:r>
          </a:p>
          <a:p>
            <a:r>
              <a:rPr lang="en-US" dirty="0" smtClean="0"/>
              <a:t>Impaired gas exchange related to increased preload and alveolar capillary membrane changes AEB dyspnoea, tachypnoea, restlessness, </a:t>
            </a:r>
            <a:r>
              <a:rPr lang="en-US" dirty="0" err="1" smtClean="0"/>
              <a:t>verbalisation</a:t>
            </a:r>
            <a:r>
              <a:rPr lang="en-US" dirty="0" smtClean="0"/>
              <a:t> , “am short of breath”</a:t>
            </a:r>
          </a:p>
          <a:p>
            <a:pPr>
              <a:buFont typeface="Wingdings" pitchFamily="2" charset="2"/>
              <a:buChar char="§"/>
            </a:pPr>
            <a:endParaRPr lang="en-US" dirty="0"/>
          </a:p>
        </p:txBody>
      </p:sp>
    </p:spTree>
    <p:extLst>
      <p:ext uri="{BB962C8B-B14F-4D97-AF65-F5344CB8AC3E}">
        <p14:creationId xmlns:p14="http://schemas.microsoft.com/office/powerpoint/2010/main" val="224649931"/>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a:bodyPr>
          <a:lstStyle/>
          <a:p>
            <a:r>
              <a:rPr lang="en-US" dirty="0" smtClean="0"/>
              <a:t>Excess fluid volume related to increased venous pressure and decreased renal perfusion secondary to HF AEB edema, rapid weight gain, </a:t>
            </a:r>
            <a:r>
              <a:rPr lang="en-US" dirty="0" err="1" smtClean="0"/>
              <a:t>oliguria</a:t>
            </a:r>
            <a:r>
              <a:rPr lang="en-US" dirty="0" smtClean="0"/>
              <a:t>. </a:t>
            </a:r>
          </a:p>
          <a:p>
            <a:r>
              <a:rPr lang="en-US" dirty="0" smtClean="0"/>
              <a:t>Activity intolerance related to fatigue secondary to cardiac insufficiency and pulmonary congestion</a:t>
            </a:r>
          </a:p>
          <a:p>
            <a:r>
              <a:rPr lang="en-US" dirty="0" smtClean="0"/>
              <a:t>Deficient knowledge: low sodium diet related to lack of information about disease process</a:t>
            </a:r>
          </a:p>
          <a:p>
            <a:endParaRPr lang="en-US" dirty="0"/>
          </a:p>
        </p:txBody>
      </p:sp>
    </p:spTree>
    <p:extLst>
      <p:ext uri="{BB962C8B-B14F-4D97-AF65-F5344CB8AC3E}">
        <p14:creationId xmlns:p14="http://schemas.microsoft.com/office/powerpoint/2010/main" val="3714414090"/>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Expected client outcomes</a:t>
            </a:r>
            <a:endParaRPr lang="en-US" dirty="0"/>
          </a:p>
        </p:txBody>
      </p:sp>
      <p:sp>
        <p:nvSpPr>
          <p:cNvPr id="3" name="Content Placeholder 2"/>
          <p:cNvSpPr>
            <a:spLocks noGrp="1"/>
          </p:cNvSpPr>
          <p:nvPr>
            <p:ph idx="1"/>
          </p:nvPr>
        </p:nvSpPr>
        <p:spPr>
          <a:xfrm>
            <a:off x="1981200" y="1600200"/>
            <a:ext cx="8686800" cy="5257800"/>
          </a:xfrm>
        </p:spPr>
        <p:txBody>
          <a:bodyPr/>
          <a:lstStyle/>
          <a:p>
            <a:r>
              <a:rPr lang="en-US" dirty="0" smtClean="0"/>
              <a:t>The client will:</a:t>
            </a:r>
          </a:p>
          <a:p>
            <a:pPr>
              <a:buFont typeface="Wingdings" pitchFamily="2" charset="2"/>
              <a:buChar char="ü"/>
            </a:pPr>
            <a:r>
              <a:rPr lang="en-US" dirty="0" smtClean="0"/>
              <a:t>Maintain haemodynamic stability</a:t>
            </a:r>
          </a:p>
          <a:p>
            <a:pPr>
              <a:buFont typeface="Wingdings" pitchFamily="2" charset="2"/>
              <a:buChar char="ü"/>
            </a:pPr>
            <a:r>
              <a:rPr lang="en-US" dirty="0" smtClean="0"/>
              <a:t>Maintain cardiac output</a:t>
            </a:r>
          </a:p>
          <a:p>
            <a:pPr>
              <a:buFont typeface="Wingdings" pitchFamily="2" charset="2"/>
              <a:buChar char="ü"/>
            </a:pPr>
            <a:r>
              <a:rPr lang="en-US" dirty="0" smtClean="0"/>
              <a:t>Carry out activities of daily living without excess fatigue or decreased energy</a:t>
            </a:r>
          </a:p>
          <a:p>
            <a:pPr>
              <a:buFont typeface="Wingdings" pitchFamily="2" charset="2"/>
              <a:buChar char="ü"/>
            </a:pPr>
            <a:r>
              <a:rPr lang="en-US" dirty="0" smtClean="0"/>
              <a:t>Maintain adequate ventilation</a:t>
            </a:r>
          </a:p>
          <a:p>
            <a:pPr>
              <a:buFont typeface="Wingdings" pitchFamily="2" charset="2"/>
              <a:buChar char="ü"/>
            </a:pPr>
            <a:r>
              <a:rPr lang="en-US" dirty="0" smtClean="0"/>
              <a:t>Maintain adequate fluid balance</a:t>
            </a:r>
          </a:p>
          <a:p>
            <a:pPr>
              <a:buFont typeface="Wingdings" pitchFamily="2" charset="2"/>
              <a:buChar char="ü"/>
            </a:pPr>
            <a:endParaRPr lang="en-US" dirty="0"/>
          </a:p>
        </p:txBody>
      </p:sp>
    </p:spTree>
    <p:extLst>
      <p:ext uri="{BB962C8B-B14F-4D97-AF65-F5344CB8AC3E}">
        <p14:creationId xmlns:p14="http://schemas.microsoft.com/office/powerpoint/2010/main" val="387749202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Nursing interventions</a:t>
            </a:r>
            <a:endParaRPr lang="en-US" dirty="0"/>
          </a:p>
        </p:txBody>
      </p:sp>
      <p:sp>
        <p:nvSpPr>
          <p:cNvPr id="3" name="Content Placeholder 2"/>
          <p:cNvSpPr>
            <a:spLocks noGrp="1"/>
          </p:cNvSpPr>
          <p:nvPr>
            <p:ph idx="1"/>
          </p:nvPr>
        </p:nvSpPr>
        <p:spPr>
          <a:xfrm>
            <a:off x="1981200" y="1143000"/>
            <a:ext cx="8686800" cy="5867400"/>
          </a:xfrm>
        </p:spPr>
        <p:txBody>
          <a:bodyPr>
            <a:normAutofit/>
          </a:bodyPr>
          <a:lstStyle/>
          <a:p>
            <a:r>
              <a:rPr lang="en-US" dirty="0" smtClean="0"/>
              <a:t>Place patient in Fowler’s position</a:t>
            </a:r>
          </a:p>
          <a:p>
            <a:r>
              <a:rPr lang="en-US" dirty="0" smtClean="0"/>
              <a:t>Give supplemental oxygen</a:t>
            </a:r>
          </a:p>
          <a:p>
            <a:r>
              <a:rPr lang="en-US" dirty="0" smtClean="0"/>
              <a:t>Provide continuous cardiac monitoring during acute and advanced stages</a:t>
            </a:r>
          </a:p>
          <a:p>
            <a:r>
              <a:rPr lang="en-US" dirty="0" smtClean="0"/>
              <a:t>Assist the patient with range-of-motion exercises</a:t>
            </a:r>
          </a:p>
          <a:p>
            <a:r>
              <a:rPr lang="en-US" dirty="0" smtClean="0"/>
              <a:t>Apply </a:t>
            </a:r>
            <a:r>
              <a:rPr lang="en-US" dirty="0" err="1" smtClean="0"/>
              <a:t>antiembolism</a:t>
            </a:r>
            <a:r>
              <a:rPr lang="en-US" dirty="0" smtClean="0"/>
              <a:t> stockings</a:t>
            </a:r>
          </a:p>
          <a:p>
            <a:r>
              <a:rPr lang="en-US" dirty="0" smtClean="0"/>
              <a:t>Check for calf pain and tenderness</a:t>
            </a:r>
          </a:p>
          <a:p>
            <a:r>
              <a:rPr lang="en-US" dirty="0" smtClean="0"/>
              <a:t>Administer prescribed drugs</a:t>
            </a:r>
          </a:p>
          <a:p>
            <a:r>
              <a:rPr lang="en-US" dirty="0" smtClean="0"/>
              <a:t>Provide emotional support</a:t>
            </a:r>
          </a:p>
          <a:p>
            <a:endParaRPr lang="en-US" dirty="0"/>
          </a:p>
        </p:txBody>
      </p:sp>
    </p:spTree>
    <p:extLst>
      <p:ext uri="{BB962C8B-B14F-4D97-AF65-F5344CB8AC3E}">
        <p14:creationId xmlns:p14="http://schemas.microsoft.com/office/powerpoint/2010/main" val="116870496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Monitor closely for the following:</a:t>
            </a:r>
            <a:endParaRPr lang="en-US" dirty="0"/>
          </a:p>
        </p:txBody>
      </p:sp>
      <p:sp>
        <p:nvSpPr>
          <p:cNvPr id="3" name="Content Placeholder 2"/>
          <p:cNvSpPr>
            <a:spLocks noGrp="1"/>
          </p:cNvSpPr>
          <p:nvPr>
            <p:ph idx="1"/>
          </p:nvPr>
        </p:nvSpPr>
        <p:spPr>
          <a:xfrm>
            <a:off x="1981200" y="1219200"/>
            <a:ext cx="8686800" cy="5638800"/>
          </a:xfrm>
        </p:spPr>
        <p:txBody>
          <a:bodyPr>
            <a:normAutofit/>
          </a:bodyPr>
          <a:lstStyle/>
          <a:p>
            <a:r>
              <a:rPr lang="en-US" dirty="0" smtClean="0"/>
              <a:t>Daily weight for peripheral oedema and other signs and symptoms of fluid overload</a:t>
            </a:r>
          </a:p>
          <a:p>
            <a:r>
              <a:rPr lang="en-US" dirty="0" smtClean="0"/>
              <a:t>Cardiac rhythm</a:t>
            </a:r>
          </a:p>
          <a:p>
            <a:r>
              <a:rPr lang="en-US" dirty="0" smtClean="0"/>
              <a:t>Intake and output</a:t>
            </a:r>
          </a:p>
          <a:p>
            <a:r>
              <a:rPr lang="en-US" dirty="0" smtClean="0"/>
              <a:t>Response to treatment</a:t>
            </a:r>
          </a:p>
          <a:p>
            <a:r>
              <a:rPr lang="en-US" dirty="0" smtClean="0"/>
              <a:t>Vital signs: TPR and BP and report to physician any deviation</a:t>
            </a:r>
          </a:p>
          <a:p>
            <a:r>
              <a:rPr lang="en-US" dirty="0" smtClean="0"/>
              <a:t>Mental status</a:t>
            </a:r>
          </a:p>
          <a:p>
            <a:r>
              <a:rPr lang="en-US" dirty="0" smtClean="0"/>
              <a:t>Peripheral oedema</a:t>
            </a:r>
          </a:p>
          <a:p>
            <a:endParaRPr lang="en-US" dirty="0"/>
          </a:p>
        </p:txBody>
      </p:sp>
    </p:spTree>
    <p:extLst>
      <p:ext uri="{BB962C8B-B14F-4D97-AF65-F5344CB8AC3E}">
        <p14:creationId xmlns:p14="http://schemas.microsoft.com/office/powerpoint/2010/main" val="144388089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monitoring</a:t>
            </a:r>
            <a:endParaRPr lang="en-US" dirty="0"/>
          </a:p>
        </p:txBody>
      </p:sp>
      <p:sp>
        <p:nvSpPr>
          <p:cNvPr id="3" name="Content Placeholder 2"/>
          <p:cNvSpPr>
            <a:spLocks noGrp="1"/>
          </p:cNvSpPr>
          <p:nvPr>
            <p:ph idx="1"/>
          </p:nvPr>
        </p:nvSpPr>
        <p:spPr>
          <a:xfrm>
            <a:off x="1981200" y="1600200"/>
            <a:ext cx="8686800" cy="5257800"/>
          </a:xfrm>
        </p:spPr>
        <p:txBody>
          <a:bodyPr/>
          <a:lstStyle/>
          <a:p>
            <a:r>
              <a:rPr lang="en-US" dirty="0" smtClean="0"/>
              <a:t>Auscultate for abnormal heart beat and breath sounds, report any changes immediately</a:t>
            </a:r>
          </a:p>
          <a:p>
            <a:r>
              <a:rPr lang="en-US" dirty="0" smtClean="0"/>
              <a:t>Blood urea and nitrogen and serum creatinine, potassium, sodium, and magnesium levels</a:t>
            </a:r>
          </a:p>
          <a:p>
            <a:r>
              <a:rPr lang="en-US" dirty="0" smtClean="0"/>
              <a:t>Prothrombin time</a:t>
            </a:r>
            <a:endParaRPr lang="en-US" dirty="0"/>
          </a:p>
        </p:txBody>
      </p:sp>
    </p:spTree>
    <p:extLst>
      <p:ext uri="{BB962C8B-B14F-4D97-AF65-F5344CB8AC3E}">
        <p14:creationId xmlns:p14="http://schemas.microsoft.com/office/powerpoint/2010/main" val="153983612"/>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Patient Teachings</a:t>
            </a:r>
            <a:endParaRPr lang="en-US" dirty="0"/>
          </a:p>
        </p:txBody>
      </p:sp>
      <p:sp>
        <p:nvSpPr>
          <p:cNvPr id="3" name="Content Placeholder 2"/>
          <p:cNvSpPr>
            <a:spLocks noGrp="1"/>
          </p:cNvSpPr>
          <p:nvPr>
            <p:ph idx="1"/>
          </p:nvPr>
        </p:nvSpPr>
        <p:spPr>
          <a:xfrm>
            <a:off x="1981200" y="1447800"/>
            <a:ext cx="8686800" cy="5638800"/>
          </a:xfrm>
        </p:spPr>
        <p:txBody>
          <a:bodyPr/>
          <a:lstStyle/>
          <a:p>
            <a:r>
              <a:rPr lang="en-US" dirty="0" smtClean="0"/>
              <a:t>You must the following patient teachings:</a:t>
            </a:r>
          </a:p>
          <a:p>
            <a:pPr>
              <a:buFont typeface="Wingdings" pitchFamily="2" charset="2"/>
              <a:buChar char="ü"/>
            </a:pPr>
            <a:r>
              <a:rPr lang="en-US" dirty="0" smtClean="0"/>
              <a:t>Heart failure disorder, diagnosis and treatment</a:t>
            </a:r>
          </a:p>
          <a:p>
            <a:pPr>
              <a:buFont typeface="Wingdings" pitchFamily="2" charset="2"/>
              <a:buChar char="ü"/>
            </a:pPr>
            <a:r>
              <a:rPr lang="en-US" dirty="0" smtClean="0"/>
              <a:t>Signs and symptoms of worsening heart failure</a:t>
            </a:r>
          </a:p>
          <a:p>
            <a:pPr>
              <a:buFont typeface="Wingdings" pitchFamily="2" charset="2"/>
              <a:buChar char="ü"/>
            </a:pPr>
            <a:r>
              <a:rPr lang="en-US" dirty="0" smtClean="0"/>
              <a:t>When to notify the physician</a:t>
            </a:r>
          </a:p>
          <a:p>
            <a:pPr>
              <a:buFont typeface="Wingdings" pitchFamily="2" charset="2"/>
              <a:buChar char="ü"/>
            </a:pPr>
            <a:r>
              <a:rPr lang="en-US" dirty="0" smtClean="0"/>
              <a:t>The importance of follow up-care</a:t>
            </a:r>
          </a:p>
          <a:p>
            <a:pPr>
              <a:buFont typeface="Wingdings" pitchFamily="2" charset="2"/>
              <a:buChar char="ü"/>
            </a:pPr>
            <a:r>
              <a:rPr lang="en-US" dirty="0" smtClean="0"/>
              <a:t>The need to avoid high-sodium foods </a:t>
            </a:r>
          </a:p>
          <a:p>
            <a:pPr>
              <a:buFont typeface="Wingdings" pitchFamily="2" charset="2"/>
              <a:buChar char="ü"/>
            </a:pPr>
            <a:r>
              <a:rPr lang="en-US" dirty="0" smtClean="0"/>
              <a:t>The need to avoid fatigue</a:t>
            </a:r>
          </a:p>
          <a:p>
            <a:pPr>
              <a:buFont typeface="Wingdings" pitchFamily="2" charset="2"/>
              <a:buChar char="ü"/>
            </a:pPr>
            <a:r>
              <a:rPr lang="en-US" dirty="0" smtClean="0"/>
              <a:t>Instructions about fluid restrictions</a:t>
            </a:r>
            <a:endParaRPr lang="en-US" dirty="0"/>
          </a:p>
        </p:txBody>
      </p:sp>
    </p:spTree>
    <p:extLst>
      <p:ext uri="{BB962C8B-B14F-4D97-AF65-F5344CB8AC3E}">
        <p14:creationId xmlns:p14="http://schemas.microsoft.com/office/powerpoint/2010/main" val="836423099"/>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Patient teaching</a:t>
            </a:r>
            <a:endParaRPr lang="en-US" dirty="0"/>
          </a:p>
        </p:txBody>
      </p:sp>
      <p:sp>
        <p:nvSpPr>
          <p:cNvPr id="3" name="Content Placeholder 2"/>
          <p:cNvSpPr>
            <a:spLocks noGrp="1"/>
          </p:cNvSpPr>
          <p:nvPr>
            <p:ph idx="1"/>
          </p:nvPr>
        </p:nvSpPr>
        <p:spPr>
          <a:xfrm>
            <a:off x="1981200" y="1600200"/>
            <a:ext cx="8686800" cy="5257800"/>
          </a:xfrm>
        </p:spPr>
        <p:txBody>
          <a:bodyPr>
            <a:normAutofit/>
          </a:bodyPr>
          <a:lstStyle/>
          <a:p>
            <a:pPr>
              <a:buFont typeface="Wingdings" pitchFamily="2" charset="2"/>
              <a:buChar char="ü"/>
            </a:pPr>
            <a:r>
              <a:rPr lang="en-US" dirty="0" smtClean="0"/>
              <a:t>The need to take weight every morning, at the same time, before eating, and after urinating, keeping record of this weight, and reporting weight gain of 1.5 to 2.5 kg in a week</a:t>
            </a:r>
          </a:p>
          <a:p>
            <a:pPr>
              <a:buFont typeface="Wingdings" pitchFamily="2" charset="2"/>
              <a:buChar char="ü"/>
            </a:pPr>
            <a:r>
              <a:rPr lang="en-US" dirty="0" smtClean="0"/>
              <a:t>The importance of smoking cessation, if appropriate</a:t>
            </a:r>
          </a:p>
          <a:p>
            <a:pPr>
              <a:buFont typeface="Wingdings" pitchFamily="2" charset="2"/>
              <a:buChar char="ü"/>
            </a:pPr>
            <a:r>
              <a:rPr lang="en-US" dirty="0" smtClean="0"/>
              <a:t>Diet education to include low sodium and low cholesterol diet intake</a:t>
            </a:r>
          </a:p>
          <a:p>
            <a:pPr>
              <a:buFont typeface="Wingdings" pitchFamily="2" charset="2"/>
              <a:buChar char="ü"/>
            </a:pPr>
            <a:r>
              <a:rPr lang="en-US" dirty="0" smtClean="0"/>
              <a:t>Weight reduction as needed for optimal wt management </a:t>
            </a:r>
          </a:p>
          <a:p>
            <a:pPr>
              <a:buFont typeface="Wingdings" pitchFamily="2" charset="2"/>
              <a:buChar char="ü"/>
            </a:pPr>
            <a:r>
              <a:rPr lang="en-US" dirty="0" smtClean="0"/>
              <a:t>Medication administration, dosage, possible adverse effects, and monitoring needs</a:t>
            </a:r>
            <a:endParaRPr lang="en-US" dirty="0"/>
          </a:p>
        </p:txBody>
      </p:sp>
    </p:spTree>
    <p:extLst>
      <p:ext uri="{BB962C8B-B14F-4D97-AF65-F5344CB8AC3E}">
        <p14:creationId xmlns:p14="http://schemas.microsoft.com/office/powerpoint/2010/main" val="139641450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Discharge planning</a:t>
            </a:r>
            <a:endParaRPr lang="en-US" dirty="0"/>
          </a:p>
        </p:txBody>
      </p:sp>
      <p:sp>
        <p:nvSpPr>
          <p:cNvPr id="3" name="Content Placeholder 2"/>
          <p:cNvSpPr>
            <a:spLocks noGrp="1"/>
          </p:cNvSpPr>
          <p:nvPr>
            <p:ph idx="1"/>
          </p:nvPr>
        </p:nvSpPr>
        <p:spPr/>
        <p:txBody>
          <a:bodyPr/>
          <a:lstStyle/>
          <a:p>
            <a:r>
              <a:rPr lang="en-US" dirty="0" smtClean="0"/>
              <a:t>Encourage client to attend for follow-ups</a:t>
            </a:r>
          </a:p>
          <a:p>
            <a:r>
              <a:rPr lang="en-US" dirty="0" smtClean="0"/>
              <a:t>Refer the client to a smoking-cessation program, if appropriate</a:t>
            </a:r>
            <a:endParaRPr lang="en-US" dirty="0"/>
          </a:p>
        </p:txBody>
      </p:sp>
    </p:spTree>
    <p:extLst>
      <p:ext uri="{BB962C8B-B14F-4D97-AF65-F5344CB8AC3E}">
        <p14:creationId xmlns:p14="http://schemas.microsoft.com/office/powerpoint/2010/main" val="1610279105"/>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2371</Words>
  <Application>Microsoft Office PowerPoint</Application>
  <PresentationFormat>Widescreen</PresentationFormat>
  <Paragraphs>293</Paragraphs>
  <Slides>42</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Arial</vt:lpstr>
      <vt:lpstr>Calibri</vt:lpstr>
      <vt:lpstr>Calibri Light</vt:lpstr>
      <vt:lpstr>Courier New</vt:lpstr>
      <vt:lpstr>Wingdings</vt:lpstr>
      <vt:lpstr>Office Theme</vt:lpstr>
      <vt:lpstr>HEART FAILURE</vt:lpstr>
      <vt:lpstr>PowerPoint Presentation</vt:lpstr>
      <vt:lpstr>PowerPoint Presentation</vt:lpstr>
      <vt:lpstr>Pathophysiology</vt:lpstr>
      <vt:lpstr>Pathophysiology</vt:lpstr>
      <vt:lpstr>Systolic or diastolic failure</vt:lpstr>
      <vt:lpstr>PowerPoint Presentation</vt:lpstr>
      <vt:lpstr>PowerPoint Presentation</vt:lpstr>
      <vt:lpstr>PowerPoint Presentation</vt:lpstr>
      <vt:lpstr>Pathophysiology of Compensatory mechanism leading to heart failure</vt:lpstr>
      <vt:lpstr>pathophysiology</vt:lpstr>
      <vt:lpstr>pathophysiology</vt:lpstr>
      <vt:lpstr>pathophysiology</vt:lpstr>
      <vt:lpstr>pathophysiology</vt:lpstr>
      <vt:lpstr>causes</vt:lpstr>
      <vt:lpstr>causes</vt:lpstr>
      <vt:lpstr>Incidence </vt:lpstr>
      <vt:lpstr>Classification heart disease by New York Heart Association</vt:lpstr>
      <vt:lpstr>Classification cont.</vt:lpstr>
      <vt:lpstr>complications</vt:lpstr>
      <vt:lpstr>Complications cont.</vt:lpstr>
      <vt:lpstr>Diagnostic assessments</vt:lpstr>
      <vt:lpstr>PowerPoint Presentation</vt:lpstr>
      <vt:lpstr>Physical exam findings</vt:lpstr>
      <vt:lpstr>Physical findings cont.</vt:lpstr>
      <vt:lpstr>PowerPoint Presentation</vt:lpstr>
      <vt:lpstr> Imaging results</vt:lpstr>
      <vt:lpstr> Diagnostic procedures</vt:lpstr>
      <vt:lpstr>Management </vt:lpstr>
      <vt:lpstr>Medications </vt:lpstr>
      <vt:lpstr>PowerPoint Presentation</vt:lpstr>
      <vt:lpstr>PowerPoint Presentation</vt:lpstr>
      <vt:lpstr>Surgical intervention </vt:lpstr>
      <vt:lpstr>Nursing management</vt:lpstr>
      <vt:lpstr>PowerPoint Presentation</vt:lpstr>
      <vt:lpstr>Expected client outcomes</vt:lpstr>
      <vt:lpstr>Nursing interventions</vt:lpstr>
      <vt:lpstr>Monitor closely for the following:</vt:lpstr>
      <vt:lpstr>monitoring</vt:lpstr>
      <vt:lpstr>Patient Teachings</vt:lpstr>
      <vt:lpstr>Patient teaching</vt:lpstr>
      <vt:lpstr>Discharge planning</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Clare Manana</dc:creator>
  <cp:lastModifiedBy>Clare Manana</cp:lastModifiedBy>
  <cp:revision>2</cp:revision>
  <dcterms:created xsi:type="dcterms:W3CDTF">2018-05-26T08:40:55Z</dcterms:created>
  <dcterms:modified xsi:type="dcterms:W3CDTF">2018-05-26T08:41:25Z</dcterms:modified>
</cp:coreProperties>
</file>