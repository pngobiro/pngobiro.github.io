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1956" y="-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9E7E4-8915-41FA-AB7B-4592482D9FD5}" type="datetimeFigureOut">
              <a:rPr lang="en-US" smtClean="0"/>
              <a:pPr/>
              <a:t>8/1/2021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4529F-37D9-4379-B132-108C404421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Musculoskeletal pain syndrome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 </a:t>
            </a:r>
            <a:r>
              <a:rPr lang="en-US" dirty="0" err="1" smtClean="0"/>
              <a:t>Gwer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Musculoskeletal pain syndrome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/>
          <a:lstStyle/>
          <a:p>
            <a:r>
              <a:rPr lang="en-US" dirty="0" smtClean="0"/>
              <a:t>Poorly localized pain in the extremities that is excessively </a:t>
            </a:r>
            <a:r>
              <a:rPr lang="en-US" dirty="0" err="1" smtClean="0"/>
              <a:t>dysproportionate</a:t>
            </a:r>
            <a:r>
              <a:rPr lang="en-US" dirty="0" smtClean="0"/>
              <a:t> to the lab and physical findings</a:t>
            </a:r>
          </a:p>
          <a:p>
            <a:r>
              <a:rPr lang="en-US" dirty="0" smtClean="0"/>
              <a:t>May develop in children with underlying rheumatic  disease or post-trauma</a:t>
            </a:r>
          </a:p>
          <a:p>
            <a:r>
              <a:rPr lang="en-US" dirty="0" smtClean="0"/>
              <a:t>It is associated with sleep disorders, chronic fatigue and poor school attendance, depression with normal clinical findings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Musculoskeletal pain syndrome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diagnosis is to exclude  other diseases via various tests depending on the presentation</a:t>
            </a:r>
          </a:p>
          <a:p>
            <a:r>
              <a:rPr lang="en-US" dirty="0" smtClean="0"/>
              <a:t>Treatment involves getting to the bottom of the underlying psychiatric disorder , behavioral therapy, exercise and judicious analgesia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manifestations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History of pain but no tenderness on clinical exam</a:t>
            </a:r>
          </a:p>
          <a:p>
            <a:r>
              <a:rPr lang="en-US" dirty="0" smtClean="0"/>
              <a:t>Inconsistency of the details</a:t>
            </a:r>
          </a:p>
          <a:p>
            <a:r>
              <a:rPr lang="en-US" dirty="0" smtClean="0"/>
              <a:t>Pain varies from place to place</a:t>
            </a:r>
          </a:p>
          <a:p>
            <a:r>
              <a:rPr lang="en-US" dirty="0" smtClean="0"/>
              <a:t>Poor response to NSAIDs and other analgesics</a:t>
            </a:r>
          </a:p>
          <a:p>
            <a:r>
              <a:rPr lang="en-US" dirty="0" smtClean="0"/>
              <a:t>Fatigue , sleep disorders poor school attendance</a:t>
            </a:r>
          </a:p>
          <a:p>
            <a:r>
              <a:rPr lang="en-US" dirty="0" smtClean="0"/>
              <a:t>Depressed moods </a:t>
            </a:r>
          </a:p>
          <a:p>
            <a:r>
              <a:rPr lang="en-US" dirty="0" smtClean="0"/>
              <a:t>Laboratory findings non specific 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 and Treatment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a diagnosis of exclusion depending on presentation </a:t>
            </a:r>
          </a:p>
          <a:p>
            <a:r>
              <a:rPr lang="en-US" dirty="0" smtClean="0"/>
              <a:t>Treatment involves identification of underlying psychiatric or psychological problem</a:t>
            </a:r>
          </a:p>
          <a:p>
            <a:r>
              <a:rPr lang="en-US" dirty="0" smtClean="0"/>
              <a:t>Emotional support, fitness program, anti depressants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Fibromyalgia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Is an MSPS with multiple discrete tender points and sleep disturbance.</a:t>
            </a:r>
          </a:p>
          <a:p>
            <a:r>
              <a:rPr lang="en-US" dirty="0" smtClean="0"/>
              <a:t>Affects children and adolescents</a:t>
            </a:r>
          </a:p>
          <a:p>
            <a:r>
              <a:rPr lang="en-US" dirty="0" smtClean="0"/>
              <a:t>Pain affected by activity, anxiety, stress and weather </a:t>
            </a:r>
          </a:p>
          <a:p>
            <a:r>
              <a:rPr lang="en-US" dirty="0" smtClean="0"/>
              <a:t>The feature is widespread musculoskeletal pain with multiple tender points and other features- fatigue, </a:t>
            </a:r>
            <a:r>
              <a:rPr lang="en-US" dirty="0" err="1" smtClean="0"/>
              <a:t>arthralgia</a:t>
            </a:r>
            <a:r>
              <a:rPr lang="en-US" dirty="0" smtClean="0"/>
              <a:t>, joint stiffness, skin tenderness,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Fibromyalgia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Post-</a:t>
            </a:r>
            <a:r>
              <a:rPr lang="en-US" dirty="0" err="1" smtClean="0"/>
              <a:t>exertional</a:t>
            </a:r>
            <a:r>
              <a:rPr lang="en-US" dirty="0" smtClean="0"/>
              <a:t> </a:t>
            </a:r>
            <a:r>
              <a:rPr lang="en-US" dirty="0" smtClean="0"/>
              <a:t>pains , irritable bowel, poor memory, tension headaches, dizziness, restless legs, fluid retention, </a:t>
            </a:r>
            <a:r>
              <a:rPr lang="en-US" dirty="0" err="1" smtClean="0"/>
              <a:t>Raynauds</a:t>
            </a:r>
            <a:r>
              <a:rPr lang="en-US" dirty="0" smtClean="0"/>
              <a:t>, </a:t>
            </a:r>
            <a:r>
              <a:rPr lang="en-US" dirty="0" err="1" smtClean="0"/>
              <a:t>paraesthesia</a:t>
            </a:r>
            <a:r>
              <a:rPr lang="en-US" dirty="0" smtClean="0"/>
              <a:t>, </a:t>
            </a:r>
          </a:p>
          <a:p>
            <a:r>
              <a:rPr lang="en-US" dirty="0" smtClean="0"/>
              <a:t>It affects quality of life and performance of given tasks </a:t>
            </a:r>
          </a:p>
          <a:p>
            <a:r>
              <a:rPr lang="en-US" dirty="0" smtClean="0"/>
              <a:t>It is thought that the pain results from changes to the central nervous system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Fibromyalgia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neurochemical</a:t>
            </a:r>
            <a:r>
              <a:rPr lang="en-US" dirty="0" smtClean="0"/>
              <a:t> pathology causes the body to become </a:t>
            </a:r>
            <a:r>
              <a:rPr lang="en-US" dirty="0" err="1" smtClean="0"/>
              <a:t>sensitised</a:t>
            </a:r>
            <a:r>
              <a:rPr lang="en-US" dirty="0" smtClean="0"/>
              <a:t> so that pain is experienced even on mild touch or pressure</a:t>
            </a:r>
          </a:p>
          <a:p>
            <a:r>
              <a:rPr lang="en-US" dirty="0" smtClean="0"/>
              <a:t>This pain is affected by the psychiatric/ psychological state of the patient</a:t>
            </a:r>
          </a:p>
          <a:p>
            <a:r>
              <a:rPr lang="en-US" dirty="0" smtClean="0"/>
              <a:t>This condition  grouped together with other Central sensitivity syndromes (CSS) like migraine, irritable bowel syndrome, restless leg syndrome , primary </a:t>
            </a:r>
            <a:r>
              <a:rPr lang="en-US" dirty="0" err="1" smtClean="0"/>
              <a:t>dysmenorrhea</a:t>
            </a:r>
            <a:r>
              <a:rPr lang="en-US" dirty="0" smtClean="0"/>
              <a:t> etc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Fibromyalgia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Pain at well defined tender points on thumb point palpation – </a:t>
            </a:r>
            <a:r>
              <a:rPr lang="en-US" dirty="0" err="1" smtClean="0"/>
              <a:t>occiput</a:t>
            </a:r>
            <a:r>
              <a:rPr lang="en-US" dirty="0" smtClean="0"/>
              <a:t>, low cervical , </a:t>
            </a:r>
            <a:r>
              <a:rPr lang="en-US" dirty="0" err="1" smtClean="0"/>
              <a:t>trapezius</a:t>
            </a:r>
            <a:r>
              <a:rPr lang="en-US" dirty="0" smtClean="0"/>
              <a:t>, </a:t>
            </a:r>
            <a:r>
              <a:rPr lang="en-US" dirty="0" err="1" smtClean="0"/>
              <a:t>supraspinatus</a:t>
            </a:r>
            <a:r>
              <a:rPr lang="en-US" dirty="0" smtClean="0"/>
              <a:t>, 2</a:t>
            </a:r>
            <a:r>
              <a:rPr lang="en-US" baseline="30000" dirty="0" smtClean="0"/>
              <a:t>nd</a:t>
            </a:r>
            <a:r>
              <a:rPr lang="en-US" dirty="0" smtClean="0"/>
              <a:t> rib, lat </a:t>
            </a:r>
            <a:r>
              <a:rPr lang="en-US" dirty="0" err="1" smtClean="0"/>
              <a:t>epicondyle</a:t>
            </a:r>
            <a:r>
              <a:rPr lang="en-US" dirty="0" smtClean="0"/>
              <a:t> of </a:t>
            </a:r>
            <a:r>
              <a:rPr lang="en-US" dirty="0" err="1" smtClean="0"/>
              <a:t>humerus</a:t>
            </a:r>
            <a:r>
              <a:rPr lang="en-US" dirty="0" smtClean="0"/>
              <a:t>, </a:t>
            </a:r>
            <a:r>
              <a:rPr lang="en-US" dirty="0" err="1" smtClean="0"/>
              <a:t>gluteal</a:t>
            </a:r>
            <a:r>
              <a:rPr lang="en-US" dirty="0" smtClean="0"/>
              <a:t>, greater </a:t>
            </a:r>
            <a:r>
              <a:rPr lang="en-US" dirty="0" err="1" smtClean="0"/>
              <a:t>trochanter</a:t>
            </a:r>
            <a:r>
              <a:rPr lang="en-US" dirty="0" smtClean="0"/>
              <a:t>, knee, </a:t>
            </a:r>
          </a:p>
          <a:p>
            <a:r>
              <a:rPr lang="en-US" dirty="0" smtClean="0"/>
              <a:t>On palpation there is pain but features of inflammation </a:t>
            </a:r>
            <a:r>
              <a:rPr lang="en-US" dirty="0" err="1" smtClean="0"/>
              <a:t>eg</a:t>
            </a:r>
            <a:r>
              <a:rPr lang="en-US" dirty="0" smtClean="0"/>
              <a:t> heat, swelling and redness absent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Fibromyalgia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lab and imaging tests are normal</a:t>
            </a:r>
          </a:p>
          <a:p>
            <a:r>
              <a:rPr lang="en-US" dirty="0" smtClean="0"/>
              <a:t>The treatment approach is multi-disciplinary </a:t>
            </a:r>
          </a:p>
          <a:p>
            <a:r>
              <a:rPr lang="en-US" dirty="0" smtClean="0"/>
              <a:t>Goals: reduce pain and depression and improve sleep and physical activity</a:t>
            </a:r>
          </a:p>
          <a:p>
            <a:r>
              <a:rPr lang="en-US" dirty="0" smtClean="0"/>
              <a:t>Pharmacological approach: include muscle relaxants, </a:t>
            </a:r>
            <a:r>
              <a:rPr lang="en-US" dirty="0" err="1" smtClean="0"/>
              <a:t>tricyclic</a:t>
            </a:r>
            <a:r>
              <a:rPr lang="en-US" dirty="0" smtClean="0"/>
              <a:t> anti depressants, SSRIs, usually in combination with NSAIDs and non addictive analgesics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Fibromyalgia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Exercise/activity/ physiotherapy - nonimpact aerobic activity improves fitness and CVS health</a:t>
            </a:r>
          </a:p>
          <a:p>
            <a:r>
              <a:rPr lang="en-US" dirty="0" smtClean="0"/>
              <a:t>Psychotherapy – reduces levels of anxiety and depression and improves well being </a:t>
            </a:r>
          </a:p>
          <a:p>
            <a:r>
              <a:rPr lang="en-US" dirty="0" smtClean="0"/>
              <a:t>Patient support- child and family support is important </a:t>
            </a:r>
          </a:p>
          <a:p>
            <a:r>
              <a:rPr lang="en-US" dirty="0" smtClean="0"/>
              <a:t>Others-hypnotherapy , TENS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Complex regional pain syndrome (reflex sympathetic dystrophy) (CRPS)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condition of unknown cause </a:t>
            </a:r>
            <a:r>
              <a:rPr lang="en-US" dirty="0" err="1" smtClean="0"/>
              <a:t>characterised</a:t>
            </a:r>
            <a:r>
              <a:rPr lang="en-US" dirty="0" smtClean="0"/>
              <a:t> by diffuse limb pain with </a:t>
            </a:r>
            <a:r>
              <a:rPr lang="en-US" dirty="0" err="1" smtClean="0"/>
              <a:t>colour</a:t>
            </a:r>
            <a:r>
              <a:rPr lang="en-US" dirty="0" smtClean="0"/>
              <a:t> and temperature changes resulting from autonomic nervous dysfunction</a:t>
            </a:r>
          </a:p>
          <a:p>
            <a:r>
              <a:rPr lang="en-US" dirty="0" smtClean="0"/>
              <a:t>CRPS type I require causation by an initiating noxious event </a:t>
            </a:r>
            <a:r>
              <a:rPr lang="en-US" dirty="0" err="1" smtClean="0"/>
              <a:t>eg</a:t>
            </a:r>
            <a:r>
              <a:rPr lang="en-US" dirty="0" smtClean="0"/>
              <a:t> crush, soft tissue injury or tight cast</a:t>
            </a:r>
          </a:p>
          <a:p>
            <a:r>
              <a:rPr lang="en-US" dirty="0" smtClean="0"/>
              <a:t>CRPS type II is </a:t>
            </a:r>
            <a:r>
              <a:rPr lang="en-US" dirty="0" err="1" smtClean="0"/>
              <a:t>characterised</a:t>
            </a:r>
            <a:r>
              <a:rPr lang="en-US" dirty="0" smtClean="0"/>
              <a:t> by presence of a defined nerve injury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both cases there is pain, </a:t>
            </a:r>
            <a:r>
              <a:rPr lang="en-US" dirty="0" err="1" smtClean="0"/>
              <a:t>allodynia</a:t>
            </a:r>
            <a:r>
              <a:rPr lang="en-US" dirty="0" smtClean="0"/>
              <a:t> or </a:t>
            </a:r>
            <a:r>
              <a:rPr lang="en-US" dirty="0" err="1" smtClean="0"/>
              <a:t>hyperalgesia</a:t>
            </a:r>
            <a:r>
              <a:rPr lang="en-US" dirty="0" smtClean="0"/>
              <a:t> that is </a:t>
            </a:r>
            <a:r>
              <a:rPr lang="en-US" dirty="0" err="1" smtClean="0"/>
              <a:t>dysproportionate</a:t>
            </a:r>
            <a:r>
              <a:rPr lang="en-US" dirty="0" smtClean="0"/>
              <a:t> to the initiating event</a:t>
            </a:r>
          </a:p>
          <a:p>
            <a:r>
              <a:rPr lang="en-US" dirty="0" smtClean="0"/>
              <a:t>In the course of the syndrome there is edema, skin blood flow changes revealed by </a:t>
            </a:r>
            <a:r>
              <a:rPr lang="en-US" dirty="0" err="1" smtClean="0"/>
              <a:t>colour</a:t>
            </a:r>
            <a:r>
              <a:rPr lang="en-US" dirty="0" smtClean="0"/>
              <a:t> changes and skin temperature changes of &gt;1.1 degrees </a:t>
            </a:r>
            <a:r>
              <a:rPr lang="en-US" dirty="0" err="1" smtClean="0"/>
              <a:t>celcius</a:t>
            </a:r>
            <a:r>
              <a:rPr lang="en-US" dirty="0" smtClean="0"/>
              <a:t> from homologous part of the body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Thought to result from persistence of noxious stimuli from an injured part leading to peripheral and central </a:t>
            </a:r>
            <a:r>
              <a:rPr lang="en-US" dirty="0" err="1" smtClean="0"/>
              <a:t>sensitisation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Primary afferent </a:t>
            </a:r>
            <a:r>
              <a:rPr lang="en-US" dirty="0" err="1" smtClean="0"/>
              <a:t>nociceptive</a:t>
            </a:r>
            <a:r>
              <a:rPr lang="en-US" dirty="0" smtClean="0"/>
              <a:t> mechanisms demonstrate abnormally heightened sensation with spontaneous pain and </a:t>
            </a:r>
            <a:r>
              <a:rPr lang="en-US" dirty="0" err="1" smtClean="0"/>
              <a:t>hyperalgesia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diagnostic tests identify CRPS</a:t>
            </a:r>
          </a:p>
          <a:p>
            <a:r>
              <a:rPr lang="en-US" dirty="0" smtClean="0"/>
              <a:t>Type I symptoms often begin immediately –weeks after an injury usually in a distal extremity. Usually one limb involved but rarely multiple</a:t>
            </a:r>
          </a:p>
          <a:p>
            <a:r>
              <a:rPr lang="en-US" dirty="0" smtClean="0"/>
              <a:t>They have spontaneous pain, difficulty in using affected limb, neglect-like symptoms, altered skin temperature, rapid </a:t>
            </a:r>
            <a:r>
              <a:rPr lang="en-US" dirty="0" err="1" smtClean="0"/>
              <a:t>fatiguability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Physical exams – impaired motor functions, limited range of movement, </a:t>
            </a:r>
            <a:r>
              <a:rPr lang="en-US" dirty="0" err="1" smtClean="0"/>
              <a:t>dystonia</a:t>
            </a:r>
            <a:r>
              <a:rPr lang="en-US" dirty="0" smtClean="0"/>
              <a:t>, </a:t>
            </a:r>
            <a:r>
              <a:rPr lang="en-US" dirty="0" err="1" smtClean="0"/>
              <a:t>musclespasms</a:t>
            </a:r>
            <a:r>
              <a:rPr lang="en-US" dirty="0" smtClean="0"/>
              <a:t>, hypoesthesia, </a:t>
            </a:r>
            <a:r>
              <a:rPr lang="en-US" dirty="0" err="1" smtClean="0"/>
              <a:t>allodynia</a:t>
            </a:r>
            <a:r>
              <a:rPr lang="en-US" dirty="0" smtClean="0"/>
              <a:t>, anesthesia dolorosa, abnormal sweating, edema, altered skin </a:t>
            </a:r>
            <a:r>
              <a:rPr lang="en-US" dirty="0" err="1" smtClean="0"/>
              <a:t>colour</a:t>
            </a:r>
            <a:r>
              <a:rPr lang="en-US" dirty="0" smtClean="0"/>
              <a:t> and temperature, atrophy, </a:t>
            </a:r>
            <a:r>
              <a:rPr lang="en-US" dirty="0" err="1" smtClean="0"/>
              <a:t>hypotrichosis</a:t>
            </a:r>
            <a:r>
              <a:rPr lang="en-US" dirty="0" smtClean="0"/>
              <a:t> and altered nail growth 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Blood tests usually normal </a:t>
            </a:r>
          </a:p>
          <a:p>
            <a:r>
              <a:rPr lang="en-US" dirty="0" smtClean="0"/>
              <a:t>EMG and NCS may reveal presence of nerve injury, CRPS II, or rule out other </a:t>
            </a:r>
            <a:r>
              <a:rPr lang="en-US" dirty="0" err="1" smtClean="0"/>
              <a:t>DDx</a:t>
            </a:r>
            <a:endParaRPr lang="en-US" dirty="0" smtClean="0"/>
          </a:p>
          <a:p>
            <a:r>
              <a:rPr lang="en-US" dirty="0" smtClean="0"/>
              <a:t>Vascular studies considered </a:t>
            </a:r>
          </a:p>
          <a:p>
            <a:r>
              <a:rPr lang="en-US" dirty="0" smtClean="0"/>
              <a:t>Muscle and nerve biopsies may show decrease in type 1 </a:t>
            </a:r>
            <a:r>
              <a:rPr lang="en-US" dirty="0" err="1" smtClean="0"/>
              <a:t>fibres</a:t>
            </a:r>
            <a:r>
              <a:rPr lang="en-US" dirty="0" smtClean="0"/>
              <a:t>, increased </a:t>
            </a:r>
            <a:r>
              <a:rPr lang="en-US" dirty="0" err="1" smtClean="0"/>
              <a:t>lipofucsin</a:t>
            </a:r>
            <a:r>
              <a:rPr lang="en-US" dirty="0" smtClean="0"/>
              <a:t>, </a:t>
            </a:r>
            <a:r>
              <a:rPr lang="en-US" dirty="0" err="1" smtClean="0"/>
              <a:t>fibre</a:t>
            </a:r>
            <a:r>
              <a:rPr lang="en-US" dirty="0" smtClean="0"/>
              <a:t> atrophy, abnormal afferent nerve </a:t>
            </a:r>
            <a:r>
              <a:rPr lang="en-US" dirty="0" err="1" smtClean="0"/>
              <a:t>fibres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Pharmacological treatment: </a:t>
            </a:r>
          </a:p>
          <a:p>
            <a:r>
              <a:rPr lang="en-US" dirty="0" smtClean="0"/>
              <a:t>Corticosteroids[ beneficial in short term but not so useful in chronic management</a:t>
            </a:r>
          </a:p>
          <a:p>
            <a:r>
              <a:rPr lang="en-US" dirty="0" smtClean="0"/>
              <a:t>Calcium regulating drugs: </a:t>
            </a:r>
            <a:r>
              <a:rPr lang="en-US" dirty="0" err="1" smtClean="0"/>
              <a:t>calcitonin</a:t>
            </a:r>
            <a:r>
              <a:rPr lang="en-US" dirty="0" smtClean="0"/>
              <a:t>, </a:t>
            </a:r>
            <a:r>
              <a:rPr lang="en-US" dirty="0" err="1" smtClean="0"/>
              <a:t>clodronate</a:t>
            </a:r>
            <a:r>
              <a:rPr lang="en-US" dirty="0" smtClean="0"/>
              <a:t> and </a:t>
            </a:r>
            <a:r>
              <a:rPr lang="en-US" dirty="0" err="1" smtClean="0"/>
              <a:t>aledronate</a:t>
            </a:r>
            <a:r>
              <a:rPr lang="en-US" dirty="0" smtClean="0"/>
              <a:t> have reduced pain, swelling, movement</a:t>
            </a:r>
          </a:p>
          <a:p>
            <a:r>
              <a:rPr lang="en-US" dirty="0" err="1" smtClean="0"/>
              <a:t>Opioids</a:t>
            </a:r>
            <a:r>
              <a:rPr lang="en-US" dirty="0" smtClean="0"/>
              <a:t>: role not clear but usually prescribed </a:t>
            </a:r>
          </a:p>
          <a:p>
            <a:r>
              <a:rPr lang="en-US" dirty="0" smtClean="0"/>
              <a:t>NSAIDs; not been investigated for it but may be used in mild pain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Sodium channel blockers: IV </a:t>
            </a:r>
            <a:r>
              <a:rPr lang="en-US" dirty="0" err="1" smtClean="0"/>
              <a:t>lignocaine</a:t>
            </a:r>
            <a:r>
              <a:rPr lang="en-US" dirty="0" smtClean="0"/>
              <a:t> effective in CRPS; </a:t>
            </a:r>
            <a:r>
              <a:rPr lang="en-US" dirty="0" err="1" smtClean="0"/>
              <a:t>mexiletine</a:t>
            </a:r>
            <a:r>
              <a:rPr lang="en-US" dirty="0" smtClean="0"/>
              <a:t> has shown benefit in some cases</a:t>
            </a:r>
          </a:p>
          <a:p>
            <a:r>
              <a:rPr lang="en-US" dirty="0" smtClean="0"/>
              <a:t>GABA agonists: </a:t>
            </a:r>
            <a:r>
              <a:rPr lang="en-US" dirty="0" err="1" smtClean="0"/>
              <a:t>intrathecal</a:t>
            </a:r>
            <a:r>
              <a:rPr lang="en-US" dirty="0" smtClean="0"/>
              <a:t> </a:t>
            </a:r>
            <a:r>
              <a:rPr lang="en-US" dirty="0" err="1" smtClean="0"/>
              <a:t>baclofen</a:t>
            </a:r>
            <a:r>
              <a:rPr lang="en-US" dirty="0" smtClean="0"/>
              <a:t> effective for CRPS</a:t>
            </a:r>
          </a:p>
          <a:p>
            <a:r>
              <a:rPr lang="en-US" dirty="0" smtClean="0"/>
              <a:t>Others : </a:t>
            </a:r>
            <a:r>
              <a:rPr lang="en-US" dirty="0" err="1" smtClean="0"/>
              <a:t>gabapentin</a:t>
            </a:r>
            <a:r>
              <a:rPr lang="en-US" dirty="0" smtClean="0"/>
              <a:t>, CCBs, beta </a:t>
            </a:r>
            <a:r>
              <a:rPr lang="en-US" dirty="0" err="1" smtClean="0"/>
              <a:t>blockers,clonidine</a:t>
            </a:r>
            <a:r>
              <a:rPr lang="en-US" dirty="0" smtClean="0"/>
              <a:t> oral </a:t>
            </a:r>
            <a:r>
              <a:rPr lang="en-US" dirty="0" err="1" smtClean="0"/>
              <a:t>sympathlytics</a:t>
            </a:r>
            <a:endParaRPr lang="en-US" dirty="0" smtClean="0"/>
          </a:p>
          <a:p>
            <a:r>
              <a:rPr lang="en-US" dirty="0" smtClean="0"/>
              <a:t>Interventional procedures: LA injections, regional blocks, surgical </a:t>
            </a:r>
            <a:r>
              <a:rPr lang="en-US" dirty="0" err="1" smtClean="0"/>
              <a:t>sympathectomy</a:t>
            </a:r>
            <a:r>
              <a:rPr lang="en-US" dirty="0" smtClean="0"/>
              <a:t>  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Erythromelagia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condition </a:t>
            </a:r>
            <a:r>
              <a:rPr lang="en-US" dirty="0" err="1" smtClean="0"/>
              <a:t>characterised</a:t>
            </a:r>
            <a:r>
              <a:rPr lang="en-US" dirty="0" smtClean="0"/>
              <a:t> by burning pain, warmth and redness of extremities </a:t>
            </a:r>
          </a:p>
          <a:p>
            <a:r>
              <a:rPr lang="en-US" dirty="0" err="1" smtClean="0"/>
              <a:t>Pathophysiology</a:t>
            </a:r>
            <a:r>
              <a:rPr lang="en-US" dirty="0" smtClean="0"/>
              <a:t> may be associated with </a:t>
            </a:r>
            <a:r>
              <a:rPr lang="en-US" dirty="0" err="1" smtClean="0"/>
              <a:t>thrombocythemia</a:t>
            </a:r>
            <a:r>
              <a:rPr lang="en-US" dirty="0" smtClean="0"/>
              <a:t> with arteriolar fibrosis/</a:t>
            </a:r>
            <a:r>
              <a:rPr lang="en-US" dirty="0" err="1" smtClean="0"/>
              <a:t>occlussion</a:t>
            </a:r>
            <a:r>
              <a:rPr lang="en-US" dirty="0" smtClean="0"/>
              <a:t> by platelet thrombi</a:t>
            </a:r>
          </a:p>
          <a:p>
            <a:r>
              <a:rPr lang="en-US" dirty="0" smtClean="0"/>
              <a:t>Secondary </a:t>
            </a:r>
            <a:r>
              <a:rPr lang="en-US" dirty="0" err="1" smtClean="0"/>
              <a:t>erythromelagia</a:t>
            </a:r>
            <a:r>
              <a:rPr lang="en-US" dirty="0" smtClean="0"/>
              <a:t> can occur after infections, medications, MPDs, </a:t>
            </a:r>
            <a:r>
              <a:rPr lang="en-US" smtClean="0"/>
              <a:t>mushroom poisoning 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Erythromelagia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Begins with an itch  which progresses to more severe burning pain </a:t>
            </a:r>
          </a:p>
          <a:p>
            <a:r>
              <a:rPr lang="en-US" dirty="0" smtClean="0"/>
              <a:t>The classical triad is redness, pain and warmth in the extremities brought by warming or dependency and relieved by cooling </a:t>
            </a:r>
          </a:p>
          <a:p>
            <a:r>
              <a:rPr lang="en-US" dirty="0" smtClean="0"/>
              <a:t>Episodes may last from minutes to days and may also involve ears, face , genitals </a:t>
            </a:r>
          </a:p>
          <a:p>
            <a:r>
              <a:rPr lang="en-US" dirty="0" smtClean="0"/>
              <a:t>During episodes the affected extremity is warm, tender, appears dusky red or mottled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Erythromelagia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periphera;l</a:t>
            </a:r>
            <a:r>
              <a:rPr lang="en-US" dirty="0" smtClean="0"/>
              <a:t> pulses may be bounding with </a:t>
            </a:r>
            <a:r>
              <a:rPr lang="en-US" dirty="0" err="1" smtClean="0"/>
              <a:t>acrocyanosis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Rarely may progress to necrosis of digits, ischemic ulcers with secondary infection</a:t>
            </a:r>
          </a:p>
          <a:p>
            <a:r>
              <a:rPr lang="en-US" dirty="0" smtClean="0"/>
              <a:t>Check for </a:t>
            </a:r>
            <a:r>
              <a:rPr lang="en-US" dirty="0" err="1" smtClean="0"/>
              <a:t>splenomegaly</a:t>
            </a:r>
            <a:r>
              <a:rPr lang="en-US" dirty="0" smtClean="0"/>
              <a:t> and </a:t>
            </a:r>
            <a:r>
              <a:rPr lang="en-US" dirty="0" err="1" smtClean="0"/>
              <a:t>lymphadenopathy</a:t>
            </a:r>
            <a:r>
              <a:rPr lang="en-US" dirty="0" smtClean="0"/>
              <a:t> as secondary </a:t>
            </a:r>
            <a:r>
              <a:rPr lang="en-US" dirty="0" err="1" smtClean="0"/>
              <a:t>erythromelagia</a:t>
            </a:r>
            <a:r>
              <a:rPr lang="en-US" dirty="0" smtClean="0"/>
              <a:t> associated with MPD may occur.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Erythromelagia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CBC important to detect MPD</a:t>
            </a:r>
          </a:p>
          <a:p>
            <a:r>
              <a:rPr lang="en-US" dirty="0" smtClean="0"/>
              <a:t>Imaging studies are non-specific</a:t>
            </a:r>
          </a:p>
          <a:p>
            <a:r>
              <a:rPr lang="en-US" dirty="0" err="1" smtClean="0"/>
              <a:t>Thermography</a:t>
            </a:r>
            <a:r>
              <a:rPr lang="en-US" dirty="0" smtClean="0"/>
              <a:t> reveals elevated skin </a:t>
            </a:r>
            <a:r>
              <a:rPr lang="en-US" dirty="0" err="1" smtClean="0"/>
              <a:t>temparature</a:t>
            </a:r>
            <a:r>
              <a:rPr lang="en-US" dirty="0" smtClean="0"/>
              <a:t> of affected areas</a:t>
            </a:r>
          </a:p>
          <a:p>
            <a:r>
              <a:rPr lang="en-US" dirty="0" smtClean="0"/>
              <a:t>Skin biopsy useful 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Erythromelagia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Cool and elevate the limb </a:t>
            </a:r>
          </a:p>
          <a:p>
            <a:r>
              <a:rPr lang="en-US" dirty="0" smtClean="0"/>
              <a:t>Pharmacology ; many therapies tried- aspirin, sodium channel blockers, CCBs, TCA, SSRI, </a:t>
            </a:r>
            <a:r>
              <a:rPr lang="en-US" dirty="0" err="1" smtClean="0"/>
              <a:t>gabapentin</a:t>
            </a:r>
            <a:r>
              <a:rPr lang="en-US" dirty="0" smtClean="0"/>
              <a:t>, anti histamines, </a:t>
            </a:r>
            <a:r>
              <a:rPr lang="en-US" dirty="0" err="1" smtClean="0"/>
              <a:t>immunosuppresants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1029</Words>
  <Application>Microsoft Office PowerPoint</Application>
  <PresentationFormat>On-screen Show (4:3)</PresentationFormat>
  <Paragraphs>100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Musculoskeletal pain syndrome</vt:lpstr>
      <vt:lpstr>Musculoskeletal pain syndrome  </vt:lpstr>
      <vt:lpstr>Musculoskeletal pain syndrome </vt:lpstr>
      <vt:lpstr>Clinical manifestations </vt:lpstr>
      <vt:lpstr>Diagnosis and Treatment </vt:lpstr>
      <vt:lpstr>Fibromyalgia </vt:lpstr>
      <vt:lpstr>Fibromyalgia</vt:lpstr>
      <vt:lpstr>Fibromyalgia</vt:lpstr>
      <vt:lpstr>Fibromyalgia</vt:lpstr>
      <vt:lpstr>Fibromyalgia </vt:lpstr>
      <vt:lpstr>Fibromyalgia</vt:lpstr>
      <vt:lpstr>Complex regional pain syndrome (reflex sympathetic dystrophy) (CRPS)</vt:lpstr>
      <vt:lpstr>CRPS</vt:lpstr>
      <vt:lpstr>CRPS</vt:lpstr>
      <vt:lpstr>CRPS</vt:lpstr>
      <vt:lpstr>CRPS</vt:lpstr>
      <vt:lpstr>CRPS</vt:lpstr>
      <vt:lpstr>CRPS</vt:lpstr>
      <vt:lpstr>CRPS</vt:lpstr>
      <vt:lpstr>Erythromelagia </vt:lpstr>
      <vt:lpstr>Erythromelagia</vt:lpstr>
      <vt:lpstr>Erythromelagia</vt:lpstr>
      <vt:lpstr>Erythromelagia</vt:lpstr>
      <vt:lpstr>Erythromelagia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Muskuloskeletal pain syndromes</dc:title>
  <dc:creator>Gladys Mbai</dc:creator>
  <cp:lastModifiedBy>Gladys Mbai</cp:lastModifiedBy>
  <cp:revision>22</cp:revision>
  <dcterms:created xsi:type="dcterms:W3CDTF">2018-11-30T15:26:14Z</dcterms:created>
  <dcterms:modified xsi:type="dcterms:W3CDTF">2021-08-01T15:52:24Z</dcterms:modified>
</cp:coreProperties>
</file>