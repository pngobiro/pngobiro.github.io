
<file path=[Content_Types].xml><?xml version="1.0" encoding="utf-8"?>
<Types xmlns="http://schemas.openxmlformats.org/package/2006/content-types">
  <Default Extension="rels" ContentType="application/vnd.openxmlformats-package.relationships+xml"/>
  <Default Extension="xml" ContentType="application/xml"/>
  <Default Extension="gif" ContentType="image/gi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theme/theme4.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6" r:id="rId1"/>
    <p:sldMasterId id="2147483667" r:id="rId2"/>
  </p:sldMasterIdLst>
  <p:notesMasterIdLst>
    <p:notesMasterId r:id="rId3"/>
  </p:notesMasterIdLst>
  <p:handoutMasterIdLst>
    <p:handoutMasterId r:id="rId4"/>
  </p:handoutMasterIdLst>
  <p:sldIdLst>
    <p:sldId id="313" r:id="rId5"/>
    <p:sldId id="314"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 id="347" r:id="rId39"/>
    <p:sldId id="348"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361" r:id="rId53"/>
    <p:sldId id="362" r:id="rId54"/>
    <p:sldId id="363" r:id="rId55"/>
    <p:sldId id="364" r:id="rId56"/>
    <p:sldId id="365" r:id="rId57"/>
    <p:sldId id="366" r:id="rId58"/>
    <p:sldId id="367" r:id="rId59"/>
    <p:sldId id="368" r:id="rId60"/>
    <p:sldId id="369" r:id="rId61"/>
    <p:sldId id="370" r:id="rId62"/>
    <p:sldId id="371" r:id="rId63"/>
    <p:sldId id="372" r:id="rId64"/>
    <p:sldId id="373" r:id="rId65"/>
    <p:sldId id="374" r:id="rId66"/>
    <p:sldId id="375" r:id="rId67"/>
    <p:sldId id="376" r:id="rId68"/>
    <p:sldId id="377" r:id="rId69"/>
    <p:sldId id="378" r:id="rId70"/>
    <p:sldId id="379" r:id="rId71"/>
    <p:sldId id="380" r:id="rId72"/>
    <p:sldId id="381" r:id="rId73"/>
    <p:sldId id="382" r:id="rId74"/>
    <p:sldId id="383" r:id="rId75"/>
    <p:sldId id="384" r:id="rId76"/>
    <p:sldId id="385" r:id="rId77"/>
    <p:sldId id="386" r:id="rId78"/>
    <p:sldId id="387" r:id="rId79"/>
    <p:sldId id="388" r:id="rId80"/>
    <p:sldId id="389" r:id="rId81"/>
    <p:sldId id="390" r:id="rId82"/>
    <p:sldId id="391" r:id="rId83"/>
    <p:sldId id="392" r:id="rId84"/>
    <p:sldId id="393" r:id="rId85"/>
    <p:sldId id="394" r:id="rId86"/>
    <p:sldId id="395" r:id="rId87"/>
    <p:sldId id="396" r:id="rId88"/>
    <p:sldId id="397" r:id="rId89"/>
    <p:sldId id="398" r:id="rId90"/>
    <p:sldId id="399" r:id="rId91"/>
    <p:sldId id="400" r:id="rId92"/>
    <p:sldId id="401" r:id="rId93"/>
    <p:sldId id="402" r:id="rId94"/>
    <p:sldId id="403" r:id="rId95"/>
    <p:sldId id="404" r:id="rId96"/>
    <p:sldId id="405" r:id="rId97"/>
    <p:sldId id="406" r:id="rId98"/>
    <p:sldId id="407" r:id="rId99"/>
    <p:sldId id="408" r:id="rId100"/>
    <p:sldId id="409" r:id="rId101"/>
    <p:sldId id="410" r:id="rId102"/>
    <p:sldId id="411" r:id="rId103"/>
    <p:sldId id="412" r:id="rId104"/>
    <p:sldId id="413" r:id="rId105"/>
    <p:sldId id="414" r:id="rId106"/>
    <p:sldId id="415" r:id="rId107"/>
    <p:sldId id="416" r:id="rId108"/>
    <p:sldId id="417" r:id="rId109"/>
    <p:sldId id="418" r:id="rId110"/>
    <p:sldId id="419" r:id="rId111"/>
    <p:sldId id="420" r:id="rId112"/>
    <p:sldId id="421" r:id="rId113"/>
    <p:sldId id="422" r:id="rId114"/>
    <p:sldId id="423" r:id="rId115"/>
    <p:sldId id="424" r:id="rId116"/>
    <p:sldId id="425" r:id="rId117"/>
    <p:sldId id="426" r:id="rId118"/>
    <p:sldId id="427" r:id="rId119"/>
    <p:sldId id="428" r:id="rId120"/>
    <p:sldId id="429" r:id="rId121"/>
    <p:sldId id="430" r:id="rId122"/>
    <p:sldId id="431" r:id="rId123"/>
    <p:sldId id="432" r:id="rId124"/>
    <p:sldId id="433" r:id="rId125"/>
    <p:sldId id="434" r:id="rId126"/>
    <p:sldId id="435" r:id="rId127"/>
    <p:sldId id="436" r:id="rId128"/>
    <p:sldId id="437" r:id="rId129"/>
    <p:sldId id="438" r:id="rId130"/>
    <p:sldId id="439" r:id="rId131"/>
    <p:sldId id="440" r:id="rId132"/>
    <p:sldId id="441" r:id="rId133"/>
    <p:sldId id="442" r:id="rId134"/>
    <p:sldId id="443" r:id="rId135"/>
    <p:sldId id="444" r:id="rId136"/>
    <p:sldId id="445" r:id="rId137"/>
    <p:sldId id="446" r:id="rId138"/>
    <p:sldId id="447" r:id="rId139"/>
    <p:sldId id="448" r:id="rId140"/>
    <p:sldId id="449" r:id="rId141"/>
    <p:sldId id="450" r:id="rId142"/>
    <p:sldId id="451" r:id="rId143"/>
    <p:sldId id="452" r:id="rId144"/>
    <p:sldId id="453" r:id="rId145"/>
    <p:sldId id="454" r:id="rId146"/>
    <p:sldId id="455" r:id="rId147"/>
    <p:sldId id="456" r:id="rId148"/>
    <p:sldId id="457" r:id="rId149"/>
    <p:sldId id="458" r:id="rId150"/>
    <p:sldId id="459" r:id="rId151"/>
    <p:sldId id="460" r:id="rId152"/>
    <p:sldId id="461" r:id="rId153"/>
    <p:sldId id="462" r:id="rId154"/>
    <p:sldId id="463" r:id="rId155"/>
    <p:sldId id="464" r:id="rId156"/>
    <p:sldId id="465" r:id="rId157"/>
    <p:sldId id="466" r:id="rId158"/>
    <p:sldId id="467" r:id="rId159"/>
    <p:sldId id="468" r:id="rId160"/>
    <p:sldId id="469" r:id="rId161"/>
    <p:sldId id="470" r:id="rId162"/>
    <p:sldId id="471" r:id="rId163"/>
    <p:sldId id="472" r:id="rId164"/>
    <p:sldId id="473" r:id="rId165"/>
    <p:sldId id="474" r:id="rId166"/>
    <p:sldId id="475" r:id="rId167"/>
    <p:sldId id="476" r:id="rId168"/>
    <p:sldId id="477" r:id="rId169"/>
    <p:sldId id="478" r:id="rId170"/>
    <p:sldId id="479" r:id="rId171"/>
    <p:sldId id="480" r:id="rId172"/>
    <p:sldId id="481" r:id="rId173"/>
    <p:sldId id="482" r:id="rId174"/>
    <p:sldId id="483" r:id="rId175"/>
    <p:sldId id="484" r:id="rId176"/>
    <p:sldId id="485" r:id="rId177"/>
    <p:sldId id="486" r:id="rId178"/>
    <p:sldId id="487" r:id="rId179"/>
    <p:sldId id="488" r:id="rId180"/>
    <p:sldId id="489" r:id="rId181"/>
    <p:sldId id="490" r:id="rId182"/>
    <p:sldId id="491" r:id="rId183"/>
    <p:sldId id="492" r:id="rId184"/>
    <p:sldId id="493" r:id="rId185"/>
    <p:sldId id="494" r:id="rId186"/>
    <p:sldId id="495" r:id="rId187"/>
    <p:sldId id="496" r:id="rId188"/>
    <p:sldId id="497" r:id="rId189"/>
    <p:sldId id="498" r:id="rId190"/>
    <p:sldId id="499" r:id="rId191"/>
    <p:sldId id="500" r:id="rId192"/>
    <p:sldId id="501" r:id="rId193"/>
    <p:sldId id="502" r:id="rId194"/>
    <p:sldId id="503" r:id="rId195"/>
    <p:sldId id="504" r:id="rId196"/>
  </p:sldIdLst>
  <p:sldSz type="screen4x3" cy="6858000" cx="9144000"/>
  <p:notesSz cx="7010400" cy="92964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2918"/>
    </p:cViewPr>
  </p:sorter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tableStyles" Target="tableStyles.xml"/><Relationship Id="rId198" Type="http://schemas.openxmlformats.org/officeDocument/2006/relationships/presProps" Target="presProps.xml"/><Relationship Id="rId199" Type="http://schemas.openxmlformats.org/officeDocument/2006/relationships/viewProps" Target="viewProps.xml"/><Relationship Id="rId20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437" name=""/>
        <p:cNvGrpSpPr/>
        <p:nvPr/>
      </p:nvGrpSpPr>
      <p:grpSpPr>
        <a:xfrm>
          <a:off x="0" y="0"/>
          <a:ext cx="0" cy="0"/>
          <a:chOff x="0" y="0"/>
          <a:chExt cx="0" cy="0"/>
        </a:xfrm>
      </p:grpSpPr>
      <p:sp>
        <p:nvSpPr>
          <p:cNvPr id="1049094" name="Header Placeholder 1"/>
          <p:cNvSpPr>
            <a:spLocks noGrp="1"/>
          </p:cNvSpPr>
          <p:nvPr>
            <p:ph type="hdr" sz="quarter"/>
          </p:nvPr>
        </p:nvSpPr>
        <p:spPr>
          <a:xfrm>
            <a:off x="0" y="0"/>
            <a:ext cx="3037840" cy="464820"/>
          </a:xfrm>
          <a:prstGeom prst="rect"/>
        </p:spPr>
        <p:txBody>
          <a:bodyPr bIns="46589" lIns="93177" rIns="93177" rtlCol="0" tIns="46589" vert="horz"/>
          <a:lstStyle>
            <a:lvl1pPr algn="l">
              <a:defRPr sz="1200"/>
            </a:lvl1pPr>
          </a:lstStyle>
          <a:p>
            <a:endParaRPr lang="en-US"/>
          </a:p>
        </p:txBody>
      </p:sp>
      <p:sp>
        <p:nvSpPr>
          <p:cNvPr id="1049095" name="Date Placeholder 2"/>
          <p:cNvSpPr>
            <a:spLocks noGrp="1"/>
          </p:cNvSpPr>
          <p:nvPr>
            <p:ph type="dt" sz="quarter" idx="1"/>
          </p:nvPr>
        </p:nvSpPr>
        <p:spPr>
          <a:xfrm>
            <a:off x="3970938" y="0"/>
            <a:ext cx="3037840" cy="464820"/>
          </a:xfrm>
          <a:prstGeom prst="rect"/>
        </p:spPr>
        <p:txBody>
          <a:bodyPr bIns="46589" lIns="93177" rIns="93177" rtlCol="0" tIns="46589" vert="horz"/>
          <a:lstStyle>
            <a:lvl1pPr algn="r">
              <a:defRPr sz="1200"/>
            </a:lvl1pPr>
          </a:lstStyle>
          <a:p>
            <a:fld id="{BD487633-7B97-4D1C-A538-806F55C098F3}" type="datetimeFigureOut">
              <a:rPr lang="en-US" smtClean="0"/>
              <a:t>2/10/2016</a:t>
            </a:fld>
            <a:endParaRPr lang="en-US"/>
          </a:p>
        </p:txBody>
      </p:sp>
      <p:sp>
        <p:nvSpPr>
          <p:cNvPr id="1049096" name="Footer Placeholder 3"/>
          <p:cNvSpPr>
            <a:spLocks noGrp="1"/>
          </p:cNvSpPr>
          <p:nvPr>
            <p:ph type="ftr" sz="quarter" idx="2"/>
          </p:nvPr>
        </p:nvSpPr>
        <p:spPr>
          <a:xfrm>
            <a:off x="0" y="8829967"/>
            <a:ext cx="3037840" cy="464820"/>
          </a:xfrm>
          <a:prstGeom prst="rect"/>
        </p:spPr>
        <p:txBody>
          <a:bodyPr anchor="b" bIns="46589" lIns="93177" rIns="93177" rtlCol="0" tIns="46589" vert="horz"/>
          <a:lstStyle>
            <a:lvl1pPr algn="l">
              <a:defRPr sz="1200"/>
            </a:lvl1pPr>
          </a:lstStyle>
          <a:p>
            <a:endParaRPr lang="en-US"/>
          </a:p>
        </p:txBody>
      </p:sp>
      <p:sp>
        <p:nvSpPr>
          <p:cNvPr id="1049097" name="Slide Number Placeholder 4"/>
          <p:cNvSpPr>
            <a:spLocks noGrp="1"/>
          </p:cNvSpPr>
          <p:nvPr>
            <p:ph type="sldNum" sz="quarter" idx="3"/>
          </p:nvPr>
        </p:nvSpPr>
        <p:spPr>
          <a:xfrm>
            <a:off x="3970938" y="8829967"/>
            <a:ext cx="3037840" cy="464820"/>
          </a:xfrm>
          <a:prstGeom prst="rect"/>
        </p:spPr>
        <p:txBody>
          <a:bodyPr anchor="b" bIns="46589" lIns="93177" rIns="93177" rtlCol="0" tIns="46589" vert="horz"/>
          <a:lstStyle>
            <a:lvl1pPr algn="r">
              <a:defRPr sz="1200"/>
            </a:lvl1pPr>
          </a:lstStyle>
          <a:p>
            <a:fld id="{098B416D-DBB4-42BB-B6D0-906F3F8B2454}" type="slidenum">
              <a:rPr lang="en-US" smtClean="0"/>
              <a:t>‹#›</a:t>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36" name=""/>
        <p:cNvGrpSpPr/>
        <p:nvPr/>
      </p:nvGrpSpPr>
      <p:grpSpPr>
        <a:xfrm>
          <a:off x="0" y="0"/>
          <a:ext cx="0" cy="0"/>
          <a:chOff x="0" y="0"/>
          <a:chExt cx="0" cy="0"/>
        </a:xfrm>
      </p:grpSpPr>
      <p:sp>
        <p:nvSpPr>
          <p:cNvPr id="1049088" name="Header Placeholder 1"/>
          <p:cNvSpPr>
            <a:spLocks noGrp="1"/>
          </p:cNvSpPr>
          <p:nvPr>
            <p:ph type="hdr" sz="quarter"/>
          </p:nvPr>
        </p:nvSpPr>
        <p:spPr>
          <a:xfrm>
            <a:off x="0" y="0"/>
            <a:ext cx="3037840" cy="464820"/>
          </a:xfrm>
          <a:prstGeom prst="rect"/>
        </p:spPr>
        <p:txBody>
          <a:bodyPr bIns="46589" lIns="93177" rIns="93177" rtlCol="0" tIns="46589" vert="horz"/>
          <a:lstStyle>
            <a:lvl1pPr algn="l">
              <a:defRPr sz="1200"/>
            </a:lvl1pPr>
          </a:lstStyle>
          <a:p>
            <a:endParaRPr lang="en-US"/>
          </a:p>
        </p:txBody>
      </p:sp>
      <p:sp>
        <p:nvSpPr>
          <p:cNvPr id="1049089" name="Date Placeholder 2"/>
          <p:cNvSpPr>
            <a:spLocks noGrp="1"/>
          </p:cNvSpPr>
          <p:nvPr>
            <p:ph type="dt" idx="1"/>
          </p:nvPr>
        </p:nvSpPr>
        <p:spPr>
          <a:xfrm>
            <a:off x="3970938" y="0"/>
            <a:ext cx="3037840" cy="464820"/>
          </a:xfrm>
          <a:prstGeom prst="rect"/>
        </p:spPr>
        <p:txBody>
          <a:bodyPr bIns="46589" lIns="93177" rIns="93177" rtlCol="0" tIns="46589" vert="horz"/>
          <a:lstStyle>
            <a:lvl1pPr algn="r">
              <a:defRPr sz="1200"/>
            </a:lvl1pPr>
          </a:lstStyle>
          <a:p>
            <a:fld id="{6A1F77E1-7B9F-427A-94C8-5BE371D8F9D3}" type="datetimeFigureOut">
              <a:rPr lang="en-US" smtClean="0"/>
              <a:t>2/10/2016</a:t>
            </a:fld>
            <a:endParaRPr lang="en-US"/>
          </a:p>
        </p:txBody>
      </p:sp>
      <p:sp>
        <p:nvSpPr>
          <p:cNvPr id="1049090" name="Slide Image Placeholder 3"/>
          <p:cNvSpPr>
            <a:spLocks noChangeAspect="1" noRot="1" noGrp="1"/>
          </p:cNvSpPr>
          <p:nvPr>
            <p:ph type="sldImg" idx="2"/>
          </p:nvPr>
        </p:nvSpPr>
        <p:spPr>
          <a:xfrm>
            <a:off x="1181100" y="696913"/>
            <a:ext cx="4648200" cy="3486150"/>
          </a:xfrm>
          <a:prstGeom prst="rect"/>
          <a:noFill/>
          <a:ln w="12700">
            <a:solidFill>
              <a:prstClr val="black"/>
            </a:solidFill>
          </a:ln>
        </p:spPr>
        <p:txBody>
          <a:bodyPr anchor="ctr" bIns="46589" lIns="93177" rIns="93177" rtlCol="0" tIns="46589" vert="horz"/>
          <a:p>
            <a:endParaRPr lang="en-US"/>
          </a:p>
        </p:txBody>
      </p:sp>
      <p:sp>
        <p:nvSpPr>
          <p:cNvPr id="1049091" name="Notes Placeholder 4"/>
          <p:cNvSpPr>
            <a:spLocks noGrp="1"/>
          </p:cNvSpPr>
          <p:nvPr>
            <p:ph type="body" sz="quarter" idx="3"/>
          </p:nvPr>
        </p:nvSpPr>
        <p:spPr>
          <a:xfrm>
            <a:off x="701040" y="4415790"/>
            <a:ext cx="5608320" cy="4183380"/>
          </a:xfrm>
          <a:prstGeom prst="rect"/>
        </p:spPr>
        <p:txBody>
          <a:bodyPr bIns="46589" lIns="93177" rIns="93177" rtlCol="0" tIns="46589"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92" name="Footer Placeholder 5"/>
          <p:cNvSpPr>
            <a:spLocks noGrp="1"/>
          </p:cNvSpPr>
          <p:nvPr>
            <p:ph type="ftr" sz="quarter" idx="4"/>
          </p:nvPr>
        </p:nvSpPr>
        <p:spPr>
          <a:xfrm>
            <a:off x="0" y="8829967"/>
            <a:ext cx="3037840" cy="464820"/>
          </a:xfrm>
          <a:prstGeom prst="rect"/>
        </p:spPr>
        <p:txBody>
          <a:bodyPr anchor="b" bIns="46589" lIns="93177" rIns="93177" rtlCol="0" tIns="46589" vert="horz"/>
          <a:lstStyle>
            <a:lvl1pPr algn="l">
              <a:defRPr sz="1200"/>
            </a:lvl1pPr>
          </a:lstStyle>
          <a:p>
            <a:endParaRPr lang="en-US"/>
          </a:p>
        </p:txBody>
      </p:sp>
      <p:sp>
        <p:nvSpPr>
          <p:cNvPr id="1049093" name="Slide Number Placeholder 6"/>
          <p:cNvSpPr>
            <a:spLocks noGrp="1"/>
          </p:cNvSpPr>
          <p:nvPr>
            <p:ph type="sldNum" sz="quarter" idx="5"/>
          </p:nvPr>
        </p:nvSpPr>
        <p:spPr>
          <a:xfrm>
            <a:off x="3970938" y="8829967"/>
            <a:ext cx="3037840" cy="464820"/>
          </a:xfrm>
          <a:prstGeom prst="rect"/>
        </p:spPr>
        <p:txBody>
          <a:bodyPr anchor="b" bIns="46589" lIns="93177" rIns="93177" rtlCol="0" tIns="46589" vert="horz"/>
          <a:lstStyle>
            <a:lvl1pPr algn="r">
              <a:defRPr sz="1200"/>
            </a:lvl1pPr>
          </a:lstStyle>
          <a:p>
            <a:fld id="{DA592410-4CAC-4FA6-A42E-B8A9FDC39215}"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43" name=""/>
        <p:cNvGrpSpPr/>
        <p:nvPr/>
      </p:nvGrpSpPr>
      <p:grpSpPr>
        <a:xfrm>
          <a:off x="0" y="0"/>
          <a:ext cx="0" cy="0"/>
          <a:chOff x="0" y="0"/>
          <a:chExt cx="0" cy="0"/>
        </a:xfrm>
      </p:grpSpPr>
      <p:sp>
        <p:nvSpPr>
          <p:cNvPr id="1048644" name="Slide Image Placeholder 1"/>
          <p:cNvSpPr>
            <a:spLocks noChangeAspect="1" noRot="1" noGrp="1"/>
          </p:cNvSpPr>
          <p:nvPr>
            <p:ph type="sldImg"/>
          </p:nvPr>
        </p:nvSpPr>
        <p:spPr/>
      </p:sp>
      <p:sp>
        <p:nvSpPr>
          <p:cNvPr id="1048645" name="Notes Placeholder 2"/>
          <p:cNvSpPr>
            <a:spLocks noGrp="1"/>
          </p:cNvSpPr>
          <p:nvPr>
            <p:ph type="body" idx="1"/>
          </p:nvPr>
        </p:nvSpPr>
        <p:spPr/>
        <p:txBody>
          <a:bodyPr>
            <a:normAutofit/>
          </a:bodyPr>
          <a:p>
            <a:endParaRPr lang="en-US"/>
          </a:p>
        </p:txBody>
      </p:sp>
      <p:sp>
        <p:nvSpPr>
          <p:cNvPr id="1048646" name="Slide Number Placeholder 3"/>
          <p:cNvSpPr>
            <a:spLocks noGrp="1"/>
          </p:cNvSpPr>
          <p:nvPr>
            <p:ph type="sldNum" sz="quarter" idx="10"/>
          </p:nvPr>
        </p:nvSpPr>
        <p:spPr/>
        <p:txBody>
          <a:bodyPr/>
          <a:p>
            <a:fld id="{DA592410-4CAC-4FA6-A42E-B8A9FDC39215}" type="slidenum">
              <a:rPr lang="en-US" smtClean="0"/>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426" name=""/>
        <p:cNvGrpSpPr/>
        <p:nvPr/>
      </p:nvGrpSpPr>
      <p:grpSpPr>
        <a:xfrm>
          <a:off x="0" y="0"/>
          <a:ext cx="0" cy="0"/>
          <a:chOff x="0" y="0"/>
          <a:chExt cx="0" cy="0"/>
        </a:xfrm>
      </p:grpSpPr>
      <p:sp>
        <p:nvSpPr>
          <p:cNvPr id="1049022" name="Rectangle 6"/>
          <p:cNvSpPr/>
          <p:nvPr/>
        </p:nvSpPr>
        <p:spPr bwMode="white">
          <a:xfrm>
            <a:off x="0" y="5971032"/>
            <a:ext cx="9144000" cy="886968"/>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23" name="Rectangle 9"/>
          <p:cNvSpPr/>
          <p:nvPr/>
        </p:nvSpPr>
        <p:spPr>
          <a:xfrm>
            <a:off x="-9144" y="6053328"/>
            <a:ext cx="2249424" cy="713232"/>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24" name="Rectangle 10"/>
          <p:cNvSpPr/>
          <p:nvPr/>
        </p:nvSpPr>
        <p:spPr>
          <a:xfrm>
            <a:off x="2359152" y="6044184"/>
            <a:ext cx="6784848" cy="713232"/>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25" name="Title 7"/>
          <p:cNvSpPr>
            <a:spLocks noGrp="1"/>
          </p:cNvSpPr>
          <p:nvPr>
            <p:ph type="ctrTitle"/>
          </p:nvPr>
        </p:nvSpPr>
        <p:spPr>
          <a:xfrm>
            <a:off x="2362200" y="4038600"/>
            <a:ext cx="6477000" cy="1828800"/>
          </a:xfrm>
        </p:spPr>
        <p:txBody>
          <a:bodyPr anchor="b"/>
          <a:lstStyle>
            <a:lvl1pPr>
              <a:defRPr baseline="0" cap="all"/>
            </a:lvl1pPr>
          </a:lstStyle>
          <a:p>
            <a:r>
              <a:rPr kumimoji="0" lang="en-US" smtClean="0"/>
              <a:t>Click to edit Master title style</a:t>
            </a:r>
            <a:endParaRPr kumimoji="0" lang="en-US"/>
          </a:p>
        </p:txBody>
      </p:sp>
      <p:sp>
        <p:nvSpPr>
          <p:cNvPr id="1049026" name="Subtitle 8"/>
          <p:cNvSpPr>
            <a:spLocks noGrp="1"/>
          </p:cNvSpPr>
          <p:nvPr>
            <p:ph type="subTitle" idx="1"/>
          </p:nvPr>
        </p:nvSpPr>
        <p:spPr>
          <a:xfrm>
            <a:off x="2362200" y="6050037"/>
            <a:ext cx="6705600" cy="685800"/>
          </a:xfrm>
        </p:spPr>
        <p:txBody>
          <a:bodyPr anchor="ctr">
            <a:normAutofit/>
          </a:bodyPr>
          <a:lstStyle>
            <a:lvl1pPr algn="l" indent="0" marL="0">
              <a:buNone/>
              <a:defRPr sz="2600">
                <a:solidFill>
                  <a:srgbClr val="FFFFFF"/>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9027"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41793E4B-AF08-4EF5-BDE7-9DF0939D1780}" type="datetimeFigureOut">
              <a:rPr lang="en-US" smtClean="0"/>
              <a:t>2/10/2016</a:t>
            </a:fld>
            <a:endParaRPr lang="en-US"/>
          </a:p>
        </p:txBody>
      </p:sp>
      <p:sp>
        <p:nvSpPr>
          <p:cNvPr id="1049028" name="Footer Placeholder 16"/>
          <p:cNvSpPr>
            <a:spLocks noGrp="1"/>
          </p:cNvSpPr>
          <p:nvPr>
            <p:ph type="ftr" sz="quarter" idx="11"/>
          </p:nvPr>
        </p:nvSpPr>
        <p:spPr>
          <a:xfrm>
            <a:off x="2085393" y="236540"/>
            <a:ext cx="5867400" cy="365125"/>
          </a:xfrm>
        </p:spPr>
        <p:txBody>
          <a:bodyPr/>
          <a:lstStyle>
            <a:lvl1pPr algn="r">
              <a:defRPr>
                <a:solidFill>
                  <a:schemeClr val="tx2"/>
                </a:solidFill>
              </a:defRPr>
            </a:lvl1pPr>
          </a:lstStyle>
          <a:p>
            <a:endParaRPr lang="en-US"/>
          </a:p>
        </p:txBody>
      </p:sp>
      <p:sp>
        <p:nvSpPr>
          <p:cNvPr id="10490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08AA56A4-ACE6-4418-8F94-C9D452C3DDAF}" type="slidenum">
              <a:rPr lang="en-US" smtClean="0"/>
              <a:t>‹#›</a:t>
            </a:fld>
            <a:endParaRPr lang="en-US"/>
          </a:p>
        </p:txBody>
      </p:sp>
    </p:spTree>
  </p:cSld>
  <p:clrMapOvr>
    <a:overrideClrMapping accent1="accent1" accent2="accent2" accent3="accent3" accent4="accent4" accent5="accent5" accent6="accent6" bg1="dk1" bg2="dk2" tx1="lt1" tx2="lt2"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type="obj">
  <p:cSld name="Title and Content">
    <p:spTree>
      <p:nvGrpSpPr>
        <p:cNvPr id="229" name=""/>
        <p:cNvGrpSpPr/>
        <p:nvPr/>
      </p:nvGrpSpPr>
      <p:grpSpPr>
        <a:xfrm>
          <a:off x="0" y="0"/>
          <a:ext cx="0" cy="0"/>
          <a:chOff x="0" y="0"/>
          <a:chExt cx="0" cy="0"/>
        </a:xfrm>
      </p:grpSpPr>
      <p:sp>
        <p:nvSpPr>
          <p:cNvPr id="1048617" name="Title 1"/>
          <p:cNvSpPr>
            <a:spLocks noGrp="1"/>
          </p:cNvSpPr>
          <p:nvPr>
            <p:ph type="title"/>
          </p:nvPr>
        </p:nvSpPr>
        <p:spPr>
          <a:xfrm>
            <a:off x="612648" y="228600"/>
            <a:ext cx="8153400" cy="990600"/>
          </a:xfrm>
        </p:spPr>
        <p:txBody>
          <a:bodyPr/>
          <a:p>
            <a:r>
              <a:rPr kumimoji="0" lang="en-US" smtClean="0"/>
              <a:t>Click to edit Master title style</a:t>
            </a:r>
            <a:endParaRPr kumimoji="0" lang="en-US"/>
          </a:p>
        </p:txBody>
      </p:sp>
      <p:sp>
        <p:nvSpPr>
          <p:cNvPr id="1048618" name="Date Placeholder 3"/>
          <p:cNvSpPr>
            <a:spLocks noGrp="1"/>
          </p:cNvSpPr>
          <p:nvPr>
            <p:ph type="dt" sz="half" idx="10"/>
          </p:nvPr>
        </p:nvSpPr>
        <p:spPr/>
        <p:txBody>
          <a:bodyPr/>
          <a:p>
            <a:fld id="{41793E4B-AF08-4EF5-BDE7-9DF0939D1780}" type="datetimeFigureOut">
              <a:rPr lang="en-US" smtClean="0"/>
              <a:t>2/10/2016</a:t>
            </a:fld>
            <a:endParaRPr lang="en-US"/>
          </a:p>
        </p:txBody>
      </p:sp>
      <p:sp>
        <p:nvSpPr>
          <p:cNvPr id="1048619" name="Footer Placeholder 4"/>
          <p:cNvSpPr>
            <a:spLocks noGrp="1"/>
          </p:cNvSpPr>
          <p:nvPr>
            <p:ph type="ftr" sz="quarter" idx="11"/>
          </p:nvPr>
        </p:nvSpPr>
        <p:spPr/>
        <p:txBody>
          <a:bodyPr/>
          <a:p>
            <a:endParaRPr lang="en-US"/>
          </a:p>
        </p:txBody>
      </p:sp>
      <p:sp>
        <p:nvSpPr>
          <p:cNvPr id="1048620" name="Slide Number Placeholder 5"/>
          <p:cNvSpPr>
            <a:spLocks noGrp="1"/>
          </p:cNvSpPr>
          <p:nvPr>
            <p:ph type="sldNum" sz="quarter" idx="12"/>
          </p:nvPr>
        </p:nvSpPr>
        <p:spPr/>
        <p:txBody>
          <a:bodyPr/>
          <a:lstStyle>
            <a:lvl1pPr>
              <a:defRPr>
                <a:solidFill>
                  <a:srgbClr val="FFFFFF"/>
                </a:solidFill>
              </a:defRPr>
            </a:lvl1pPr>
          </a:lstStyle>
          <a:p>
            <a:fld id="{08AA56A4-ACE6-4418-8F94-C9D452C3DDAF}" type="slidenum">
              <a:rPr lang="en-US" smtClean="0"/>
              <a:t>‹#›</a:t>
            </a:fld>
            <a:endParaRPr lang="en-US"/>
          </a:p>
        </p:txBody>
      </p:sp>
      <p:sp>
        <p:nvSpPr>
          <p:cNvPr id="1048621" name="Content Placeholder 7"/>
          <p:cNvSpPr>
            <a:spLocks noGrp="1"/>
          </p:cNvSpPr>
          <p:nvPr>
            <p:ph sz="quarter" idx="1"/>
          </p:nvPr>
        </p:nvSpPr>
        <p:spPr>
          <a:xfrm>
            <a:off x="612648" y="1600200"/>
            <a:ext cx="8153400" cy="44958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431" name=""/>
        <p:cNvGrpSpPr/>
        <p:nvPr/>
      </p:nvGrpSpPr>
      <p:grpSpPr>
        <a:xfrm>
          <a:off x="0" y="0"/>
          <a:ext cx="0" cy="0"/>
          <a:chOff x="0" y="0"/>
          <a:chExt cx="0" cy="0"/>
        </a:xfrm>
      </p:grpSpPr>
      <p:sp>
        <p:nvSpPr>
          <p:cNvPr id="1049057" name="Text Placeholder 2"/>
          <p:cNvSpPr>
            <a:spLocks noGrp="1"/>
          </p:cNvSpPr>
          <p:nvPr>
            <p:ph type="body" idx="1"/>
          </p:nvPr>
        </p:nvSpPr>
        <p:spPr>
          <a:xfrm>
            <a:off x="1371602" y="2743202"/>
            <a:ext cx="7123113" cy="1673225"/>
          </a:xfrm>
        </p:spPr>
        <p:txBody>
          <a:bodyPr anchor="t"/>
          <a:lstStyle>
            <a:lvl1pPr indent="0" marL="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49058" name="Rectangle 6"/>
          <p:cNvSpPr/>
          <p:nvPr/>
        </p:nvSpPr>
        <p:spPr bwMode="white">
          <a:xfrm>
            <a:off x="0" y="1524000"/>
            <a:ext cx="9144000" cy="1143000"/>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59" name="Rectangle 7"/>
          <p:cNvSpPr/>
          <p:nvPr/>
        </p:nvSpPr>
        <p:spPr>
          <a:xfrm>
            <a:off x="0" y="1600200"/>
            <a:ext cx="1295400" cy="990600"/>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60" name="Rectangle 8"/>
          <p:cNvSpPr/>
          <p:nvPr/>
        </p:nvSpPr>
        <p:spPr>
          <a:xfrm>
            <a:off x="1371600" y="1600200"/>
            <a:ext cx="7772400" cy="990600"/>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61" name="Title 1"/>
          <p:cNvSpPr>
            <a:spLocks noGrp="1"/>
          </p:cNvSpPr>
          <p:nvPr>
            <p:ph type="title"/>
          </p:nvPr>
        </p:nvSpPr>
        <p:spPr>
          <a:xfrm>
            <a:off x="1371600" y="1600200"/>
            <a:ext cx="7620000" cy="990600"/>
          </a:xfrm>
        </p:spPr>
        <p:txBody>
          <a:bodyPr/>
          <a:lstStyle>
            <a:lvl1pPr algn="l">
              <a:buNone/>
              <a:defRPr b="0" cap="none" sz="4400">
                <a:solidFill>
                  <a:srgbClr val="FFFFFF"/>
                </a:solidFill>
              </a:defRPr>
            </a:lvl1pPr>
          </a:lstStyle>
          <a:p>
            <a:r>
              <a:rPr kumimoji="0" lang="en-US" smtClean="0"/>
              <a:t>Click to edit Master title style</a:t>
            </a:r>
            <a:endParaRPr kumimoji="0" lang="en-US"/>
          </a:p>
        </p:txBody>
      </p:sp>
      <p:sp>
        <p:nvSpPr>
          <p:cNvPr id="1049062" name="Date Placeholder 11"/>
          <p:cNvSpPr>
            <a:spLocks noGrp="1"/>
          </p:cNvSpPr>
          <p:nvPr>
            <p:ph type="dt" sz="half" idx="10"/>
          </p:nvPr>
        </p:nvSpPr>
        <p:spPr/>
        <p:txBody>
          <a:bodyPr/>
          <a:p>
            <a:fld id="{41793E4B-AF08-4EF5-BDE7-9DF0939D1780}" type="datetimeFigureOut">
              <a:rPr lang="en-US" smtClean="0"/>
              <a:t>2/10/2016</a:t>
            </a:fld>
            <a:endParaRPr lang="en-US"/>
          </a:p>
        </p:txBody>
      </p:sp>
      <p:sp>
        <p:nvSpPr>
          <p:cNvPr id="104906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8AA56A4-ACE6-4418-8F94-C9D452C3DDAF}" type="slidenum">
              <a:rPr lang="en-US" smtClean="0"/>
              <a:t>‹#›</a:t>
            </a:fld>
            <a:endParaRPr lang="en-US"/>
          </a:p>
        </p:txBody>
      </p:sp>
      <p:sp>
        <p:nvSpPr>
          <p:cNvPr id="1049064" name="Footer Placeholder 13"/>
          <p:cNvSpPr>
            <a:spLocks noGrp="1"/>
          </p:cNvSpPr>
          <p:nvPr>
            <p:ph type="ftr" sz="quarter" idx="12"/>
          </p:nvPr>
        </p:nvSpPr>
        <p:spPr/>
        <p:txBody>
          <a:bodyPr/>
          <a:p>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type="twoObj">
  <p:cSld name="Two Content">
    <p:spTree>
      <p:nvGrpSpPr>
        <p:cNvPr id="432" name=""/>
        <p:cNvGrpSpPr/>
        <p:nvPr/>
      </p:nvGrpSpPr>
      <p:grpSpPr>
        <a:xfrm>
          <a:off x="0" y="0"/>
          <a:ext cx="0" cy="0"/>
          <a:chOff x="0" y="0"/>
          <a:chExt cx="0" cy="0"/>
        </a:xfrm>
      </p:grpSpPr>
      <p:sp>
        <p:nvSpPr>
          <p:cNvPr id="1049065" name="Title 1"/>
          <p:cNvSpPr>
            <a:spLocks noGrp="1"/>
          </p:cNvSpPr>
          <p:nvPr>
            <p:ph type="title"/>
          </p:nvPr>
        </p:nvSpPr>
        <p:spPr/>
        <p:txBody>
          <a:bodyPr/>
          <a:p>
            <a:r>
              <a:rPr kumimoji="0" lang="en-US" smtClean="0"/>
              <a:t>Click to edit Master title style</a:t>
            </a:r>
            <a:endParaRPr kumimoji="0" lang="en-US"/>
          </a:p>
        </p:txBody>
      </p:sp>
      <p:sp>
        <p:nvSpPr>
          <p:cNvPr id="1049066" name="Content Placeholder 8"/>
          <p:cNvSpPr>
            <a:spLocks noGrp="1"/>
          </p:cNvSpPr>
          <p:nvPr>
            <p:ph sz="quarter" idx="1"/>
          </p:nvPr>
        </p:nvSpPr>
        <p:spPr>
          <a:xfrm>
            <a:off x="609600" y="1589567"/>
            <a:ext cx="388620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67" name="Content Placeholder 10"/>
          <p:cNvSpPr>
            <a:spLocks noGrp="1"/>
          </p:cNvSpPr>
          <p:nvPr>
            <p:ph sz="quarter" idx="2"/>
          </p:nvPr>
        </p:nvSpPr>
        <p:spPr>
          <a:xfrm>
            <a:off x="4844901" y="1589567"/>
            <a:ext cx="388620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68" name="Date Placeholder 7"/>
          <p:cNvSpPr>
            <a:spLocks noGrp="1"/>
          </p:cNvSpPr>
          <p:nvPr>
            <p:ph type="dt" sz="half" idx="15"/>
          </p:nvPr>
        </p:nvSpPr>
        <p:spPr/>
        <p:txBody>
          <a:bodyPr rtlCol="0"/>
          <a:p>
            <a:fld id="{41793E4B-AF08-4EF5-BDE7-9DF0939D1780}" type="datetimeFigureOut">
              <a:rPr lang="en-US" smtClean="0"/>
              <a:t>2/10/2016</a:t>
            </a:fld>
            <a:endParaRPr lang="en-US"/>
          </a:p>
        </p:txBody>
      </p:sp>
      <p:sp>
        <p:nvSpPr>
          <p:cNvPr id="1049069" name="Slide Number Placeholder 9"/>
          <p:cNvSpPr>
            <a:spLocks noGrp="1"/>
          </p:cNvSpPr>
          <p:nvPr>
            <p:ph type="sldNum" sz="quarter" idx="16"/>
          </p:nvPr>
        </p:nvSpPr>
        <p:spPr/>
        <p:txBody>
          <a:bodyPr rtlCol="0"/>
          <a:p>
            <a:fld id="{08AA56A4-ACE6-4418-8F94-C9D452C3DDAF}" type="slidenum">
              <a:rPr lang="en-US" smtClean="0"/>
              <a:t>‹#›</a:t>
            </a:fld>
            <a:endParaRPr lang="en-US"/>
          </a:p>
        </p:txBody>
      </p:sp>
      <p:sp>
        <p:nvSpPr>
          <p:cNvPr id="1049070" name="Footer Placeholder 11"/>
          <p:cNvSpPr>
            <a:spLocks noGrp="1"/>
          </p:cNvSpPr>
          <p:nvPr>
            <p:ph type="ftr" sz="quarter" idx="17"/>
          </p:nvPr>
        </p:nvSpPr>
        <p:spPr/>
        <p:txBody>
          <a:bodyPr rtlCol="0"/>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type="twoTxTwoObj">
  <p:cSld name="Comparison">
    <p:spTree>
      <p:nvGrpSpPr>
        <p:cNvPr id="433" name=""/>
        <p:cNvGrpSpPr/>
        <p:nvPr/>
      </p:nvGrpSpPr>
      <p:grpSpPr>
        <a:xfrm>
          <a:off x="0" y="0"/>
          <a:ext cx="0" cy="0"/>
          <a:chOff x="0" y="0"/>
          <a:chExt cx="0" cy="0"/>
        </a:xfrm>
      </p:grpSpPr>
      <p:sp>
        <p:nvSpPr>
          <p:cNvPr id="1049071" name="Title 1"/>
          <p:cNvSpPr>
            <a:spLocks noGrp="1"/>
          </p:cNvSpPr>
          <p:nvPr>
            <p:ph type="title"/>
          </p:nvPr>
        </p:nvSpPr>
        <p:spPr>
          <a:xfrm>
            <a:off x="533400" y="273051"/>
            <a:ext cx="8153400" cy="869950"/>
          </a:xfrm>
        </p:spPr>
        <p:txBody>
          <a:bodyPr anchor="ctr"/>
          <a:p>
            <a:r>
              <a:rPr kumimoji="0" lang="en-US" smtClean="0"/>
              <a:t>Click to edit Master title style</a:t>
            </a:r>
            <a:endParaRPr kumimoji="0" lang="en-US"/>
          </a:p>
        </p:txBody>
      </p:sp>
      <p:sp>
        <p:nvSpPr>
          <p:cNvPr id="1049072" name="Content Placeholder 10"/>
          <p:cNvSpPr>
            <a:spLocks noGrp="1"/>
          </p:cNvSpPr>
          <p:nvPr>
            <p:ph sz="quarter" idx="2"/>
          </p:nvPr>
        </p:nvSpPr>
        <p:spPr>
          <a:xfrm>
            <a:off x="609600" y="2438400"/>
            <a:ext cx="3886200" cy="35814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73" name="Content Placeholder 12"/>
          <p:cNvSpPr>
            <a:spLocks noGrp="1"/>
          </p:cNvSpPr>
          <p:nvPr>
            <p:ph sz="quarter" idx="4"/>
          </p:nvPr>
        </p:nvSpPr>
        <p:spPr>
          <a:xfrm>
            <a:off x="4800600" y="2438400"/>
            <a:ext cx="3886200" cy="35814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74" name="Date Placeholder 9"/>
          <p:cNvSpPr>
            <a:spLocks noGrp="1"/>
          </p:cNvSpPr>
          <p:nvPr>
            <p:ph type="dt" sz="half" idx="15"/>
          </p:nvPr>
        </p:nvSpPr>
        <p:spPr/>
        <p:txBody>
          <a:bodyPr rtlCol="0"/>
          <a:p>
            <a:fld id="{41793E4B-AF08-4EF5-BDE7-9DF0939D1780}" type="datetimeFigureOut">
              <a:rPr lang="en-US" smtClean="0"/>
              <a:t>2/10/2016</a:t>
            </a:fld>
            <a:endParaRPr lang="en-US"/>
          </a:p>
        </p:txBody>
      </p:sp>
      <p:sp>
        <p:nvSpPr>
          <p:cNvPr id="1049075" name="Slide Number Placeholder 11"/>
          <p:cNvSpPr>
            <a:spLocks noGrp="1"/>
          </p:cNvSpPr>
          <p:nvPr>
            <p:ph type="sldNum" sz="quarter" idx="16"/>
          </p:nvPr>
        </p:nvSpPr>
        <p:spPr/>
        <p:txBody>
          <a:bodyPr rtlCol="0"/>
          <a:p>
            <a:fld id="{08AA56A4-ACE6-4418-8F94-C9D452C3DDAF}" type="slidenum">
              <a:rPr lang="en-US" smtClean="0"/>
              <a:t>‹#›</a:t>
            </a:fld>
            <a:endParaRPr lang="en-US"/>
          </a:p>
        </p:txBody>
      </p:sp>
      <p:sp>
        <p:nvSpPr>
          <p:cNvPr id="1049076" name="Footer Placeholder 13"/>
          <p:cNvSpPr>
            <a:spLocks noGrp="1"/>
          </p:cNvSpPr>
          <p:nvPr>
            <p:ph type="ftr" sz="quarter" idx="17"/>
          </p:nvPr>
        </p:nvSpPr>
        <p:spPr/>
        <p:txBody>
          <a:bodyPr rtlCol="0"/>
          <a:p>
            <a:endParaRPr lang="en-US"/>
          </a:p>
        </p:txBody>
      </p:sp>
      <p:sp>
        <p:nvSpPr>
          <p:cNvPr id="1049077" name="Text Placeholder 15"/>
          <p:cNvSpPr>
            <a:spLocks noGrp="1"/>
          </p:cNvSpPr>
          <p:nvPr>
            <p:ph type="body" sz="quarter" idx="1"/>
          </p:nvPr>
        </p:nvSpPr>
        <p:spPr>
          <a:xfrm>
            <a:off x="609600" y="1752600"/>
            <a:ext cx="3886200" cy="640080"/>
          </a:xfrm>
          <a:solidFill>
            <a:schemeClr val="accent2"/>
          </a:solidFill>
        </p:spPr>
        <p:txBody>
          <a:bodyPr anchor="ctr" rtlCol="0"/>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
        <p:nvSpPr>
          <p:cNvPr id="1049078" name="Text Placeholder 14"/>
          <p:cNvSpPr>
            <a:spLocks noGrp="1"/>
          </p:cNvSpPr>
          <p:nvPr>
            <p:ph type="body" sz="quarter" idx="3"/>
          </p:nvPr>
        </p:nvSpPr>
        <p:spPr>
          <a:xfrm>
            <a:off x="4800600" y="1752600"/>
            <a:ext cx="3886200" cy="640080"/>
          </a:xfrm>
          <a:solidFill>
            <a:schemeClr val="accent4"/>
          </a:solidFill>
        </p:spPr>
        <p:txBody>
          <a:bodyPr anchor="ctr" rtlCol="0"/>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type="titleOnly">
  <p:cSld name="Title Only">
    <p:spTree>
      <p:nvGrpSpPr>
        <p:cNvPr id="427" name=""/>
        <p:cNvGrpSpPr/>
        <p:nvPr/>
      </p:nvGrpSpPr>
      <p:grpSpPr>
        <a:xfrm>
          <a:off x="0" y="0"/>
          <a:ext cx="0" cy="0"/>
          <a:chOff x="0" y="0"/>
          <a:chExt cx="0" cy="0"/>
        </a:xfrm>
      </p:grpSpPr>
      <p:sp>
        <p:nvSpPr>
          <p:cNvPr id="1049030" name="Title 1"/>
          <p:cNvSpPr>
            <a:spLocks noGrp="1"/>
          </p:cNvSpPr>
          <p:nvPr>
            <p:ph type="title"/>
          </p:nvPr>
        </p:nvSpPr>
        <p:spPr/>
        <p:txBody>
          <a:bodyPr/>
          <a:p>
            <a:r>
              <a:rPr kumimoji="0" lang="en-US" smtClean="0"/>
              <a:t>Click to edit Master title style</a:t>
            </a:r>
            <a:endParaRPr kumimoji="0" lang="en-US"/>
          </a:p>
        </p:txBody>
      </p:sp>
      <p:sp>
        <p:nvSpPr>
          <p:cNvPr id="1049031" name="Date Placeholder 2"/>
          <p:cNvSpPr>
            <a:spLocks noGrp="1"/>
          </p:cNvSpPr>
          <p:nvPr>
            <p:ph type="dt" sz="half" idx="10"/>
          </p:nvPr>
        </p:nvSpPr>
        <p:spPr/>
        <p:txBody>
          <a:bodyPr/>
          <a:p>
            <a:fld id="{41793E4B-AF08-4EF5-BDE7-9DF0939D1780}" type="datetimeFigureOut">
              <a:rPr lang="en-US" smtClean="0"/>
              <a:t>2/10/2016</a:t>
            </a:fld>
            <a:endParaRPr lang="en-US"/>
          </a:p>
        </p:txBody>
      </p:sp>
      <p:sp>
        <p:nvSpPr>
          <p:cNvPr id="1049032" name="Footer Placeholder 3"/>
          <p:cNvSpPr>
            <a:spLocks noGrp="1"/>
          </p:cNvSpPr>
          <p:nvPr>
            <p:ph type="ftr" sz="quarter" idx="11"/>
          </p:nvPr>
        </p:nvSpPr>
        <p:spPr/>
        <p:txBody>
          <a:bodyPr/>
          <a:p>
            <a:endParaRPr lang="en-US"/>
          </a:p>
        </p:txBody>
      </p:sp>
      <p:sp>
        <p:nvSpPr>
          <p:cNvPr id="1049033" name="Slide Number Placeholder 4"/>
          <p:cNvSpPr>
            <a:spLocks noGrp="1"/>
          </p:cNvSpPr>
          <p:nvPr>
            <p:ph type="sldNum" sz="quarter" idx="12"/>
          </p:nvPr>
        </p:nvSpPr>
        <p:spPr/>
        <p:txBody>
          <a:bodyPr/>
          <a:lstStyle>
            <a:lvl1pPr>
              <a:defRPr>
                <a:solidFill>
                  <a:srgbClr val="FFFFFF"/>
                </a:solidFill>
              </a:defRPr>
            </a:lvl1pPr>
          </a:lstStyle>
          <a:p>
            <a:fld id="{08AA56A4-ACE6-4418-8F94-C9D452C3DDA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434" name=""/>
        <p:cNvGrpSpPr/>
        <p:nvPr/>
      </p:nvGrpSpPr>
      <p:grpSpPr>
        <a:xfrm>
          <a:off x="0" y="0"/>
          <a:ext cx="0" cy="0"/>
          <a:chOff x="0" y="0"/>
          <a:chExt cx="0" cy="0"/>
        </a:xfrm>
      </p:grpSpPr>
      <p:sp>
        <p:nvSpPr>
          <p:cNvPr id="1049079" name="Date Placeholder 1"/>
          <p:cNvSpPr>
            <a:spLocks noGrp="1"/>
          </p:cNvSpPr>
          <p:nvPr>
            <p:ph type="dt" sz="half" idx="10"/>
          </p:nvPr>
        </p:nvSpPr>
        <p:spPr/>
        <p:txBody>
          <a:bodyPr/>
          <a:p>
            <a:fld id="{41793E4B-AF08-4EF5-BDE7-9DF0939D1780}" type="datetimeFigureOut">
              <a:rPr lang="en-US" smtClean="0"/>
              <a:t>2/10/2016</a:t>
            </a:fld>
            <a:endParaRPr lang="en-US"/>
          </a:p>
        </p:txBody>
      </p:sp>
      <p:sp>
        <p:nvSpPr>
          <p:cNvPr id="1049080" name="Footer Placeholder 2"/>
          <p:cNvSpPr>
            <a:spLocks noGrp="1"/>
          </p:cNvSpPr>
          <p:nvPr>
            <p:ph type="ftr" sz="quarter" idx="11"/>
          </p:nvPr>
        </p:nvSpPr>
        <p:spPr/>
        <p:txBody>
          <a:bodyPr/>
          <a:p>
            <a:endParaRPr lang="en-US"/>
          </a:p>
        </p:txBody>
      </p:sp>
      <p:sp>
        <p:nvSpPr>
          <p:cNvPr id="1049081"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08AA56A4-ACE6-4418-8F94-C9D452C3DDA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435" name=""/>
        <p:cNvGrpSpPr/>
        <p:nvPr/>
      </p:nvGrpSpPr>
      <p:grpSpPr>
        <a:xfrm>
          <a:off x="0" y="0"/>
          <a:ext cx="0" cy="0"/>
          <a:chOff x="0" y="0"/>
          <a:chExt cx="0" cy="0"/>
        </a:xfrm>
      </p:grpSpPr>
      <p:sp>
        <p:nvSpPr>
          <p:cNvPr id="1049082" name="Title 1"/>
          <p:cNvSpPr>
            <a:spLocks noGrp="1"/>
          </p:cNvSpPr>
          <p:nvPr>
            <p:ph type="title"/>
          </p:nvPr>
        </p:nvSpPr>
        <p:spPr>
          <a:xfrm>
            <a:off x="609600" y="273051"/>
            <a:ext cx="8077200" cy="869950"/>
          </a:xfrm>
        </p:spPr>
        <p:txBody>
          <a:bodyPr anchor="ctr"/>
          <a:lstStyle>
            <a:lvl1pPr algn="l">
              <a:buNone/>
              <a:defRPr b="0" sz="4400"/>
            </a:lvl1pPr>
          </a:lstStyle>
          <a:p>
            <a:r>
              <a:rPr kumimoji="0" lang="en-US" smtClean="0"/>
              <a:t>Click to edit Master title style</a:t>
            </a:r>
            <a:endParaRPr kumimoji="0" lang="en-US"/>
          </a:p>
        </p:txBody>
      </p:sp>
      <p:sp>
        <p:nvSpPr>
          <p:cNvPr id="1049083" name="Date Placeholder 4"/>
          <p:cNvSpPr>
            <a:spLocks noGrp="1"/>
          </p:cNvSpPr>
          <p:nvPr>
            <p:ph type="dt" sz="half" idx="10"/>
          </p:nvPr>
        </p:nvSpPr>
        <p:spPr/>
        <p:txBody>
          <a:bodyPr/>
          <a:p>
            <a:fld id="{41793E4B-AF08-4EF5-BDE7-9DF0939D1780}" type="datetimeFigureOut">
              <a:rPr lang="en-US" smtClean="0"/>
              <a:t>2/10/2016</a:t>
            </a:fld>
            <a:endParaRPr lang="en-US"/>
          </a:p>
        </p:txBody>
      </p:sp>
      <p:sp>
        <p:nvSpPr>
          <p:cNvPr id="1049084" name="Footer Placeholder 5"/>
          <p:cNvSpPr>
            <a:spLocks noGrp="1"/>
          </p:cNvSpPr>
          <p:nvPr>
            <p:ph type="ftr" sz="quarter" idx="11"/>
          </p:nvPr>
        </p:nvSpPr>
        <p:spPr/>
        <p:txBody>
          <a:bodyPr/>
          <a:p>
            <a:endParaRPr lang="en-US"/>
          </a:p>
        </p:txBody>
      </p:sp>
      <p:sp>
        <p:nvSpPr>
          <p:cNvPr id="1049085" name="Slide Number Placeholder 6"/>
          <p:cNvSpPr>
            <a:spLocks noGrp="1"/>
          </p:cNvSpPr>
          <p:nvPr>
            <p:ph type="sldNum" sz="quarter" idx="12"/>
          </p:nvPr>
        </p:nvSpPr>
        <p:spPr/>
        <p:txBody>
          <a:bodyPr/>
          <a:lstStyle>
            <a:lvl1pPr>
              <a:defRPr>
                <a:solidFill>
                  <a:srgbClr val="FFFFFF"/>
                </a:solidFill>
              </a:defRPr>
            </a:lvl1pPr>
          </a:lstStyle>
          <a:p>
            <a:fld id="{08AA56A4-ACE6-4418-8F94-C9D452C3DDAF}" type="slidenum">
              <a:rPr lang="en-US" smtClean="0"/>
              <a:t>‹#›</a:t>
            </a:fld>
            <a:endParaRPr lang="en-US"/>
          </a:p>
        </p:txBody>
      </p:sp>
      <p:sp>
        <p:nvSpPr>
          <p:cNvPr id="1049086"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bIns="91440" lIns="137160" rIns="137160" tIns="182880"/>
          <a:lstStyle>
            <a:lvl1pPr indent="0" marL="0">
              <a:spcAft>
                <a:spcPts val="1000"/>
              </a:spcAft>
              <a:buNone/>
              <a:defRPr sz="18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49087" name="Content Placeholder 8"/>
          <p:cNvSpPr>
            <a:spLocks noGrp="1"/>
          </p:cNvSpPr>
          <p:nvPr>
            <p:ph sz="quarter" idx="1"/>
          </p:nvPr>
        </p:nvSpPr>
        <p:spPr>
          <a:xfrm>
            <a:off x="2362200" y="1752600"/>
            <a:ext cx="6400800" cy="44196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429" name=""/>
        <p:cNvGrpSpPr/>
        <p:nvPr/>
      </p:nvGrpSpPr>
      <p:grpSpPr>
        <a:xfrm>
          <a:off x="0" y="0"/>
          <a:ext cx="0" cy="0"/>
          <a:chOff x="0" y="0"/>
          <a:chExt cx="0" cy="0"/>
        </a:xfrm>
      </p:grpSpPr>
      <p:sp>
        <p:nvSpPr>
          <p:cNvPr id="1049042" name="Text Placeholder 3"/>
          <p:cNvSpPr>
            <a:spLocks noGrp="1"/>
          </p:cNvSpPr>
          <p:nvPr>
            <p:ph type="body" sz="half" idx="2"/>
          </p:nvPr>
        </p:nvSpPr>
        <p:spPr>
          <a:xfrm>
            <a:off x="1600200" y="5486400"/>
            <a:ext cx="7315200" cy="685800"/>
          </a:xfrm>
        </p:spPr>
        <p:txBody>
          <a:bodyPr/>
          <a:lstStyle>
            <a:lvl1pPr indent="0" marL="0">
              <a:buFontTx/>
              <a:buNone/>
              <a:defRPr sz="1700"/>
            </a:lvl1pPr>
            <a:lvl2pPr>
              <a:buFontTx/>
              <a:buNone/>
              <a:defRPr sz="1200"/>
            </a:lvl2pPr>
            <a:lvl3pPr>
              <a:buFontTx/>
              <a:buNone/>
              <a:defRPr sz="1000"/>
            </a:lvl3pPr>
            <a:lvl4pPr>
              <a:buFontTx/>
              <a:buNone/>
              <a:defRPr sz="900"/>
            </a:lvl4pPr>
            <a:lvl5pPr>
              <a:buFontTx/>
              <a:buNone/>
              <a:defRPr sz="900"/>
            </a:lvl5pPr>
          </a:lstStyle>
          <a:p>
            <a:pPr eaLnBrk="1" hangingPunct="1" latinLnBrk="0" lvl="0"/>
            <a:r>
              <a:rPr kumimoji="0" lang="en-US" smtClean="0"/>
              <a:t>Click to edit Master text styles</a:t>
            </a:r>
          </a:p>
        </p:txBody>
      </p:sp>
      <p:sp>
        <p:nvSpPr>
          <p:cNvPr id="1049043" name="Rectangle 7"/>
          <p:cNvSpPr/>
          <p:nvPr/>
        </p:nvSpPr>
        <p:spPr bwMode="white">
          <a:xfrm>
            <a:off x="-9144" y="4572000"/>
            <a:ext cx="9144000" cy="886968"/>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44" name="Rectangle 8"/>
          <p:cNvSpPr/>
          <p:nvPr/>
        </p:nvSpPr>
        <p:spPr>
          <a:xfrm>
            <a:off x="-9144" y="4663440"/>
            <a:ext cx="1463040" cy="713232"/>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45" name="Rectangle 9"/>
          <p:cNvSpPr/>
          <p:nvPr/>
        </p:nvSpPr>
        <p:spPr>
          <a:xfrm>
            <a:off x="1545336" y="4654296"/>
            <a:ext cx="7598664" cy="713232"/>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46" name="Title 1"/>
          <p:cNvSpPr>
            <a:spLocks noGrp="1"/>
          </p:cNvSpPr>
          <p:nvPr>
            <p:ph type="title"/>
          </p:nvPr>
        </p:nvSpPr>
        <p:spPr>
          <a:xfrm>
            <a:off x="1600200" y="4648200"/>
            <a:ext cx="7315200" cy="685800"/>
          </a:xfrm>
        </p:spPr>
        <p:txBody>
          <a:bodyPr anchor="ctr"/>
          <a:lstStyle>
            <a:lvl1pPr algn="l">
              <a:buNone/>
              <a:defRPr b="0" sz="2800">
                <a:solidFill>
                  <a:srgbClr val="FFFFFF"/>
                </a:solidFill>
              </a:defRPr>
            </a:lvl1pPr>
          </a:lstStyle>
          <a:p>
            <a:r>
              <a:rPr kumimoji="0" lang="en-US" smtClean="0"/>
              <a:t>Click to edit Master title style</a:t>
            </a:r>
            <a:endParaRPr kumimoji="0" lang="en-US"/>
          </a:p>
        </p:txBody>
      </p:sp>
      <p:sp>
        <p:nvSpPr>
          <p:cNvPr id="1049047" name="Rectangle 10"/>
          <p:cNvSpPr/>
          <p:nvPr/>
        </p:nvSpPr>
        <p:spPr bwMode="white">
          <a:xfrm>
            <a:off x="1447800" y="0"/>
            <a:ext cx="100584" cy="6867144"/>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9048" name="Date Placeholder 11"/>
          <p:cNvSpPr>
            <a:spLocks noGrp="1"/>
          </p:cNvSpPr>
          <p:nvPr>
            <p:ph type="dt" sz="half" idx="10"/>
          </p:nvPr>
        </p:nvSpPr>
        <p:spPr>
          <a:xfrm>
            <a:off x="6248400" y="6248402"/>
            <a:ext cx="2667000" cy="365125"/>
          </a:xfrm>
        </p:spPr>
        <p:txBody>
          <a:bodyPr rtlCol="0"/>
          <a:p>
            <a:fld id="{41793E4B-AF08-4EF5-BDE7-9DF0939D1780}" type="datetimeFigureOut">
              <a:rPr lang="en-US" smtClean="0"/>
              <a:t>2/10/2016</a:t>
            </a:fld>
            <a:endParaRPr lang="en-US"/>
          </a:p>
        </p:txBody>
      </p:sp>
      <p:sp>
        <p:nvSpPr>
          <p:cNvPr id="1049049" name="Slide Number Placeholder 12"/>
          <p:cNvSpPr>
            <a:spLocks noGrp="1"/>
          </p:cNvSpPr>
          <p:nvPr>
            <p:ph type="sldNum" sz="quarter" idx="11"/>
          </p:nvPr>
        </p:nvSpPr>
        <p:spPr>
          <a:xfrm>
            <a:off x="0" y="4667251"/>
            <a:ext cx="1447800" cy="663578"/>
          </a:xfrm>
        </p:spPr>
        <p:txBody>
          <a:bodyPr rtlCol="0"/>
          <a:lstStyle>
            <a:lvl1pPr>
              <a:defRPr sz="2800"/>
            </a:lvl1pPr>
          </a:lstStyle>
          <a:p>
            <a:fld id="{08AA56A4-ACE6-4418-8F94-C9D452C3DDAF}" type="slidenum">
              <a:rPr lang="en-US" smtClean="0"/>
              <a:t>‹#›</a:t>
            </a:fld>
            <a:endParaRPr lang="en-US"/>
          </a:p>
        </p:txBody>
      </p:sp>
      <p:sp>
        <p:nvSpPr>
          <p:cNvPr id="1049050" name="Footer Placeholder 13"/>
          <p:cNvSpPr>
            <a:spLocks noGrp="1"/>
          </p:cNvSpPr>
          <p:nvPr>
            <p:ph type="ftr" sz="quarter" idx="12"/>
          </p:nvPr>
        </p:nvSpPr>
        <p:spPr>
          <a:xfrm>
            <a:off x="1600200" y="6248208"/>
            <a:ext cx="4572000" cy="365125"/>
          </a:xfrm>
        </p:spPr>
        <p:txBody>
          <a:bodyPr rtlCol="0"/>
          <a:p>
            <a:endParaRPr lang="en-US"/>
          </a:p>
        </p:txBody>
      </p:sp>
      <p:sp>
        <p:nvSpPr>
          <p:cNvPr id="1049051"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indent="0" marL="0">
              <a:buNone/>
              <a:defRPr sz="3200"/>
            </a:lvl1pPr>
          </a:lstStyle>
          <a:p>
            <a:r>
              <a:rPr kumimoji="0" lang="en-US" smtClean="0"/>
              <a:t>Click icon to add picture</a:t>
            </a:r>
            <a:endParaRPr dirty="0" kumimoji="0" lang="en-US"/>
          </a:p>
        </p:txBody>
      </p:sp>
    </p:spTree>
  </p:cSld>
  <p:clrMapOvr>
    <a:overrideClrMapping accent1="accent1" accent2="accent2" accent3="accent3" accent4="accent4" accent5="accent5" accent6="accent6" bg1="lt1" bg2="lt2" tx1="dk1" tx2="dk2"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type="vertTx">
  <p:cSld name="Title and Vertical Text">
    <p:spTree>
      <p:nvGrpSpPr>
        <p:cNvPr id="430" name=""/>
        <p:cNvGrpSpPr/>
        <p:nvPr/>
      </p:nvGrpSpPr>
      <p:grpSpPr>
        <a:xfrm>
          <a:off x="0" y="0"/>
          <a:ext cx="0" cy="0"/>
          <a:chOff x="0" y="0"/>
          <a:chExt cx="0" cy="0"/>
        </a:xfrm>
      </p:grpSpPr>
      <p:sp>
        <p:nvSpPr>
          <p:cNvPr id="1049052" name="Title 1"/>
          <p:cNvSpPr>
            <a:spLocks noGrp="1"/>
          </p:cNvSpPr>
          <p:nvPr>
            <p:ph type="title"/>
          </p:nvPr>
        </p:nvSpPr>
        <p:spPr/>
        <p:txBody>
          <a:bodyPr/>
          <a:p>
            <a:r>
              <a:rPr kumimoji="0" lang="en-US" smtClean="0"/>
              <a:t>Click to edit Master title style</a:t>
            </a:r>
            <a:endParaRPr kumimoji="0" lang="en-US"/>
          </a:p>
        </p:txBody>
      </p:sp>
      <p:sp>
        <p:nvSpPr>
          <p:cNvPr id="1049053"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54" name="Date Placeholder 3"/>
          <p:cNvSpPr>
            <a:spLocks noGrp="1"/>
          </p:cNvSpPr>
          <p:nvPr>
            <p:ph type="dt" sz="half" idx="10"/>
          </p:nvPr>
        </p:nvSpPr>
        <p:spPr/>
        <p:txBody>
          <a:bodyPr/>
          <a:p>
            <a:fld id="{41793E4B-AF08-4EF5-BDE7-9DF0939D1780}" type="datetimeFigureOut">
              <a:rPr lang="en-US" smtClean="0"/>
              <a:t>2/10/2016</a:t>
            </a:fld>
            <a:endParaRPr lang="en-US"/>
          </a:p>
        </p:txBody>
      </p:sp>
      <p:sp>
        <p:nvSpPr>
          <p:cNvPr id="1049055" name="Footer Placeholder 4"/>
          <p:cNvSpPr>
            <a:spLocks noGrp="1"/>
          </p:cNvSpPr>
          <p:nvPr>
            <p:ph type="ftr" sz="quarter" idx="11"/>
          </p:nvPr>
        </p:nvSpPr>
        <p:spPr/>
        <p:txBody>
          <a:bodyPr/>
          <a:p>
            <a:endParaRPr lang="en-US"/>
          </a:p>
        </p:txBody>
      </p:sp>
      <p:sp>
        <p:nvSpPr>
          <p:cNvPr id="1049056" name="Slide Number Placeholder 5"/>
          <p:cNvSpPr>
            <a:spLocks noGrp="1"/>
          </p:cNvSpPr>
          <p:nvPr>
            <p:ph type="sldNum" sz="quarter" idx="12"/>
          </p:nvPr>
        </p:nvSpPr>
        <p:spPr/>
        <p:txBody>
          <a:bodyPr/>
          <a:p>
            <a:fld id="{08AA56A4-ACE6-4418-8F94-C9D452C3DDA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428" name=""/>
        <p:cNvGrpSpPr/>
        <p:nvPr/>
      </p:nvGrpSpPr>
      <p:grpSpPr>
        <a:xfrm>
          <a:off x="0" y="0"/>
          <a:ext cx="0" cy="0"/>
          <a:chOff x="0" y="0"/>
          <a:chExt cx="0" cy="0"/>
        </a:xfrm>
      </p:grpSpPr>
      <p:sp>
        <p:nvSpPr>
          <p:cNvPr id="1049034" name="Vertical Title 1"/>
          <p:cNvSpPr>
            <a:spLocks noGrp="1"/>
          </p:cNvSpPr>
          <p:nvPr>
            <p:ph type="title" orient="vert"/>
          </p:nvPr>
        </p:nvSpPr>
        <p:spPr>
          <a:xfrm>
            <a:off x="6553200" y="609602"/>
            <a:ext cx="2057400" cy="5516563"/>
          </a:xfrm>
        </p:spPr>
        <p:txBody>
          <a:bodyPr vert="eaVert"/>
          <a:p>
            <a:r>
              <a:rPr kumimoji="0" lang="en-US" smtClean="0"/>
              <a:t>Click to edit Master title style</a:t>
            </a:r>
            <a:endParaRPr kumimoji="0" lang="en-US"/>
          </a:p>
        </p:txBody>
      </p:sp>
      <p:sp>
        <p:nvSpPr>
          <p:cNvPr id="1049035" name="Vertical Text Placeholder 2"/>
          <p:cNvSpPr>
            <a:spLocks noGrp="1"/>
          </p:cNvSpPr>
          <p:nvPr>
            <p:ph type="body" orient="vert" idx="1"/>
          </p:nvPr>
        </p:nvSpPr>
        <p:spPr>
          <a:xfrm>
            <a:off x="457200" y="609601"/>
            <a:ext cx="5562600" cy="5516564"/>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36" name="Date Placeholder 3"/>
          <p:cNvSpPr>
            <a:spLocks noGrp="1"/>
          </p:cNvSpPr>
          <p:nvPr>
            <p:ph type="dt" sz="half" idx="10"/>
          </p:nvPr>
        </p:nvSpPr>
        <p:spPr>
          <a:xfrm>
            <a:off x="6553200" y="6248404"/>
            <a:ext cx="2209800" cy="365125"/>
          </a:xfrm>
        </p:spPr>
        <p:txBody>
          <a:bodyPr/>
          <a:p>
            <a:fld id="{41793E4B-AF08-4EF5-BDE7-9DF0939D1780}" type="datetimeFigureOut">
              <a:rPr lang="en-US" smtClean="0"/>
              <a:t>2/10/2016</a:t>
            </a:fld>
            <a:endParaRPr lang="en-US"/>
          </a:p>
        </p:txBody>
      </p:sp>
      <p:sp>
        <p:nvSpPr>
          <p:cNvPr id="1049037" name="Footer Placeholder 4"/>
          <p:cNvSpPr>
            <a:spLocks noGrp="1"/>
          </p:cNvSpPr>
          <p:nvPr>
            <p:ph type="ftr" sz="quarter" idx="11"/>
          </p:nvPr>
        </p:nvSpPr>
        <p:spPr>
          <a:xfrm>
            <a:off x="457201" y="6248209"/>
            <a:ext cx="5573483" cy="365125"/>
          </a:xfrm>
        </p:spPr>
        <p:txBody>
          <a:bodyPr/>
          <a:p>
            <a:endParaRPr lang="en-US"/>
          </a:p>
        </p:txBody>
      </p:sp>
      <p:sp>
        <p:nvSpPr>
          <p:cNvPr id="1049038" name="Rectangle 6"/>
          <p:cNvSpPr/>
          <p:nvPr/>
        </p:nvSpPr>
        <p:spPr bwMode="white">
          <a:xfrm>
            <a:off x="6096319" y="0"/>
            <a:ext cx="320040" cy="6858000"/>
          </a:xfrm>
          <a:prstGeom prst="rect"/>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49039" name="Rectangle 7"/>
          <p:cNvSpPr/>
          <p:nvPr/>
        </p:nvSpPr>
        <p:spPr>
          <a:xfrm>
            <a:off x="6142039" y="609600"/>
            <a:ext cx="228600" cy="6248400"/>
          </a:xfrm>
          <a:prstGeom prst="rect"/>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49040" name="Rectangle 8"/>
          <p:cNvSpPr/>
          <p:nvPr/>
        </p:nvSpPr>
        <p:spPr>
          <a:xfrm>
            <a:off x="6142039" y="0"/>
            <a:ext cx="228600" cy="533400"/>
          </a:xfrm>
          <a:prstGeom prst="rect"/>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49041" name="Slide Number Placeholder 5"/>
          <p:cNvSpPr>
            <a:spLocks noGrp="1"/>
          </p:cNvSpPr>
          <p:nvPr>
            <p:ph type="sldNum" sz="quarter" idx="12"/>
          </p:nvPr>
        </p:nvSpPr>
        <p:spPr>
          <a:xfrm rot="5400000">
            <a:off x="5989639" y="144464"/>
            <a:ext cx="533400" cy="244476"/>
          </a:xfrm>
        </p:spPr>
        <p:txBody>
          <a:bodyPr/>
          <a:p>
            <a:fld id="{08AA56A4-ACE6-4418-8F94-C9D452C3DDAF}" type="slidenum">
              <a:rPr lang="en-US" smtClean="0"/>
              <a:t>‹#›</a:t>
            </a:fld>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420" name=""/>
        <p:cNvGrpSpPr/>
        <p:nvPr/>
      </p:nvGrpSpPr>
      <p:grpSpPr>
        <a:xfrm>
          <a:off x="0" y="0"/>
          <a:ext cx="0" cy="0"/>
          <a:chOff x="0" y="0"/>
          <a:chExt cx="0" cy="0"/>
        </a:xfrm>
      </p:grpSpPr>
      <p:sp>
        <p:nvSpPr>
          <p:cNvPr id="1048981" name="Rectangle 6"/>
          <p:cNvSpPr/>
          <p:nvPr/>
        </p:nvSpPr>
        <p:spPr bwMode="white">
          <a:xfrm>
            <a:off x="0" y="5971032"/>
            <a:ext cx="9144000" cy="886968"/>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82" name="Rectangle 9"/>
          <p:cNvSpPr/>
          <p:nvPr/>
        </p:nvSpPr>
        <p:spPr>
          <a:xfrm>
            <a:off x="-9144" y="6053328"/>
            <a:ext cx="2249424" cy="713232"/>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83" name="Rectangle 10"/>
          <p:cNvSpPr/>
          <p:nvPr/>
        </p:nvSpPr>
        <p:spPr>
          <a:xfrm>
            <a:off x="2359152" y="6044184"/>
            <a:ext cx="6784848" cy="713232"/>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84" name="Title 7"/>
          <p:cNvSpPr>
            <a:spLocks noGrp="1"/>
          </p:cNvSpPr>
          <p:nvPr>
            <p:ph type="ctrTitle"/>
          </p:nvPr>
        </p:nvSpPr>
        <p:spPr>
          <a:xfrm>
            <a:off x="2362200" y="4038600"/>
            <a:ext cx="6477000" cy="1828800"/>
          </a:xfrm>
        </p:spPr>
        <p:txBody>
          <a:bodyPr anchor="b"/>
          <a:lstStyle>
            <a:lvl1pPr>
              <a:defRPr baseline="0" cap="all"/>
            </a:lvl1pPr>
          </a:lstStyle>
          <a:p>
            <a:r>
              <a:rPr kumimoji="0" lang="en-US" smtClean="0"/>
              <a:t>Click to edit Master title style</a:t>
            </a:r>
            <a:endParaRPr kumimoji="0" lang="en-US"/>
          </a:p>
        </p:txBody>
      </p:sp>
      <p:sp>
        <p:nvSpPr>
          <p:cNvPr id="1048985" name="Subtitle 8"/>
          <p:cNvSpPr>
            <a:spLocks noGrp="1"/>
          </p:cNvSpPr>
          <p:nvPr>
            <p:ph type="subTitle" idx="1"/>
          </p:nvPr>
        </p:nvSpPr>
        <p:spPr>
          <a:xfrm>
            <a:off x="2362200" y="6050037"/>
            <a:ext cx="6705600" cy="685800"/>
          </a:xfrm>
        </p:spPr>
        <p:txBody>
          <a:bodyPr anchor="ctr">
            <a:normAutofit/>
          </a:bodyPr>
          <a:lstStyle>
            <a:lvl1pPr algn="l" indent="0" marL="0">
              <a:buNone/>
              <a:defRPr sz="2600">
                <a:solidFill>
                  <a:srgbClr val="FFFFFF"/>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986"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41793E4B-AF08-4EF5-BDE7-9DF0939D1780}" type="datetimeFigureOut">
              <a:rPr lang="en-US" smtClean="0"/>
              <a:t>2/10/2016</a:t>
            </a:fld>
            <a:endParaRPr lang="en-US"/>
          </a:p>
        </p:txBody>
      </p:sp>
      <p:sp>
        <p:nvSpPr>
          <p:cNvPr id="1048987" name="Footer Placeholder 16"/>
          <p:cNvSpPr>
            <a:spLocks noGrp="1"/>
          </p:cNvSpPr>
          <p:nvPr>
            <p:ph type="ftr" sz="quarter" idx="11"/>
          </p:nvPr>
        </p:nvSpPr>
        <p:spPr>
          <a:xfrm>
            <a:off x="2085393" y="236540"/>
            <a:ext cx="5867400" cy="365125"/>
          </a:xfrm>
        </p:spPr>
        <p:txBody>
          <a:bodyPr/>
          <a:lstStyle>
            <a:lvl1pPr algn="r">
              <a:defRPr>
                <a:solidFill>
                  <a:schemeClr val="tx2"/>
                </a:solidFill>
              </a:defRPr>
            </a:lvl1pPr>
          </a:lstStyle>
          <a:p>
            <a:endParaRPr lang="en-US"/>
          </a:p>
        </p:txBody>
      </p:sp>
      <p:sp>
        <p:nvSpPr>
          <p:cNvPr id="1048988"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08AA56A4-ACE6-4418-8F94-C9D452C3DDAF}" type="slidenum">
              <a:rPr lang="en-US" smtClean="0"/>
              <a:t>‹#›</a:t>
            </a:fld>
            <a:endParaRPr lang="en-US"/>
          </a:p>
        </p:txBody>
      </p:sp>
    </p:spTree>
  </p:cSld>
  <p:clrMapOvr>
    <a:overrideClrMapping accent1="accent1" accent2="accent2" accent3="accent3" accent4="accent4" accent5="accent5" accent6="accent6" bg1="dk1" bg2="dk2" tx1="lt1" tx2="lt2"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type="obj">
  <p:cSld name="Title and Content">
    <p:spTree>
      <p:nvGrpSpPr>
        <p:cNvPr id="205" name=""/>
        <p:cNvGrpSpPr/>
        <p:nvPr/>
      </p:nvGrpSpPr>
      <p:grpSpPr>
        <a:xfrm>
          <a:off x="0" y="0"/>
          <a:ext cx="0" cy="0"/>
          <a:chOff x="0" y="0"/>
          <a:chExt cx="0" cy="0"/>
        </a:xfrm>
      </p:grpSpPr>
      <p:sp>
        <p:nvSpPr>
          <p:cNvPr id="1048584" name="Title 1"/>
          <p:cNvSpPr>
            <a:spLocks noGrp="1"/>
          </p:cNvSpPr>
          <p:nvPr>
            <p:ph type="title"/>
          </p:nvPr>
        </p:nvSpPr>
        <p:spPr>
          <a:xfrm>
            <a:off x="612648" y="228600"/>
            <a:ext cx="8153400" cy="990600"/>
          </a:xfrm>
        </p:spPr>
        <p:txBody>
          <a:bodyPr/>
          <a:p>
            <a:r>
              <a:rPr kumimoji="0" lang="en-US" smtClean="0"/>
              <a:t>Click to edit Master title style</a:t>
            </a:r>
            <a:endParaRPr kumimoji="0" lang="en-US"/>
          </a:p>
        </p:txBody>
      </p:sp>
      <p:sp>
        <p:nvSpPr>
          <p:cNvPr id="1048585" name="Date Placeholder 3"/>
          <p:cNvSpPr>
            <a:spLocks noGrp="1"/>
          </p:cNvSpPr>
          <p:nvPr>
            <p:ph type="dt" sz="half" idx="10"/>
          </p:nvPr>
        </p:nvSpPr>
        <p:spPr/>
        <p:txBody>
          <a:bodyPr/>
          <a:p>
            <a:fld id="{41793E4B-AF08-4EF5-BDE7-9DF0939D1780}" type="datetimeFigureOut">
              <a:rPr lang="en-US" smtClean="0"/>
              <a:t>2/10/2016</a:t>
            </a:fld>
            <a:endParaRPr lang="en-US"/>
          </a:p>
        </p:txBody>
      </p:sp>
      <p:sp>
        <p:nvSpPr>
          <p:cNvPr id="1048586" name="Footer Placeholder 4"/>
          <p:cNvSpPr>
            <a:spLocks noGrp="1"/>
          </p:cNvSpPr>
          <p:nvPr>
            <p:ph type="ftr" sz="quarter" idx="11"/>
          </p:nvPr>
        </p:nvSpPr>
        <p:spPr/>
        <p:txBody>
          <a:bodyPr/>
          <a:p>
            <a:endParaRPr lang="en-US"/>
          </a:p>
        </p:txBody>
      </p:sp>
      <p:sp>
        <p:nvSpPr>
          <p:cNvPr id="1048587" name="Slide Number Placeholder 5"/>
          <p:cNvSpPr>
            <a:spLocks noGrp="1"/>
          </p:cNvSpPr>
          <p:nvPr>
            <p:ph type="sldNum" sz="quarter" idx="12"/>
          </p:nvPr>
        </p:nvSpPr>
        <p:spPr/>
        <p:txBody>
          <a:bodyPr/>
          <a:lstStyle>
            <a:lvl1pPr>
              <a:defRPr>
                <a:solidFill>
                  <a:srgbClr val="FFFFFF"/>
                </a:solidFill>
              </a:defRPr>
            </a:lvl1pPr>
          </a:lstStyle>
          <a:p>
            <a:fld id="{08AA56A4-ACE6-4418-8F94-C9D452C3DDAF}" type="slidenum">
              <a:rPr lang="en-US" smtClean="0"/>
              <a:t>‹#›</a:t>
            </a:fld>
            <a:endParaRPr lang="en-US"/>
          </a:p>
        </p:txBody>
      </p:sp>
      <p:sp>
        <p:nvSpPr>
          <p:cNvPr id="1048588" name="Content Placeholder 7"/>
          <p:cNvSpPr>
            <a:spLocks noGrp="1"/>
          </p:cNvSpPr>
          <p:nvPr>
            <p:ph sz="quarter" idx="1"/>
          </p:nvPr>
        </p:nvSpPr>
        <p:spPr>
          <a:xfrm>
            <a:off x="612648" y="1600200"/>
            <a:ext cx="8153400" cy="44958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345" name=""/>
        <p:cNvGrpSpPr/>
        <p:nvPr/>
      </p:nvGrpSpPr>
      <p:grpSpPr>
        <a:xfrm>
          <a:off x="0" y="0"/>
          <a:ext cx="0" cy="0"/>
          <a:chOff x="0" y="0"/>
          <a:chExt cx="0" cy="0"/>
        </a:xfrm>
      </p:grpSpPr>
      <p:sp>
        <p:nvSpPr>
          <p:cNvPr id="1048842" name="Text Placeholder 2"/>
          <p:cNvSpPr>
            <a:spLocks noGrp="1"/>
          </p:cNvSpPr>
          <p:nvPr>
            <p:ph type="body" idx="1"/>
          </p:nvPr>
        </p:nvSpPr>
        <p:spPr>
          <a:xfrm>
            <a:off x="1371602" y="2743202"/>
            <a:ext cx="7123113" cy="1673225"/>
          </a:xfrm>
        </p:spPr>
        <p:txBody>
          <a:bodyPr anchor="t"/>
          <a:lstStyle>
            <a:lvl1pPr indent="0" marL="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48843" name="Rectangle 6"/>
          <p:cNvSpPr/>
          <p:nvPr/>
        </p:nvSpPr>
        <p:spPr bwMode="white">
          <a:xfrm>
            <a:off x="0" y="1524000"/>
            <a:ext cx="9144000" cy="1143000"/>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844" name="Rectangle 7"/>
          <p:cNvSpPr/>
          <p:nvPr/>
        </p:nvSpPr>
        <p:spPr>
          <a:xfrm>
            <a:off x="0" y="1600200"/>
            <a:ext cx="1295400" cy="990600"/>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845" name="Rectangle 8"/>
          <p:cNvSpPr/>
          <p:nvPr/>
        </p:nvSpPr>
        <p:spPr>
          <a:xfrm>
            <a:off x="1371600" y="1600200"/>
            <a:ext cx="7772400" cy="990600"/>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846" name="Title 1"/>
          <p:cNvSpPr>
            <a:spLocks noGrp="1"/>
          </p:cNvSpPr>
          <p:nvPr>
            <p:ph type="title"/>
          </p:nvPr>
        </p:nvSpPr>
        <p:spPr>
          <a:xfrm>
            <a:off x="1371600" y="1600200"/>
            <a:ext cx="7620000" cy="990600"/>
          </a:xfrm>
        </p:spPr>
        <p:txBody>
          <a:bodyPr/>
          <a:lstStyle>
            <a:lvl1pPr algn="l">
              <a:buNone/>
              <a:defRPr b="0" cap="none" sz="4400">
                <a:solidFill>
                  <a:srgbClr val="FFFFFF"/>
                </a:solidFill>
              </a:defRPr>
            </a:lvl1pPr>
          </a:lstStyle>
          <a:p>
            <a:r>
              <a:rPr kumimoji="0" lang="en-US" smtClean="0"/>
              <a:t>Click to edit Master title style</a:t>
            </a:r>
            <a:endParaRPr kumimoji="0" lang="en-US"/>
          </a:p>
        </p:txBody>
      </p:sp>
      <p:sp>
        <p:nvSpPr>
          <p:cNvPr id="1048847" name="Date Placeholder 11"/>
          <p:cNvSpPr>
            <a:spLocks noGrp="1"/>
          </p:cNvSpPr>
          <p:nvPr>
            <p:ph type="dt" sz="half" idx="10"/>
          </p:nvPr>
        </p:nvSpPr>
        <p:spPr/>
        <p:txBody>
          <a:bodyPr/>
          <a:p>
            <a:fld id="{41793E4B-AF08-4EF5-BDE7-9DF0939D1780}" type="datetimeFigureOut">
              <a:rPr lang="en-US" smtClean="0"/>
              <a:t>2/10/2016</a:t>
            </a:fld>
            <a:endParaRPr lang="en-US"/>
          </a:p>
        </p:txBody>
      </p:sp>
      <p:sp>
        <p:nvSpPr>
          <p:cNvPr id="1048848"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8AA56A4-ACE6-4418-8F94-C9D452C3DDAF}" type="slidenum">
              <a:rPr lang="en-US" smtClean="0"/>
              <a:t>‹#›</a:t>
            </a:fld>
            <a:endParaRPr lang="en-US"/>
          </a:p>
        </p:txBody>
      </p:sp>
      <p:sp>
        <p:nvSpPr>
          <p:cNvPr id="1048849" name="Footer Placeholder 13"/>
          <p:cNvSpPr>
            <a:spLocks noGrp="1"/>
          </p:cNvSpPr>
          <p:nvPr>
            <p:ph type="ftr" sz="quarter" idx="12"/>
          </p:nvPr>
        </p:nvSpPr>
        <p:spPr/>
        <p:txBody>
          <a:bodyPr/>
          <a:p>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type="twoObj">
  <p:cSld name="Two Content">
    <p:spTree>
      <p:nvGrpSpPr>
        <p:cNvPr id="215" name=""/>
        <p:cNvGrpSpPr/>
        <p:nvPr/>
      </p:nvGrpSpPr>
      <p:grpSpPr>
        <a:xfrm>
          <a:off x="0" y="0"/>
          <a:ext cx="0" cy="0"/>
          <a:chOff x="0" y="0"/>
          <a:chExt cx="0" cy="0"/>
        </a:xfrm>
      </p:grpSpPr>
      <p:sp>
        <p:nvSpPr>
          <p:cNvPr id="1048601" name="Title 1"/>
          <p:cNvSpPr>
            <a:spLocks noGrp="1"/>
          </p:cNvSpPr>
          <p:nvPr>
            <p:ph type="title"/>
          </p:nvPr>
        </p:nvSpPr>
        <p:spPr/>
        <p:txBody>
          <a:bodyPr/>
          <a:p>
            <a:r>
              <a:rPr kumimoji="0" lang="en-US" smtClean="0"/>
              <a:t>Click to edit Master title style</a:t>
            </a:r>
            <a:endParaRPr kumimoji="0" lang="en-US"/>
          </a:p>
        </p:txBody>
      </p:sp>
      <p:sp>
        <p:nvSpPr>
          <p:cNvPr id="1048602" name="Content Placeholder 8"/>
          <p:cNvSpPr>
            <a:spLocks noGrp="1"/>
          </p:cNvSpPr>
          <p:nvPr>
            <p:ph sz="quarter" idx="1"/>
          </p:nvPr>
        </p:nvSpPr>
        <p:spPr>
          <a:xfrm>
            <a:off x="609600" y="1589567"/>
            <a:ext cx="388620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03" name="Content Placeholder 10"/>
          <p:cNvSpPr>
            <a:spLocks noGrp="1"/>
          </p:cNvSpPr>
          <p:nvPr>
            <p:ph sz="quarter" idx="2"/>
          </p:nvPr>
        </p:nvSpPr>
        <p:spPr>
          <a:xfrm>
            <a:off x="4844901" y="1589567"/>
            <a:ext cx="3886200" cy="45720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04" name="Date Placeholder 7"/>
          <p:cNvSpPr>
            <a:spLocks noGrp="1"/>
          </p:cNvSpPr>
          <p:nvPr>
            <p:ph type="dt" sz="half" idx="15"/>
          </p:nvPr>
        </p:nvSpPr>
        <p:spPr/>
        <p:txBody>
          <a:bodyPr rtlCol="0"/>
          <a:p>
            <a:fld id="{41793E4B-AF08-4EF5-BDE7-9DF0939D1780}" type="datetimeFigureOut">
              <a:rPr lang="en-US" smtClean="0"/>
              <a:t>2/10/2016</a:t>
            </a:fld>
            <a:endParaRPr lang="en-US"/>
          </a:p>
        </p:txBody>
      </p:sp>
      <p:sp>
        <p:nvSpPr>
          <p:cNvPr id="1048605" name="Slide Number Placeholder 9"/>
          <p:cNvSpPr>
            <a:spLocks noGrp="1"/>
          </p:cNvSpPr>
          <p:nvPr>
            <p:ph type="sldNum" sz="quarter" idx="16"/>
          </p:nvPr>
        </p:nvSpPr>
        <p:spPr/>
        <p:txBody>
          <a:bodyPr rtlCol="0"/>
          <a:p>
            <a:fld id="{08AA56A4-ACE6-4418-8F94-C9D452C3DDAF}" type="slidenum">
              <a:rPr lang="en-US" smtClean="0"/>
              <a:t>‹#›</a:t>
            </a:fld>
            <a:endParaRPr lang="en-US"/>
          </a:p>
        </p:txBody>
      </p:sp>
      <p:sp>
        <p:nvSpPr>
          <p:cNvPr id="1048606" name="Footer Placeholder 11"/>
          <p:cNvSpPr>
            <a:spLocks noGrp="1"/>
          </p:cNvSpPr>
          <p:nvPr>
            <p:ph type="ftr" sz="quarter" idx="17"/>
          </p:nvPr>
        </p:nvSpPr>
        <p:spPr/>
        <p:txBody>
          <a:bodyPr rtlCol="0"/>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type="twoTxTwoObj">
  <p:cSld name="Comparison">
    <p:spTree>
      <p:nvGrpSpPr>
        <p:cNvPr id="411" name=""/>
        <p:cNvGrpSpPr/>
        <p:nvPr/>
      </p:nvGrpSpPr>
      <p:grpSpPr>
        <a:xfrm>
          <a:off x="0" y="0"/>
          <a:ext cx="0" cy="0"/>
          <a:chOff x="0" y="0"/>
          <a:chExt cx="0" cy="0"/>
        </a:xfrm>
      </p:grpSpPr>
      <p:sp>
        <p:nvSpPr>
          <p:cNvPr id="1048955" name="Title 1"/>
          <p:cNvSpPr>
            <a:spLocks noGrp="1"/>
          </p:cNvSpPr>
          <p:nvPr>
            <p:ph type="title"/>
          </p:nvPr>
        </p:nvSpPr>
        <p:spPr>
          <a:xfrm>
            <a:off x="533400" y="273051"/>
            <a:ext cx="8153400" cy="869950"/>
          </a:xfrm>
        </p:spPr>
        <p:txBody>
          <a:bodyPr anchor="ctr"/>
          <a:p>
            <a:r>
              <a:rPr kumimoji="0" lang="en-US" smtClean="0"/>
              <a:t>Click to edit Master title style</a:t>
            </a:r>
            <a:endParaRPr kumimoji="0" lang="en-US"/>
          </a:p>
        </p:txBody>
      </p:sp>
      <p:sp>
        <p:nvSpPr>
          <p:cNvPr id="1048956" name="Content Placeholder 10"/>
          <p:cNvSpPr>
            <a:spLocks noGrp="1"/>
          </p:cNvSpPr>
          <p:nvPr>
            <p:ph sz="quarter" idx="2"/>
          </p:nvPr>
        </p:nvSpPr>
        <p:spPr>
          <a:xfrm>
            <a:off x="609600" y="2438400"/>
            <a:ext cx="3886200" cy="35814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57" name="Content Placeholder 12"/>
          <p:cNvSpPr>
            <a:spLocks noGrp="1"/>
          </p:cNvSpPr>
          <p:nvPr>
            <p:ph sz="quarter" idx="4"/>
          </p:nvPr>
        </p:nvSpPr>
        <p:spPr>
          <a:xfrm>
            <a:off x="4800600" y="2438400"/>
            <a:ext cx="3886200" cy="35814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58" name="Date Placeholder 9"/>
          <p:cNvSpPr>
            <a:spLocks noGrp="1"/>
          </p:cNvSpPr>
          <p:nvPr>
            <p:ph type="dt" sz="half" idx="15"/>
          </p:nvPr>
        </p:nvSpPr>
        <p:spPr/>
        <p:txBody>
          <a:bodyPr rtlCol="0"/>
          <a:p>
            <a:fld id="{41793E4B-AF08-4EF5-BDE7-9DF0939D1780}" type="datetimeFigureOut">
              <a:rPr lang="en-US" smtClean="0"/>
              <a:t>2/10/2016</a:t>
            </a:fld>
            <a:endParaRPr lang="en-US"/>
          </a:p>
        </p:txBody>
      </p:sp>
      <p:sp>
        <p:nvSpPr>
          <p:cNvPr id="1048959" name="Slide Number Placeholder 11"/>
          <p:cNvSpPr>
            <a:spLocks noGrp="1"/>
          </p:cNvSpPr>
          <p:nvPr>
            <p:ph type="sldNum" sz="quarter" idx="16"/>
          </p:nvPr>
        </p:nvSpPr>
        <p:spPr/>
        <p:txBody>
          <a:bodyPr rtlCol="0"/>
          <a:p>
            <a:fld id="{08AA56A4-ACE6-4418-8F94-C9D452C3DDAF}" type="slidenum">
              <a:rPr lang="en-US" smtClean="0"/>
              <a:t>‹#›</a:t>
            </a:fld>
            <a:endParaRPr lang="en-US"/>
          </a:p>
        </p:txBody>
      </p:sp>
      <p:sp>
        <p:nvSpPr>
          <p:cNvPr id="1048960" name="Footer Placeholder 13"/>
          <p:cNvSpPr>
            <a:spLocks noGrp="1"/>
          </p:cNvSpPr>
          <p:nvPr>
            <p:ph type="ftr" sz="quarter" idx="17"/>
          </p:nvPr>
        </p:nvSpPr>
        <p:spPr/>
        <p:txBody>
          <a:bodyPr rtlCol="0"/>
          <a:p>
            <a:endParaRPr lang="en-US"/>
          </a:p>
        </p:txBody>
      </p:sp>
      <p:sp>
        <p:nvSpPr>
          <p:cNvPr id="1048961" name="Text Placeholder 15"/>
          <p:cNvSpPr>
            <a:spLocks noGrp="1"/>
          </p:cNvSpPr>
          <p:nvPr>
            <p:ph type="body" sz="quarter" idx="1"/>
          </p:nvPr>
        </p:nvSpPr>
        <p:spPr>
          <a:xfrm>
            <a:off x="609600" y="1752600"/>
            <a:ext cx="3886200" cy="640080"/>
          </a:xfrm>
          <a:solidFill>
            <a:schemeClr val="accent2"/>
          </a:solidFill>
        </p:spPr>
        <p:txBody>
          <a:bodyPr anchor="ctr" rtlCol="0"/>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
        <p:nvSpPr>
          <p:cNvPr id="1048962" name="Text Placeholder 14"/>
          <p:cNvSpPr>
            <a:spLocks noGrp="1"/>
          </p:cNvSpPr>
          <p:nvPr>
            <p:ph type="body" sz="quarter" idx="3"/>
          </p:nvPr>
        </p:nvSpPr>
        <p:spPr>
          <a:xfrm>
            <a:off x="4800600" y="1752600"/>
            <a:ext cx="3886200" cy="640080"/>
          </a:xfrm>
          <a:solidFill>
            <a:schemeClr val="accent4"/>
          </a:solidFill>
        </p:spPr>
        <p:txBody>
          <a:bodyPr anchor="ctr" rtlCol="0"/>
          <a:lstStyle>
            <a:lvl1pPr indent="0" marL="0">
              <a:buFontTx/>
              <a:buNone/>
              <a:defRPr b="1" sz="2000">
                <a:solidFill>
                  <a:srgbClr val="FFFFFF"/>
                </a:solidFill>
              </a:defRPr>
            </a:lvl1pPr>
          </a:lstStyle>
          <a:p>
            <a:pPr eaLnBrk="1" hangingPunct="1" latinLnBrk="0" lvl="0"/>
            <a:r>
              <a:rPr kumimoji="0" lang="en-US" smtClean="0"/>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type="titleOnly">
  <p:cSld name="Title Only">
    <p:spTree>
      <p:nvGrpSpPr>
        <p:cNvPr id="425" name=""/>
        <p:cNvGrpSpPr/>
        <p:nvPr/>
      </p:nvGrpSpPr>
      <p:grpSpPr>
        <a:xfrm>
          <a:off x="0" y="0"/>
          <a:ext cx="0" cy="0"/>
          <a:chOff x="0" y="0"/>
          <a:chExt cx="0" cy="0"/>
        </a:xfrm>
      </p:grpSpPr>
      <p:sp>
        <p:nvSpPr>
          <p:cNvPr id="1049018" name="Title 1"/>
          <p:cNvSpPr>
            <a:spLocks noGrp="1"/>
          </p:cNvSpPr>
          <p:nvPr>
            <p:ph type="title"/>
          </p:nvPr>
        </p:nvSpPr>
        <p:spPr/>
        <p:txBody>
          <a:bodyPr/>
          <a:p>
            <a:r>
              <a:rPr kumimoji="0" lang="en-US" smtClean="0"/>
              <a:t>Click to edit Master title style</a:t>
            </a:r>
            <a:endParaRPr kumimoji="0" lang="en-US"/>
          </a:p>
        </p:txBody>
      </p:sp>
      <p:sp>
        <p:nvSpPr>
          <p:cNvPr id="1049019" name="Date Placeholder 2"/>
          <p:cNvSpPr>
            <a:spLocks noGrp="1"/>
          </p:cNvSpPr>
          <p:nvPr>
            <p:ph type="dt" sz="half" idx="10"/>
          </p:nvPr>
        </p:nvSpPr>
        <p:spPr/>
        <p:txBody>
          <a:bodyPr/>
          <a:p>
            <a:fld id="{41793E4B-AF08-4EF5-BDE7-9DF0939D1780}" type="datetimeFigureOut">
              <a:rPr lang="en-US" smtClean="0"/>
              <a:t>2/10/2016</a:t>
            </a:fld>
            <a:endParaRPr lang="en-US"/>
          </a:p>
        </p:txBody>
      </p:sp>
      <p:sp>
        <p:nvSpPr>
          <p:cNvPr id="1049020" name="Footer Placeholder 3"/>
          <p:cNvSpPr>
            <a:spLocks noGrp="1"/>
          </p:cNvSpPr>
          <p:nvPr>
            <p:ph type="ftr" sz="quarter" idx="11"/>
          </p:nvPr>
        </p:nvSpPr>
        <p:spPr/>
        <p:txBody>
          <a:bodyPr/>
          <a:p>
            <a:endParaRPr lang="en-US"/>
          </a:p>
        </p:txBody>
      </p:sp>
      <p:sp>
        <p:nvSpPr>
          <p:cNvPr id="1049021" name="Slide Number Placeholder 4"/>
          <p:cNvSpPr>
            <a:spLocks noGrp="1"/>
          </p:cNvSpPr>
          <p:nvPr>
            <p:ph type="sldNum" sz="quarter" idx="12"/>
          </p:nvPr>
        </p:nvSpPr>
        <p:spPr/>
        <p:txBody>
          <a:bodyPr/>
          <a:lstStyle>
            <a:lvl1pPr>
              <a:defRPr>
                <a:solidFill>
                  <a:srgbClr val="FFFFFF"/>
                </a:solidFill>
              </a:defRPr>
            </a:lvl1pPr>
          </a:lstStyle>
          <a:p>
            <a:fld id="{08AA56A4-ACE6-4418-8F94-C9D452C3DDA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419" name=""/>
        <p:cNvGrpSpPr/>
        <p:nvPr/>
      </p:nvGrpSpPr>
      <p:grpSpPr>
        <a:xfrm>
          <a:off x="0" y="0"/>
          <a:ext cx="0" cy="0"/>
          <a:chOff x="0" y="0"/>
          <a:chExt cx="0" cy="0"/>
        </a:xfrm>
      </p:grpSpPr>
      <p:sp>
        <p:nvSpPr>
          <p:cNvPr id="1048978" name="Date Placeholder 1"/>
          <p:cNvSpPr>
            <a:spLocks noGrp="1"/>
          </p:cNvSpPr>
          <p:nvPr>
            <p:ph type="dt" sz="half" idx="10"/>
          </p:nvPr>
        </p:nvSpPr>
        <p:spPr/>
        <p:txBody>
          <a:bodyPr/>
          <a:p>
            <a:fld id="{41793E4B-AF08-4EF5-BDE7-9DF0939D1780}" type="datetimeFigureOut">
              <a:rPr lang="en-US" smtClean="0"/>
              <a:t>2/10/2016</a:t>
            </a:fld>
            <a:endParaRPr lang="en-US"/>
          </a:p>
        </p:txBody>
      </p:sp>
      <p:sp>
        <p:nvSpPr>
          <p:cNvPr id="1048979" name="Footer Placeholder 2"/>
          <p:cNvSpPr>
            <a:spLocks noGrp="1"/>
          </p:cNvSpPr>
          <p:nvPr>
            <p:ph type="ftr" sz="quarter" idx="11"/>
          </p:nvPr>
        </p:nvSpPr>
        <p:spPr/>
        <p:txBody>
          <a:bodyPr/>
          <a:p>
            <a:endParaRPr lang="en-US"/>
          </a:p>
        </p:txBody>
      </p:sp>
      <p:sp>
        <p:nvSpPr>
          <p:cNvPr id="1048980"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08AA56A4-ACE6-4418-8F94-C9D452C3DDA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424" name=""/>
        <p:cNvGrpSpPr/>
        <p:nvPr/>
      </p:nvGrpSpPr>
      <p:grpSpPr>
        <a:xfrm>
          <a:off x="0" y="0"/>
          <a:ext cx="0" cy="0"/>
          <a:chOff x="0" y="0"/>
          <a:chExt cx="0" cy="0"/>
        </a:xfrm>
      </p:grpSpPr>
      <p:sp>
        <p:nvSpPr>
          <p:cNvPr id="1049012" name="Title 1"/>
          <p:cNvSpPr>
            <a:spLocks noGrp="1"/>
          </p:cNvSpPr>
          <p:nvPr>
            <p:ph type="title"/>
          </p:nvPr>
        </p:nvSpPr>
        <p:spPr>
          <a:xfrm>
            <a:off x="609600" y="273051"/>
            <a:ext cx="8077200" cy="869950"/>
          </a:xfrm>
        </p:spPr>
        <p:txBody>
          <a:bodyPr anchor="ctr"/>
          <a:lstStyle>
            <a:lvl1pPr algn="l">
              <a:buNone/>
              <a:defRPr b="0" sz="4400"/>
            </a:lvl1pPr>
          </a:lstStyle>
          <a:p>
            <a:r>
              <a:rPr kumimoji="0" lang="en-US" smtClean="0"/>
              <a:t>Click to edit Master title style</a:t>
            </a:r>
            <a:endParaRPr kumimoji="0" lang="en-US"/>
          </a:p>
        </p:txBody>
      </p:sp>
      <p:sp>
        <p:nvSpPr>
          <p:cNvPr id="1049013" name="Date Placeholder 4"/>
          <p:cNvSpPr>
            <a:spLocks noGrp="1"/>
          </p:cNvSpPr>
          <p:nvPr>
            <p:ph type="dt" sz="half" idx="10"/>
          </p:nvPr>
        </p:nvSpPr>
        <p:spPr/>
        <p:txBody>
          <a:bodyPr/>
          <a:p>
            <a:fld id="{41793E4B-AF08-4EF5-BDE7-9DF0939D1780}" type="datetimeFigureOut">
              <a:rPr lang="en-US" smtClean="0"/>
              <a:t>2/10/2016</a:t>
            </a:fld>
            <a:endParaRPr lang="en-US"/>
          </a:p>
        </p:txBody>
      </p:sp>
      <p:sp>
        <p:nvSpPr>
          <p:cNvPr id="1049014" name="Footer Placeholder 5"/>
          <p:cNvSpPr>
            <a:spLocks noGrp="1"/>
          </p:cNvSpPr>
          <p:nvPr>
            <p:ph type="ftr" sz="quarter" idx="11"/>
          </p:nvPr>
        </p:nvSpPr>
        <p:spPr/>
        <p:txBody>
          <a:bodyPr/>
          <a:p>
            <a:endParaRPr lang="en-US"/>
          </a:p>
        </p:txBody>
      </p:sp>
      <p:sp>
        <p:nvSpPr>
          <p:cNvPr id="1049015" name="Slide Number Placeholder 6"/>
          <p:cNvSpPr>
            <a:spLocks noGrp="1"/>
          </p:cNvSpPr>
          <p:nvPr>
            <p:ph type="sldNum" sz="quarter" idx="12"/>
          </p:nvPr>
        </p:nvSpPr>
        <p:spPr/>
        <p:txBody>
          <a:bodyPr/>
          <a:lstStyle>
            <a:lvl1pPr>
              <a:defRPr>
                <a:solidFill>
                  <a:srgbClr val="FFFFFF"/>
                </a:solidFill>
              </a:defRPr>
            </a:lvl1pPr>
          </a:lstStyle>
          <a:p>
            <a:fld id="{08AA56A4-ACE6-4418-8F94-C9D452C3DDAF}" type="slidenum">
              <a:rPr lang="en-US" smtClean="0"/>
              <a:t>‹#›</a:t>
            </a:fld>
            <a:endParaRPr lang="en-US"/>
          </a:p>
        </p:txBody>
      </p:sp>
      <p:sp>
        <p:nvSpPr>
          <p:cNvPr id="1049016"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bIns="91440" lIns="137160" rIns="137160" tIns="182880"/>
          <a:lstStyle>
            <a:lvl1pPr indent="0" marL="0">
              <a:spcAft>
                <a:spcPts val="1000"/>
              </a:spcAft>
              <a:buNone/>
              <a:defRPr sz="18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49017" name="Content Placeholder 8"/>
          <p:cNvSpPr>
            <a:spLocks noGrp="1"/>
          </p:cNvSpPr>
          <p:nvPr>
            <p:ph sz="quarter" idx="1"/>
          </p:nvPr>
        </p:nvSpPr>
        <p:spPr>
          <a:xfrm>
            <a:off x="2362200" y="1752600"/>
            <a:ext cx="6400800" cy="4419600"/>
          </a:xfrm>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421" name=""/>
        <p:cNvGrpSpPr/>
        <p:nvPr/>
      </p:nvGrpSpPr>
      <p:grpSpPr>
        <a:xfrm>
          <a:off x="0" y="0"/>
          <a:ext cx="0" cy="0"/>
          <a:chOff x="0" y="0"/>
          <a:chExt cx="0" cy="0"/>
        </a:xfrm>
      </p:grpSpPr>
      <p:sp>
        <p:nvSpPr>
          <p:cNvPr id="1048989" name="Text Placeholder 3"/>
          <p:cNvSpPr>
            <a:spLocks noGrp="1"/>
          </p:cNvSpPr>
          <p:nvPr>
            <p:ph type="body" sz="half" idx="2"/>
          </p:nvPr>
        </p:nvSpPr>
        <p:spPr>
          <a:xfrm>
            <a:off x="1600200" y="5486400"/>
            <a:ext cx="7315200" cy="685800"/>
          </a:xfrm>
        </p:spPr>
        <p:txBody>
          <a:bodyPr/>
          <a:lstStyle>
            <a:lvl1pPr indent="0" marL="0">
              <a:buFontTx/>
              <a:buNone/>
              <a:defRPr sz="1700"/>
            </a:lvl1pPr>
            <a:lvl2pPr>
              <a:buFontTx/>
              <a:buNone/>
              <a:defRPr sz="1200"/>
            </a:lvl2pPr>
            <a:lvl3pPr>
              <a:buFontTx/>
              <a:buNone/>
              <a:defRPr sz="1000"/>
            </a:lvl3pPr>
            <a:lvl4pPr>
              <a:buFontTx/>
              <a:buNone/>
              <a:defRPr sz="900"/>
            </a:lvl4pPr>
            <a:lvl5pPr>
              <a:buFontTx/>
              <a:buNone/>
              <a:defRPr sz="900"/>
            </a:lvl5pPr>
          </a:lstStyle>
          <a:p>
            <a:pPr eaLnBrk="1" hangingPunct="1" latinLnBrk="0" lvl="0"/>
            <a:r>
              <a:rPr kumimoji="0" lang="en-US" smtClean="0"/>
              <a:t>Click to edit Master text styles</a:t>
            </a:r>
          </a:p>
        </p:txBody>
      </p:sp>
      <p:sp>
        <p:nvSpPr>
          <p:cNvPr id="1048990" name="Rectangle 7"/>
          <p:cNvSpPr/>
          <p:nvPr/>
        </p:nvSpPr>
        <p:spPr bwMode="white">
          <a:xfrm>
            <a:off x="-9144" y="4572000"/>
            <a:ext cx="9144000" cy="886968"/>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91" name="Rectangle 8"/>
          <p:cNvSpPr/>
          <p:nvPr/>
        </p:nvSpPr>
        <p:spPr>
          <a:xfrm>
            <a:off x="-9144" y="4663440"/>
            <a:ext cx="1463040" cy="713232"/>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92" name="Rectangle 9"/>
          <p:cNvSpPr/>
          <p:nvPr/>
        </p:nvSpPr>
        <p:spPr>
          <a:xfrm>
            <a:off x="1545336" y="4654296"/>
            <a:ext cx="7598664" cy="713232"/>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93" name="Title 1"/>
          <p:cNvSpPr>
            <a:spLocks noGrp="1"/>
          </p:cNvSpPr>
          <p:nvPr>
            <p:ph type="title"/>
          </p:nvPr>
        </p:nvSpPr>
        <p:spPr>
          <a:xfrm>
            <a:off x="1600200" y="4648200"/>
            <a:ext cx="7315200" cy="685800"/>
          </a:xfrm>
        </p:spPr>
        <p:txBody>
          <a:bodyPr anchor="ctr"/>
          <a:lstStyle>
            <a:lvl1pPr algn="l">
              <a:buNone/>
              <a:defRPr b="0" sz="2800">
                <a:solidFill>
                  <a:srgbClr val="FFFFFF"/>
                </a:solidFill>
              </a:defRPr>
            </a:lvl1pPr>
          </a:lstStyle>
          <a:p>
            <a:r>
              <a:rPr kumimoji="0" lang="en-US" smtClean="0"/>
              <a:t>Click to edit Master title style</a:t>
            </a:r>
            <a:endParaRPr kumimoji="0" lang="en-US"/>
          </a:p>
        </p:txBody>
      </p:sp>
      <p:sp>
        <p:nvSpPr>
          <p:cNvPr id="1048994" name="Rectangle 10"/>
          <p:cNvSpPr/>
          <p:nvPr/>
        </p:nvSpPr>
        <p:spPr bwMode="white">
          <a:xfrm>
            <a:off x="1447800" y="0"/>
            <a:ext cx="100584" cy="6867144"/>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995" name="Date Placeholder 11"/>
          <p:cNvSpPr>
            <a:spLocks noGrp="1"/>
          </p:cNvSpPr>
          <p:nvPr>
            <p:ph type="dt" sz="half" idx="10"/>
          </p:nvPr>
        </p:nvSpPr>
        <p:spPr>
          <a:xfrm>
            <a:off x="6248400" y="6248402"/>
            <a:ext cx="2667000" cy="365125"/>
          </a:xfrm>
        </p:spPr>
        <p:txBody>
          <a:bodyPr rtlCol="0"/>
          <a:p>
            <a:fld id="{41793E4B-AF08-4EF5-BDE7-9DF0939D1780}" type="datetimeFigureOut">
              <a:rPr lang="en-US" smtClean="0"/>
              <a:t>2/10/2016</a:t>
            </a:fld>
            <a:endParaRPr lang="en-US"/>
          </a:p>
        </p:txBody>
      </p:sp>
      <p:sp>
        <p:nvSpPr>
          <p:cNvPr id="1048996" name="Slide Number Placeholder 12"/>
          <p:cNvSpPr>
            <a:spLocks noGrp="1"/>
          </p:cNvSpPr>
          <p:nvPr>
            <p:ph type="sldNum" sz="quarter" idx="11"/>
          </p:nvPr>
        </p:nvSpPr>
        <p:spPr>
          <a:xfrm>
            <a:off x="0" y="4667251"/>
            <a:ext cx="1447800" cy="663578"/>
          </a:xfrm>
        </p:spPr>
        <p:txBody>
          <a:bodyPr rtlCol="0"/>
          <a:lstStyle>
            <a:lvl1pPr>
              <a:defRPr sz="2800"/>
            </a:lvl1pPr>
          </a:lstStyle>
          <a:p>
            <a:fld id="{08AA56A4-ACE6-4418-8F94-C9D452C3DDAF}" type="slidenum">
              <a:rPr lang="en-US" smtClean="0"/>
              <a:t>‹#›</a:t>
            </a:fld>
            <a:endParaRPr lang="en-US"/>
          </a:p>
        </p:txBody>
      </p:sp>
      <p:sp>
        <p:nvSpPr>
          <p:cNvPr id="1048997" name="Footer Placeholder 13"/>
          <p:cNvSpPr>
            <a:spLocks noGrp="1"/>
          </p:cNvSpPr>
          <p:nvPr>
            <p:ph type="ftr" sz="quarter" idx="12"/>
          </p:nvPr>
        </p:nvSpPr>
        <p:spPr>
          <a:xfrm>
            <a:off x="1600200" y="6248208"/>
            <a:ext cx="4572000" cy="365125"/>
          </a:xfrm>
        </p:spPr>
        <p:txBody>
          <a:bodyPr rtlCol="0"/>
          <a:p>
            <a:endParaRPr lang="en-US"/>
          </a:p>
        </p:txBody>
      </p:sp>
      <p:sp>
        <p:nvSpPr>
          <p:cNvPr id="1048998"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indent="0" marL="0">
              <a:buNone/>
              <a:defRPr sz="3200"/>
            </a:lvl1pPr>
          </a:lstStyle>
          <a:p>
            <a:r>
              <a:rPr kumimoji="0" lang="en-US" smtClean="0"/>
              <a:t>Click icon to add picture</a:t>
            </a:r>
            <a:endParaRPr dirty="0" kumimoji="0" lang="en-US"/>
          </a:p>
        </p:txBody>
      </p:sp>
    </p:spTree>
  </p:cSld>
  <p:clrMapOvr>
    <a:overrideClrMapping accent1="accent1" accent2="accent2" accent3="accent3" accent4="accent4" accent5="accent5" accent6="accent6" bg1="lt1" bg2="lt2" tx1="dk1" tx2="dk2"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type="vertTx">
  <p:cSld name="Title and Vertical Text">
    <p:spTree>
      <p:nvGrpSpPr>
        <p:cNvPr id="422" name=""/>
        <p:cNvGrpSpPr/>
        <p:nvPr/>
      </p:nvGrpSpPr>
      <p:grpSpPr>
        <a:xfrm>
          <a:off x="0" y="0"/>
          <a:ext cx="0" cy="0"/>
          <a:chOff x="0" y="0"/>
          <a:chExt cx="0" cy="0"/>
        </a:xfrm>
      </p:grpSpPr>
      <p:sp>
        <p:nvSpPr>
          <p:cNvPr id="1048999" name="Title 1"/>
          <p:cNvSpPr>
            <a:spLocks noGrp="1"/>
          </p:cNvSpPr>
          <p:nvPr>
            <p:ph type="title"/>
          </p:nvPr>
        </p:nvSpPr>
        <p:spPr/>
        <p:txBody>
          <a:bodyPr/>
          <a:p>
            <a:r>
              <a:rPr kumimoji="0" lang="en-US" smtClean="0"/>
              <a:t>Click to edit Master title style</a:t>
            </a:r>
            <a:endParaRPr kumimoji="0" lang="en-US"/>
          </a:p>
        </p:txBody>
      </p:sp>
      <p:sp>
        <p:nvSpPr>
          <p:cNvPr id="1049000"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01" name="Date Placeholder 3"/>
          <p:cNvSpPr>
            <a:spLocks noGrp="1"/>
          </p:cNvSpPr>
          <p:nvPr>
            <p:ph type="dt" sz="half" idx="10"/>
          </p:nvPr>
        </p:nvSpPr>
        <p:spPr/>
        <p:txBody>
          <a:bodyPr/>
          <a:p>
            <a:fld id="{41793E4B-AF08-4EF5-BDE7-9DF0939D1780}" type="datetimeFigureOut">
              <a:rPr lang="en-US" smtClean="0"/>
              <a:t>2/10/2016</a:t>
            </a:fld>
            <a:endParaRPr lang="en-US"/>
          </a:p>
        </p:txBody>
      </p:sp>
      <p:sp>
        <p:nvSpPr>
          <p:cNvPr id="1049002" name="Footer Placeholder 4"/>
          <p:cNvSpPr>
            <a:spLocks noGrp="1"/>
          </p:cNvSpPr>
          <p:nvPr>
            <p:ph type="ftr" sz="quarter" idx="11"/>
          </p:nvPr>
        </p:nvSpPr>
        <p:spPr/>
        <p:txBody>
          <a:bodyPr/>
          <a:p>
            <a:endParaRPr lang="en-US"/>
          </a:p>
        </p:txBody>
      </p:sp>
      <p:sp>
        <p:nvSpPr>
          <p:cNvPr id="1049003" name="Slide Number Placeholder 5"/>
          <p:cNvSpPr>
            <a:spLocks noGrp="1"/>
          </p:cNvSpPr>
          <p:nvPr>
            <p:ph type="sldNum" sz="quarter" idx="12"/>
          </p:nvPr>
        </p:nvSpPr>
        <p:spPr/>
        <p:txBody>
          <a:bodyPr/>
          <a:p>
            <a:fld id="{08AA56A4-ACE6-4418-8F94-C9D452C3DDA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423" name=""/>
        <p:cNvGrpSpPr/>
        <p:nvPr/>
      </p:nvGrpSpPr>
      <p:grpSpPr>
        <a:xfrm>
          <a:off x="0" y="0"/>
          <a:ext cx="0" cy="0"/>
          <a:chOff x="0" y="0"/>
          <a:chExt cx="0" cy="0"/>
        </a:xfrm>
      </p:grpSpPr>
      <p:sp>
        <p:nvSpPr>
          <p:cNvPr id="1049004" name="Vertical Title 1"/>
          <p:cNvSpPr>
            <a:spLocks noGrp="1"/>
          </p:cNvSpPr>
          <p:nvPr>
            <p:ph type="title" orient="vert"/>
          </p:nvPr>
        </p:nvSpPr>
        <p:spPr>
          <a:xfrm>
            <a:off x="6553200" y="609602"/>
            <a:ext cx="2057400" cy="5516563"/>
          </a:xfrm>
        </p:spPr>
        <p:txBody>
          <a:bodyPr vert="eaVert"/>
          <a:p>
            <a:r>
              <a:rPr kumimoji="0" lang="en-US" smtClean="0"/>
              <a:t>Click to edit Master title style</a:t>
            </a:r>
            <a:endParaRPr kumimoji="0" lang="en-US"/>
          </a:p>
        </p:txBody>
      </p:sp>
      <p:sp>
        <p:nvSpPr>
          <p:cNvPr id="1049005" name="Vertical Text Placeholder 2"/>
          <p:cNvSpPr>
            <a:spLocks noGrp="1"/>
          </p:cNvSpPr>
          <p:nvPr>
            <p:ph type="body" orient="vert" idx="1"/>
          </p:nvPr>
        </p:nvSpPr>
        <p:spPr>
          <a:xfrm>
            <a:off x="457200" y="609601"/>
            <a:ext cx="5562600" cy="5516564"/>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9006" name="Date Placeholder 3"/>
          <p:cNvSpPr>
            <a:spLocks noGrp="1"/>
          </p:cNvSpPr>
          <p:nvPr>
            <p:ph type="dt" sz="half" idx="10"/>
          </p:nvPr>
        </p:nvSpPr>
        <p:spPr>
          <a:xfrm>
            <a:off x="6553200" y="6248404"/>
            <a:ext cx="2209800" cy="365125"/>
          </a:xfrm>
        </p:spPr>
        <p:txBody>
          <a:bodyPr/>
          <a:p>
            <a:fld id="{41793E4B-AF08-4EF5-BDE7-9DF0939D1780}" type="datetimeFigureOut">
              <a:rPr lang="en-US" smtClean="0"/>
              <a:t>2/10/2016</a:t>
            </a:fld>
            <a:endParaRPr lang="en-US"/>
          </a:p>
        </p:txBody>
      </p:sp>
      <p:sp>
        <p:nvSpPr>
          <p:cNvPr id="1049007" name="Footer Placeholder 4"/>
          <p:cNvSpPr>
            <a:spLocks noGrp="1"/>
          </p:cNvSpPr>
          <p:nvPr>
            <p:ph type="ftr" sz="quarter" idx="11"/>
          </p:nvPr>
        </p:nvSpPr>
        <p:spPr>
          <a:xfrm>
            <a:off x="457201" y="6248209"/>
            <a:ext cx="5573483" cy="365125"/>
          </a:xfrm>
        </p:spPr>
        <p:txBody>
          <a:bodyPr/>
          <a:p>
            <a:endParaRPr lang="en-US"/>
          </a:p>
        </p:txBody>
      </p:sp>
      <p:sp>
        <p:nvSpPr>
          <p:cNvPr id="1049008" name="Rectangle 6"/>
          <p:cNvSpPr/>
          <p:nvPr/>
        </p:nvSpPr>
        <p:spPr bwMode="white">
          <a:xfrm>
            <a:off x="6096319" y="0"/>
            <a:ext cx="320040" cy="6858000"/>
          </a:xfrm>
          <a:prstGeom prst="rect"/>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49009" name="Rectangle 7"/>
          <p:cNvSpPr/>
          <p:nvPr/>
        </p:nvSpPr>
        <p:spPr>
          <a:xfrm>
            <a:off x="6142039" y="609600"/>
            <a:ext cx="228600" cy="6248400"/>
          </a:xfrm>
          <a:prstGeom prst="rect"/>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49010" name="Rectangle 8"/>
          <p:cNvSpPr/>
          <p:nvPr/>
        </p:nvSpPr>
        <p:spPr>
          <a:xfrm>
            <a:off x="6142039" y="0"/>
            <a:ext cx="228600" cy="533400"/>
          </a:xfrm>
          <a:prstGeom prst="rect"/>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dirty="0" kumimoji="0" lang="en-US"/>
          </a:p>
        </p:txBody>
      </p:sp>
      <p:sp>
        <p:nvSpPr>
          <p:cNvPr id="1049011" name="Slide Number Placeholder 5"/>
          <p:cNvSpPr>
            <a:spLocks noGrp="1"/>
          </p:cNvSpPr>
          <p:nvPr>
            <p:ph type="sldNum" sz="quarter" idx="12"/>
          </p:nvPr>
        </p:nvSpPr>
        <p:spPr>
          <a:xfrm rot="5400000">
            <a:off x="5989639" y="144464"/>
            <a:ext cx="533400" cy="244476"/>
          </a:xfrm>
        </p:spPr>
        <p:txBody>
          <a:bodyPr/>
          <a:p>
            <a:fld id="{08AA56A4-ACE6-4418-8F94-C9D452C3DDAF}" type="slidenum">
              <a:rPr lang="en-US" smtClean="0"/>
              <a:t>‹#›</a:t>
            </a:fld>
            <a:endParaRPr lang="en-US"/>
          </a:p>
        </p:txBody>
      </p:sp>
    </p:spTree>
  </p:cSld>
  <p:clrMapOvr>
    <a:overrideClrMapping accent1="accent1" accent2="accent2" accent3="accent3" accent4="accent4" accent5="accent5" accent6="accent6" bg1="lt1" bg2="lt2" tx1="dk1" tx2="dk2"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17" name=""/>
        <p:cNvGrpSpPr/>
        <p:nvPr/>
      </p:nvGrpSpPr>
      <p:grpSpPr>
        <a:xfrm>
          <a:off x="0" y="0"/>
          <a:ext cx="0" cy="0"/>
          <a:chOff x="0" y="0"/>
          <a:chExt cx="0" cy="0"/>
        </a:xfrm>
      </p:grpSpPr>
      <p:sp>
        <p:nvSpPr>
          <p:cNvPr id="1048609" name="Title Placeholder 21"/>
          <p:cNvSpPr>
            <a:spLocks noGrp="1"/>
          </p:cNvSpPr>
          <p:nvPr>
            <p:ph type="title"/>
          </p:nvPr>
        </p:nvSpPr>
        <p:spPr>
          <a:xfrm>
            <a:off x="609600" y="228600"/>
            <a:ext cx="8153400" cy="990600"/>
          </a:xfrm>
          <a:prstGeom prst="rect"/>
        </p:spPr>
        <p:txBody>
          <a:bodyPr anchor="ctr" vert="horz">
            <a:normAutofit/>
          </a:bodyPr>
          <a:p>
            <a:r>
              <a:rPr kumimoji="0" lang="en-US" smtClean="0"/>
              <a:t>Click to edit Master title style</a:t>
            </a:r>
            <a:endParaRPr kumimoji="0" lang="en-US"/>
          </a:p>
        </p:txBody>
      </p:sp>
      <p:sp>
        <p:nvSpPr>
          <p:cNvPr id="1048610" name="Text Placeholder 12"/>
          <p:cNvSpPr>
            <a:spLocks noGrp="1"/>
          </p:cNvSpPr>
          <p:nvPr>
            <p:ph type="body" idx="1"/>
          </p:nvPr>
        </p:nvSpPr>
        <p:spPr>
          <a:xfrm>
            <a:off x="612648" y="1600200"/>
            <a:ext cx="8153400" cy="452628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611" name="Date Placeholder 13"/>
          <p:cNvSpPr>
            <a:spLocks noGrp="1"/>
          </p:cNvSpPr>
          <p:nvPr>
            <p:ph type="dt" sz="half" idx="2"/>
          </p:nvPr>
        </p:nvSpPr>
        <p:spPr>
          <a:xfrm>
            <a:off x="6096000" y="6248402"/>
            <a:ext cx="2667000" cy="365125"/>
          </a:xfrm>
          <a:prstGeom prst="rect"/>
        </p:spPr>
        <p:txBody>
          <a:bodyPr anchor="ctr" anchorCtr="0" vert="horz"/>
          <a:lstStyle>
            <a:lvl1pPr algn="l" eaLnBrk="1" hangingPunct="1" latinLnBrk="0">
              <a:defRPr sz="1400" kumimoji="0">
                <a:solidFill>
                  <a:schemeClr val="tx2"/>
                </a:solidFill>
              </a:defRPr>
            </a:lvl1pPr>
          </a:lstStyle>
          <a:p>
            <a:fld id="{41793E4B-AF08-4EF5-BDE7-9DF0939D1780}" type="datetimeFigureOut">
              <a:rPr lang="en-US" smtClean="0"/>
              <a:t>2/10/2016</a:t>
            </a:fld>
            <a:endParaRPr lang="en-US"/>
          </a:p>
        </p:txBody>
      </p:sp>
      <p:sp>
        <p:nvSpPr>
          <p:cNvPr id="1048612" name="Footer Placeholder 2"/>
          <p:cNvSpPr>
            <a:spLocks noGrp="1"/>
          </p:cNvSpPr>
          <p:nvPr>
            <p:ph type="ftr" sz="quarter" idx="3"/>
          </p:nvPr>
        </p:nvSpPr>
        <p:spPr>
          <a:xfrm>
            <a:off x="609601" y="6248208"/>
            <a:ext cx="5421083" cy="365125"/>
          </a:xfrm>
          <a:prstGeom prst="rect"/>
        </p:spPr>
        <p:txBody>
          <a:bodyPr anchor="ctr" vert="horz"/>
          <a:lstStyle>
            <a:lvl1pPr algn="r" eaLnBrk="1" hangingPunct="1" latinLnBrk="0">
              <a:defRPr sz="1400" kumimoji="0">
                <a:solidFill>
                  <a:schemeClr val="tx2"/>
                </a:solidFill>
              </a:defRPr>
            </a:lvl1pPr>
          </a:lstStyle>
          <a:p>
            <a:endParaRPr lang="en-US"/>
          </a:p>
        </p:txBody>
      </p:sp>
      <p:sp>
        <p:nvSpPr>
          <p:cNvPr id="1048613" name="Rectangle 6"/>
          <p:cNvSpPr/>
          <p:nvPr/>
        </p:nvSpPr>
        <p:spPr bwMode="white">
          <a:xfrm>
            <a:off x="0" y="1234440"/>
            <a:ext cx="9144000" cy="320040"/>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614" name="Rectangle 7"/>
          <p:cNvSpPr/>
          <p:nvPr/>
        </p:nvSpPr>
        <p:spPr>
          <a:xfrm>
            <a:off x="0" y="1280160"/>
            <a:ext cx="533400" cy="228600"/>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615" name="Rectangle 8"/>
          <p:cNvSpPr/>
          <p:nvPr/>
        </p:nvSpPr>
        <p:spPr>
          <a:xfrm>
            <a:off x="590549" y="1280160"/>
            <a:ext cx="8553451" cy="228600"/>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616" name="Slide Number Placeholder 22"/>
          <p:cNvSpPr>
            <a:spLocks noGrp="1"/>
          </p:cNvSpPr>
          <p:nvPr>
            <p:ph type="sldNum" sz="quarter" idx="4"/>
          </p:nvPr>
        </p:nvSpPr>
        <p:spPr>
          <a:xfrm>
            <a:off x="0" y="1272222"/>
            <a:ext cx="533400" cy="244476"/>
          </a:xfrm>
          <a:prstGeom prst="rect"/>
        </p:spPr>
        <p:txBody>
          <a:bodyPr anchor="ctr" anchorCtr="0" vert="horz">
            <a:normAutofit/>
          </a:bodyPr>
          <a:lstStyle>
            <a:lvl1pPr algn="ctr" eaLnBrk="1" hangingPunct="1" latinLnBrk="0">
              <a:defRPr b="1" sz="1400" kumimoji="0">
                <a:solidFill>
                  <a:srgbClr val="FFFFFF"/>
                </a:solidFill>
              </a:defRPr>
            </a:lvl1pPr>
          </a:lstStyle>
          <a:p>
            <a:fld id="{08AA56A4-ACE6-4418-8F94-C9D452C3DDA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eaLnBrk="1" hangingPunct="1" latinLnBrk="0" rtl="0">
        <a:spcBef>
          <a:spcPct val="0"/>
        </a:spcBef>
        <a:buNone/>
        <a:defRPr sz="4400" kern="1200" kumimoji="0">
          <a:solidFill>
            <a:schemeClr val="tx2"/>
          </a:solidFill>
          <a:latin typeface="+mj-lt"/>
          <a:ea typeface="+mj-ea"/>
          <a:cs typeface="+mj-cs"/>
        </a:defRPr>
      </a:lvl1pPr>
    </p:titleStyle>
    <p:bodyStyle>
      <a:lvl1pPr algn="l" eaLnBrk="1" hangingPunct="1" indent="-320040" latinLnBrk="0" marL="320040" rtl="0">
        <a:spcBef>
          <a:spcPts val="700"/>
        </a:spcBef>
        <a:buClr>
          <a:schemeClr val="accent2"/>
        </a:buClr>
        <a:buSzPct val="60000"/>
        <a:buFont typeface="Wingdings"/>
        <a:buChar char=""/>
        <a:defRPr sz="2900" kern="1200" kumimoji="0">
          <a:solidFill>
            <a:schemeClr val="tx1"/>
          </a:solidFill>
          <a:latin typeface="+mn-lt"/>
          <a:ea typeface="+mn-ea"/>
          <a:cs typeface="+mn-cs"/>
        </a:defRPr>
      </a:lvl1pPr>
      <a:lvl2pPr algn="l" eaLnBrk="1" hangingPunct="1" indent="-274320" latinLnBrk="0" marL="640080" rtl="0">
        <a:spcBef>
          <a:spcPts val="550"/>
        </a:spcBef>
        <a:buClr>
          <a:schemeClr val="accent1"/>
        </a:buClr>
        <a:buSzPct val="70000"/>
        <a:buFont typeface="Wingdings 2"/>
        <a:buChar char=""/>
        <a:defRPr sz="2600" kern="1200" kumimoji="0">
          <a:solidFill>
            <a:schemeClr val="tx1"/>
          </a:solidFill>
          <a:latin typeface="+mn-lt"/>
          <a:ea typeface="+mn-ea"/>
          <a:cs typeface="+mn-cs"/>
        </a:defRPr>
      </a:lvl2pPr>
      <a:lvl3pPr algn="l" eaLnBrk="1" hangingPunct="1" indent="-228600" latinLnBrk="0" marL="914400" rtl="0">
        <a:spcBef>
          <a:spcPts val="500"/>
        </a:spcBef>
        <a:buClr>
          <a:schemeClr val="accent2"/>
        </a:buClr>
        <a:buSzPct val="75000"/>
        <a:buFont typeface="Wingdings"/>
        <a:buChar char=""/>
        <a:defRPr sz="2300" kern="1200" kumimoji="0">
          <a:solidFill>
            <a:schemeClr val="tx1"/>
          </a:solidFill>
          <a:latin typeface="+mn-lt"/>
          <a:ea typeface="+mn-ea"/>
          <a:cs typeface="+mn-cs"/>
        </a:defRPr>
      </a:lvl3pPr>
      <a:lvl4pPr algn="l" eaLnBrk="1" hangingPunct="1" indent="-228600" latinLnBrk="0" marL="1371600" rtl="0">
        <a:spcBef>
          <a:spcPts val="400"/>
        </a:spcBef>
        <a:buClr>
          <a:schemeClr val="accent3"/>
        </a:buClr>
        <a:buSzPct val="75000"/>
        <a:buFont typeface="Wingdings"/>
        <a:buChar char=""/>
        <a:defRPr sz="2000" kern="1200" kumimoji="0">
          <a:solidFill>
            <a:schemeClr val="tx1"/>
          </a:solidFill>
          <a:latin typeface="+mn-lt"/>
          <a:ea typeface="+mn-ea"/>
          <a:cs typeface="+mn-cs"/>
        </a:defRPr>
      </a:lvl4pPr>
      <a:lvl5pPr algn="l" eaLnBrk="1" hangingPunct="1" indent="-228600" latinLnBrk="0" marL="1828800" rtl="0">
        <a:spcBef>
          <a:spcPts val="400"/>
        </a:spcBef>
        <a:buClr>
          <a:schemeClr val="accent4"/>
        </a:buClr>
        <a:buSzPct val="65000"/>
        <a:buFont typeface="Wingdings"/>
        <a:buChar char=""/>
        <a:defRPr sz="2000" kern="1200" kumimoji="0">
          <a:solidFill>
            <a:schemeClr val="tx1"/>
          </a:solidFill>
          <a:latin typeface="+mn-lt"/>
          <a:ea typeface="+mn-ea"/>
          <a:cs typeface="+mn-cs"/>
        </a:defRPr>
      </a:lvl5pPr>
      <a:lvl6pPr algn="l" eaLnBrk="1" hangingPunct="1" indent="-228600" latinLnBrk="0" marL="2103120" rtl="0">
        <a:spcBef>
          <a:spcPct val="20000"/>
        </a:spcBef>
        <a:buClr>
          <a:schemeClr val="accent1"/>
        </a:buClr>
        <a:buFont typeface="Wingdings"/>
        <a:buChar char="§"/>
        <a:defRPr baseline="0" sz="1800" kern="1200" kumimoji="0">
          <a:solidFill>
            <a:schemeClr val="tx1"/>
          </a:solidFill>
          <a:latin typeface="+mn-lt"/>
          <a:ea typeface="+mn-ea"/>
          <a:cs typeface="+mn-cs"/>
        </a:defRPr>
      </a:lvl6pPr>
      <a:lvl7pPr algn="l" eaLnBrk="1" hangingPunct="1" indent="-228600" latinLnBrk="0" marL="2377440" rtl="0">
        <a:spcBef>
          <a:spcPct val="20000"/>
        </a:spcBef>
        <a:buClr>
          <a:schemeClr val="accent2"/>
        </a:buClr>
        <a:buFont typeface="Wingdings"/>
        <a:buChar char="§"/>
        <a:defRPr baseline="0" sz="1800" kern="1200" kumimoji="0">
          <a:solidFill>
            <a:schemeClr val="tx1"/>
          </a:solidFill>
          <a:latin typeface="+mn-lt"/>
          <a:ea typeface="+mn-ea"/>
          <a:cs typeface="+mn-cs"/>
        </a:defRPr>
      </a:lvl7pPr>
      <a:lvl8pPr algn="l" eaLnBrk="1" hangingPunct="1" indent="-228600" latinLnBrk="0" marL="2651760" rtl="0">
        <a:spcBef>
          <a:spcPct val="20000"/>
        </a:spcBef>
        <a:buClr>
          <a:schemeClr val="accent3"/>
        </a:buClr>
        <a:buFont typeface="Wingdings"/>
        <a:buChar char="§"/>
        <a:defRPr baseline="0" sz="1800" kern="1200" kumimoji="0">
          <a:solidFill>
            <a:schemeClr val="tx1"/>
          </a:solidFill>
          <a:latin typeface="+mn-lt"/>
          <a:ea typeface="+mn-ea"/>
          <a:cs typeface="+mn-cs"/>
        </a:defRPr>
      </a:lvl8pPr>
      <a:lvl9pPr algn="l" eaLnBrk="1" hangingPunct="1" indent="-228600" latinLnBrk="0" marL="2926080" rtl="0">
        <a:spcBef>
          <a:spcPct val="20000"/>
        </a:spcBef>
        <a:buClr>
          <a:schemeClr val="accent4"/>
        </a:buClr>
        <a:buFont typeface="Wingdings"/>
        <a:buChar char="§"/>
        <a:defRPr baseline="0" sz="18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93" name=""/>
        <p:cNvGrpSpPr/>
        <p:nvPr/>
      </p:nvGrpSpPr>
      <p:grpSpPr>
        <a:xfrm>
          <a:off x="0" y="0"/>
          <a:ext cx="0" cy="0"/>
          <a:chOff x="0" y="0"/>
          <a:chExt cx="0" cy="0"/>
        </a:xfrm>
      </p:grpSpPr>
      <p:sp>
        <p:nvSpPr>
          <p:cNvPr id="1048576" name="Title Placeholder 21"/>
          <p:cNvSpPr>
            <a:spLocks noGrp="1"/>
          </p:cNvSpPr>
          <p:nvPr>
            <p:ph type="title"/>
          </p:nvPr>
        </p:nvSpPr>
        <p:spPr>
          <a:xfrm>
            <a:off x="609600" y="228600"/>
            <a:ext cx="8153400" cy="990600"/>
          </a:xfrm>
          <a:prstGeom prst="rect"/>
        </p:spPr>
        <p:txBody>
          <a:bodyPr anchor="ctr" vert="horz">
            <a:normAutofit/>
          </a:bodyPr>
          <a:p>
            <a:r>
              <a:rPr kumimoji="0" lang="en-US" smtClean="0"/>
              <a:t>Click to edit Master title style</a:t>
            </a:r>
            <a:endParaRPr kumimoji="0" lang="en-US"/>
          </a:p>
        </p:txBody>
      </p:sp>
      <p:sp>
        <p:nvSpPr>
          <p:cNvPr id="1048577" name="Text Placeholder 12"/>
          <p:cNvSpPr>
            <a:spLocks noGrp="1"/>
          </p:cNvSpPr>
          <p:nvPr>
            <p:ph type="body" idx="1"/>
          </p:nvPr>
        </p:nvSpPr>
        <p:spPr>
          <a:xfrm>
            <a:off x="612648" y="1600200"/>
            <a:ext cx="8153400" cy="452628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578" name="Date Placeholder 13"/>
          <p:cNvSpPr>
            <a:spLocks noGrp="1"/>
          </p:cNvSpPr>
          <p:nvPr>
            <p:ph type="dt" sz="half" idx="2"/>
          </p:nvPr>
        </p:nvSpPr>
        <p:spPr>
          <a:xfrm>
            <a:off x="6096000" y="6248402"/>
            <a:ext cx="2667000" cy="365125"/>
          </a:xfrm>
          <a:prstGeom prst="rect"/>
        </p:spPr>
        <p:txBody>
          <a:bodyPr anchor="ctr" anchorCtr="0" vert="horz"/>
          <a:lstStyle>
            <a:lvl1pPr algn="l" eaLnBrk="1" hangingPunct="1" latinLnBrk="0">
              <a:defRPr sz="1400" kumimoji="0">
                <a:solidFill>
                  <a:schemeClr val="tx2"/>
                </a:solidFill>
              </a:defRPr>
            </a:lvl1pPr>
          </a:lstStyle>
          <a:p>
            <a:fld id="{41793E4B-AF08-4EF5-BDE7-9DF0939D1780}" type="datetimeFigureOut">
              <a:rPr lang="en-US" smtClean="0"/>
              <a:t>2/10/2016</a:t>
            </a:fld>
            <a:endParaRPr lang="en-US"/>
          </a:p>
        </p:txBody>
      </p:sp>
      <p:sp>
        <p:nvSpPr>
          <p:cNvPr id="1048579" name="Footer Placeholder 2"/>
          <p:cNvSpPr>
            <a:spLocks noGrp="1"/>
          </p:cNvSpPr>
          <p:nvPr>
            <p:ph type="ftr" sz="quarter" idx="3"/>
          </p:nvPr>
        </p:nvSpPr>
        <p:spPr>
          <a:xfrm>
            <a:off x="609601" y="6248208"/>
            <a:ext cx="5421083" cy="365125"/>
          </a:xfrm>
          <a:prstGeom prst="rect"/>
        </p:spPr>
        <p:txBody>
          <a:bodyPr anchor="ctr" vert="horz"/>
          <a:lstStyle>
            <a:lvl1pPr algn="r" eaLnBrk="1" hangingPunct="1" latinLnBrk="0">
              <a:defRPr sz="1400" kumimoji="0">
                <a:solidFill>
                  <a:schemeClr val="tx2"/>
                </a:solidFill>
              </a:defRPr>
            </a:lvl1pPr>
          </a:lstStyle>
          <a:p>
            <a:endParaRPr lang="en-US"/>
          </a:p>
        </p:txBody>
      </p:sp>
      <p:sp>
        <p:nvSpPr>
          <p:cNvPr id="1048580" name="Rectangle 6"/>
          <p:cNvSpPr/>
          <p:nvPr/>
        </p:nvSpPr>
        <p:spPr bwMode="white">
          <a:xfrm>
            <a:off x="0" y="1234440"/>
            <a:ext cx="9144000" cy="320040"/>
          </a:xfrm>
          <a:prstGeom prst="rect"/>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581" name="Rectangle 7"/>
          <p:cNvSpPr/>
          <p:nvPr/>
        </p:nvSpPr>
        <p:spPr>
          <a:xfrm>
            <a:off x="0" y="1280160"/>
            <a:ext cx="533400" cy="228600"/>
          </a:xfrm>
          <a:prstGeom prst="rect"/>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582" name="Rectangle 8"/>
          <p:cNvSpPr/>
          <p:nvPr/>
        </p:nvSpPr>
        <p:spPr>
          <a:xfrm>
            <a:off x="590549" y="1280160"/>
            <a:ext cx="8553451" cy="228600"/>
          </a:xfrm>
          <a:prstGeom prst="rect"/>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dirty="0" kumimoji="0" lang="en-US"/>
          </a:p>
        </p:txBody>
      </p:sp>
      <p:sp>
        <p:nvSpPr>
          <p:cNvPr id="1048583" name="Slide Number Placeholder 22"/>
          <p:cNvSpPr>
            <a:spLocks noGrp="1"/>
          </p:cNvSpPr>
          <p:nvPr>
            <p:ph type="sldNum" sz="quarter" idx="4"/>
          </p:nvPr>
        </p:nvSpPr>
        <p:spPr>
          <a:xfrm>
            <a:off x="0" y="1272222"/>
            <a:ext cx="533400" cy="244476"/>
          </a:xfrm>
          <a:prstGeom prst="rect"/>
        </p:spPr>
        <p:txBody>
          <a:bodyPr anchor="ctr" anchorCtr="0" vert="horz">
            <a:normAutofit/>
          </a:bodyPr>
          <a:lstStyle>
            <a:lvl1pPr algn="ctr" eaLnBrk="1" hangingPunct="1" latinLnBrk="0">
              <a:defRPr b="1" sz="1400" kumimoji="0">
                <a:solidFill>
                  <a:srgbClr val="FFFFFF"/>
                </a:solidFill>
              </a:defRPr>
            </a:lvl1pPr>
          </a:lstStyle>
          <a:p>
            <a:fld id="{08AA56A4-ACE6-4418-8F94-C9D452C3DDA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eaLnBrk="1" hangingPunct="1" latinLnBrk="0" rtl="0">
        <a:spcBef>
          <a:spcPct val="0"/>
        </a:spcBef>
        <a:buNone/>
        <a:defRPr sz="4400" kern="1200" kumimoji="0">
          <a:solidFill>
            <a:schemeClr val="tx2"/>
          </a:solidFill>
          <a:latin typeface="+mj-lt"/>
          <a:ea typeface="+mj-ea"/>
          <a:cs typeface="+mj-cs"/>
        </a:defRPr>
      </a:lvl1pPr>
    </p:titleStyle>
    <p:bodyStyle>
      <a:lvl1pPr algn="l" eaLnBrk="1" hangingPunct="1" indent="-320040" latinLnBrk="0" marL="320040" rtl="0">
        <a:spcBef>
          <a:spcPts val="700"/>
        </a:spcBef>
        <a:buClr>
          <a:schemeClr val="accent2"/>
        </a:buClr>
        <a:buSzPct val="60000"/>
        <a:buFont typeface="Wingdings"/>
        <a:buChar char=""/>
        <a:defRPr sz="2900" kern="1200" kumimoji="0">
          <a:solidFill>
            <a:schemeClr val="tx1"/>
          </a:solidFill>
          <a:latin typeface="+mn-lt"/>
          <a:ea typeface="+mn-ea"/>
          <a:cs typeface="+mn-cs"/>
        </a:defRPr>
      </a:lvl1pPr>
      <a:lvl2pPr algn="l" eaLnBrk="1" hangingPunct="1" indent="-274320" latinLnBrk="0" marL="640080" rtl="0">
        <a:spcBef>
          <a:spcPts val="550"/>
        </a:spcBef>
        <a:buClr>
          <a:schemeClr val="accent1"/>
        </a:buClr>
        <a:buSzPct val="70000"/>
        <a:buFont typeface="Wingdings 2"/>
        <a:buChar char=""/>
        <a:defRPr sz="2600" kern="1200" kumimoji="0">
          <a:solidFill>
            <a:schemeClr val="tx1"/>
          </a:solidFill>
          <a:latin typeface="+mn-lt"/>
          <a:ea typeface="+mn-ea"/>
          <a:cs typeface="+mn-cs"/>
        </a:defRPr>
      </a:lvl2pPr>
      <a:lvl3pPr algn="l" eaLnBrk="1" hangingPunct="1" indent="-228600" latinLnBrk="0" marL="914400" rtl="0">
        <a:spcBef>
          <a:spcPts val="500"/>
        </a:spcBef>
        <a:buClr>
          <a:schemeClr val="accent2"/>
        </a:buClr>
        <a:buSzPct val="75000"/>
        <a:buFont typeface="Wingdings"/>
        <a:buChar char=""/>
        <a:defRPr sz="2300" kern="1200" kumimoji="0">
          <a:solidFill>
            <a:schemeClr val="tx1"/>
          </a:solidFill>
          <a:latin typeface="+mn-lt"/>
          <a:ea typeface="+mn-ea"/>
          <a:cs typeface="+mn-cs"/>
        </a:defRPr>
      </a:lvl3pPr>
      <a:lvl4pPr algn="l" eaLnBrk="1" hangingPunct="1" indent="-228600" latinLnBrk="0" marL="1371600" rtl="0">
        <a:spcBef>
          <a:spcPts val="400"/>
        </a:spcBef>
        <a:buClr>
          <a:schemeClr val="accent3"/>
        </a:buClr>
        <a:buSzPct val="75000"/>
        <a:buFont typeface="Wingdings"/>
        <a:buChar char=""/>
        <a:defRPr sz="2000" kern="1200" kumimoji="0">
          <a:solidFill>
            <a:schemeClr val="tx1"/>
          </a:solidFill>
          <a:latin typeface="+mn-lt"/>
          <a:ea typeface="+mn-ea"/>
          <a:cs typeface="+mn-cs"/>
        </a:defRPr>
      </a:lvl4pPr>
      <a:lvl5pPr algn="l" eaLnBrk="1" hangingPunct="1" indent="-228600" latinLnBrk="0" marL="1828800" rtl="0">
        <a:spcBef>
          <a:spcPts val="400"/>
        </a:spcBef>
        <a:buClr>
          <a:schemeClr val="accent4"/>
        </a:buClr>
        <a:buSzPct val="65000"/>
        <a:buFont typeface="Wingdings"/>
        <a:buChar char=""/>
        <a:defRPr sz="2000" kern="1200" kumimoji="0">
          <a:solidFill>
            <a:schemeClr val="tx1"/>
          </a:solidFill>
          <a:latin typeface="+mn-lt"/>
          <a:ea typeface="+mn-ea"/>
          <a:cs typeface="+mn-cs"/>
        </a:defRPr>
      </a:lvl5pPr>
      <a:lvl6pPr algn="l" eaLnBrk="1" hangingPunct="1" indent="-228600" latinLnBrk="0" marL="2103120" rtl="0">
        <a:spcBef>
          <a:spcPct val="20000"/>
        </a:spcBef>
        <a:buClr>
          <a:schemeClr val="accent1"/>
        </a:buClr>
        <a:buFont typeface="Wingdings"/>
        <a:buChar char="§"/>
        <a:defRPr baseline="0" sz="1800" kern="1200" kumimoji="0">
          <a:solidFill>
            <a:schemeClr val="tx1"/>
          </a:solidFill>
          <a:latin typeface="+mn-lt"/>
          <a:ea typeface="+mn-ea"/>
          <a:cs typeface="+mn-cs"/>
        </a:defRPr>
      </a:lvl6pPr>
      <a:lvl7pPr algn="l" eaLnBrk="1" hangingPunct="1" indent="-228600" latinLnBrk="0" marL="2377440" rtl="0">
        <a:spcBef>
          <a:spcPct val="20000"/>
        </a:spcBef>
        <a:buClr>
          <a:schemeClr val="accent2"/>
        </a:buClr>
        <a:buFont typeface="Wingdings"/>
        <a:buChar char="§"/>
        <a:defRPr baseline="0" sz="1800" kern="1200" kumimoji="0">
          <a:solidFill>
            <a:schemeClr val="tx1"/>
          </a:solidFill>
          <a:latin typeface="+mn-lt"/>
          <a:ea typeface="+mn-ea"/>
          <a:cs typeface="+mn-cs"/>
        </a:defRPr>
      </a:lvl7pPr>
      <a:lvl8pPr algn="l" eaLnBrk="1" hangingPunct="1" indent="-228600" latinLnBrk="0" marL="2651760" rtl="0">
        <a:spcBef>
          <a:spcPct val="20000"/>
        </a:spcBef>
        <a:buClr>
          <a:schemeClr val="accent3"/>
        </a:buClr>
        <a:buFont typeface="Wingdings"/>
        <a:buChar char="§"/>
        <a:defRPr baseline="0" sz="1800" kern="1200" kumimoji="0">
          <a:solidFill>
            <a:schemeClr val="tx1"/>
          </a:solidFill>
          <a:latin typeface="+mn-lt"/>
          <a:ea typeface="+mn-ea"/>
          <a:cs typeface="+mn-cs"/>
        </a:defRPr>
      </a:lvl8pPr>
      <a:lvl9pPr algn="l" eaLnBrk="1" hangingPunct="1" indent="-228600" latinLnBrk="0" marL="2926080" rtl="0">
        <a:spcBef>
          <a:spcPct val="20000"/>
        </a:spcBef>
        <a:buClr>
          <a:schemeClr val="accent4"/>
        </a:buClr>
        <a:buFont typeface="Wingdings"/>
        <a:buChar char="§"/>
        <a:defRPr baseline="0" sz="18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hyperlink" Target="http://medlibes.com/uploads/Screen%20shot%202010-07-14%20at%201.53.27%20PM.png" TargetMode="External"/><Relationship Id="rId2" Type="http://schemas.openxmlformats.org/officeDocument/2006/relationships/image" Target="../media/image3.png"/><Relationship Id="rId3"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hyperlink" Target="http://www.bing.com/images/search?q=Pictures%20of%20hip%20displasia&amp;view=detail&amp;id=99808E68ACE93DB943CFA65501E8E070AF6F8D30&amp;first=31&amp;FORM=IDFRIR" TargetMode="External"/><Relationship Id="rId2" Type="http://schemas.openxmlformats.org/officeDocument/2006/relationships/image" Target="../media/image5.jpeg"/><Relationship Id="rId3"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hyperlink" Target="http://www.bing.com/images/search?q=pictures%20of%20osteoporosis&amp;view=detail&amp;id=952036E26DFAEAA7817FCACD439C001A5D997964&amp;FORM=IDFRIR" TargetMode="External"/><Relationship Id="rId2" Type="http://schemas.openxmlformats.org/officeDocument/2006/relationships/image" Target="../media/image6.jpeg"/><Relationship Id="rId3"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hyperlink" Target="http://www.bing.com/images/search?q=pictures%20of%20scoliosis%20of%20the%20spine&amp;view=detail&amp;id=B18DBB721AF3744DF5017D3B891750296DC385C7&amp;FORM=IDFRIR" TargetMode="External"/><Relationship Id="rId2" Type="http://schemas.openxmlformats.org/officeDocument/2006/relationships/image" Target="../media/image10.jpeg"/><Relationship Id="rId3"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hyperlink" Target="http://www.sciencephoto.com/image/260055/350wm/M2300010-Osteomyelitis_ulcer-SPL.jpg" TargetMode="Externa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hyperlink" Target="http://www.dmesupplygroup.com/ort33100lm.html" TargetMode="External"/><Relationship Id="rId2" Type="http://schemas.openxmlformats.org/officeDocument/2006/relationships/image" Target="../media/image28.gif"/><Relationship Id="rId3" Type="http://schemas.openxmlformats.org/officeDocument/2006/relationships/hyperlink" Target="http://www.dmesupplygroup.com/4100a.html" TargetMode="External"/><Relationship Id="rId4" Type="http://schemas.openxmlformats.org/officeDocument/2006/relationships/image" Target="../media/image29.gif"/><Relationship Id="rId5"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hyperlink" Target="http://www.dmesupplygroup.com/2410f.html" TargetMode="External"/><Relationship Id="rId2" Type="http://schemas.openxmlformats.org/officeDocument/2006/relationships/image" Target="../media/image30.gif"/><Relationship Id="rId3" Type="http://schemas.openxmlformats.org/officeDocument/2006/relationships/hyperlink" Target="http://www.dmesupplygroup.com/ort11200xs.html" TargetMode="External"/><Relationship Id="rId4" Type="http://schemas.openxmlformats.org/officeDocument/2006/relationships/image" Target="../media/image31.gif"/><Relationship Id="rId5"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hyperlink" Target="http://www.dmesupplygroup.com/15006.html" TargetMode="External"/><Relationship Id="rId2" Type="http://schemas.openxmlformats.org/officeDocument/2006/relationships/image" Target="../media/image32.gif"/><Relationship Id="rId3" Type="http://schemas.openxmlformats.org/officeDocument/2006/relationships/image" Target="../media/image33.jpeg"/><Relationship Id="rId4"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image" Target="../media/image43.jpeg"/><Relationship Id="rId2" Type="http://schemas.openxmlformats.org/officeDocument/2006/relationships/slideLayout" Target="../slideLayouts/slideLayout1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image" Target="../media/image44.jpeg"/><Relationship Id="rId2"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slideLayout" Target="../slideLayouts/slideLayout1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9.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230" name=""/>
        <p:cNvGrpSpPr/>
        <p:nvPr/>
      </p:nvGrpSpPr>
      <p:grpSpPr>
        <a:xfrm>
          <a:off x="0" y="0"/>
          <a:ext cx="0" cy="0"/>
          <a:chOff x="0" y="0"/>
          <a:chExt cx="0" cy="0"/>
        </a:xfrm>
      </p:grpSpPr>
      <p:sp>
        <p:nvSpPr>
          <p:cNvPr id="1048622" name="Title 3"/>
          <p:cNvSpPr>
            <a:spLocks noGrp="1"/>
          </p:cNvSpPr>
          <p:nvPr>
            <p:ph type="title"/>
          </p:nvPr>
        </p:nvSpPr>
        <p:spPr/>
        <p:txBody>
          <a:bodyPr/>
          <a:p>
            <a:r>
              <a:rPr dirty="0" lang="en-US" smtClean="0"/>
              <a:t>ORTHOPAEDICS </a:t>
            </a:r>
            <a:r>
              <a:rPr lang="en-US" smtClean="0"/>
              <a:t>(15 </a:t>
            </a:r>
            <a:r>
              <a:rPr dirty="0" lang="en-US" smtClean="0"/>
              <a:t>HRS)</a:t>
            </a:r>
            <a:endParaRPr dirty="0" lang="en-US"/>
          </a:p>
        </p:txBody>
      </p:sp>
      <p:sp>
        <p:nvSpPr>
          <p:cNvPr id="1048623" name="Content Placeholder 4"/>
          <p:cNvSpPr>
            <a:spLocks noGrp="1"/>
          </p:cNvSpPr>
          <p:nvPr>
            <p:ph sz="quarter" idx="1"/>
          </p:nvPr>
        </p:nvSpPr>
        <p:spPr/>
        <p:txBody>
          <a:bodyPr/>
          <a:p>
            <a:pPr>
              <a:buNone/>
            </a:pPr>
            <a:r>
              <a:rPr b="1" dirty="0" lang="en-US" smtClean="0"/>
              <a:t>MAIN OBJECTIVE/PURPOSE</a:t>
            </a:r>
          </a:p>
          <a:p>
            <a:pPr>
              <a:buNone/>
            </a:pPr>
            <a:r>
              <a:rPr dirty="0" lang="en-US" smtClean="0"/>
              <a:t>The purpose of this course is to enable the learner to acquire knowledge, skills &amp; attitudes in order to promote health, diagnose, manage &amp; coordinate rehabilitation of infants, children &amp; adults suffering from common orthopedic conditions.</a:t>
            </a:r>
            <a:endParaRPr dirty="0" lang="en-US"/>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31" name=""/>
        <p:cNvGrpSpPr/>
        <p:nvPr/>
      </p:nvGrpSpPr>
      <p:grpSpPr>
        <a:xfrm>
          <a:off x="0" y="0"/>
          <a:ext cx="0" cy="0"/>
          <a:chOff x="0" y="0"/>
          <a:chExt cx="0" cy="0"/>
        </a:xfrm>
      </p:grpSpPr>
      <p:sp>
        <p:nvSpPr>
          <p:cNvPr id="1048624" name="Title 1"/>
          <p:cNvSpPr>
            <a:spLocks noGrp="1"/>
          </p:cNvSpPr>
          <p:nvPr>
            <p:ph type="title"/>
          </p:nvPr>
        </p:nvSpPr>
        <p:spPr/>
        <p:txBody>
          <a:bodyPr/>
          <a:p>
            <a:r>
              <a:rPr dirty="0" lang="en-US" smtClean="0"/>
              <a:t>ORTHOPAEDICS (15 HRS)</a:t>
            </a:r>
            <a:endParaRPr dirty="0" lang="en-US"/>
          </a:p>
        </p:txBody>
      </p:sp>
      <p:sp>
        <p:nvSpPr>
          <p:cNvPr id="1048625" name="Content Placeholder 2"/>
          <p:cNvSpPr>
            <a:spLocks noGrp="1"/>
          </p:cNvSpPr>
          <p:nvPr>
            <p:ph sz="quarter" idx="1"/>
          </p:nvPr>
        </p:nvSpPr>
        <p:spPr/>
        <p:txBody>
          <a:bodyPr>
            <a:normAutofit fontScale="92500" lnSpcReduction="20000"/>
          </a:bodyPr>
          <a:p>
            <a:pPr>
              <a:buNone/>
            </a:pPr>
            <a:r>
              <a:rPr b="1" dirty="0" lang="en-US" smtClean="0"/>
              <a:t>LEARNING OBJECTIVES</a:t>
            </a:r>
          </a:p>
          <a:p>
            <a:pPr>
              <a:buNone/>
            </a:pPr>
            <a:r>
              <a:rPr dirty="0" lang="en-US" smtClean="0"/>
              <a:t>Upon completion of this course, the learner should be able to:</a:t>
            </a:r>
          </a:p>
          <a:p>
            <a:pPr indent="-514350" marL="514350">
              <a:buFont typeface="+mj-lt"/>
              <a:buAutoNum type="arabicPeriod"/>
            </a:pPr>
            <a:r>
              <a:rPr dirty="0" lang="en-US" smtClean="0"/>
              <a:t>Recall anatomy &amp; physiology of the skeletal muscular system</a:t>
            </a:r>
          </a:p>
          <a:p>
            <a:pPr indent="-514350" marL="514350">
              <a:buFont typeface="+mj-lt"/>
              <a:buAutoNum type="arabicPeriod"/>
            </a:pPr>
            <a:r>
              <a:rPr dirty="0" lang="en-US" smtClean="0"/>
              <a:t>Describe the process of bone healing</a:t>
            </a:r>
          </a:p>
          <a:p>
            <a:pPr indent="-514350" marL="514350">
              <a:buFont typeface="+mj-lt"/>
              <a:buAutoNum type="arabicPeriod"/>
            </a:pPr>
            <a:r>
              <a:rPr dirty="0" lang="en-US" smtClean="0"/>
              <a:t>Describe common </a:t>
            </a:r>
            <a:r>
              <a:rPr dirty="0" lang="en-US" err="1" smtClean="0"/>
              <a:t>orthopaedic</a:t>
            </a:r>
            <a:r>
              <a:rPr dirty="0" lang="en-US" smtClean="0"/>
              <a:t> diseases/conditions</a:t>
            </a:r>
          </a:p>
          <a:p>
            <a:pPr indent="-514350" marL="514350">
              <a:buFont typeface="+mj-lt"/>
              <a:buAutoNum type="arabicPeriod"/>
            </a:pPr>
            <a:r>
              <a:rPr dirty="0" lang="en-US" smtClean="0"/>
              <a:t>Demonstrate the ability to share health messages with a patient following application of POP.</a:t>
            </a:r>
          </a:p>
          <a:p>
            <a:pPr indent="-514350" marL="514350">
              <a:buFont typeface="+mj-lt"/>
              <a:buAutoNum type="arabicPeriod"/>
            </a:pPr>
            <a:r>
              <a:rPr dirty="0" lang="en-US" smtClean="0"/>
              <a:t>Demonstrate to a patient how to position the leg following application of skeletal traction</a:t>
            </a:r>
            <a:endParaRPr dirty="0" lang="en-US"/>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32" name=""/>
        <p:cNvGrpSpPr/>
        <p:nvPr/>
      </p:nvGrpSpPr>
      <p:grpSpPr>
        <a:xfrm>
          <a:off x="0" y="0"/>
          <a:ext cx="0" cy="0"/>
          <a:chOff x="0" y="0"/>
          <a:chExt cx="0" cy="0"/>
        </a:xfrm>
      </p:grpSpPr>
      <p:sp>
        <p:nvSpPr>
          <p:cNvPr id="1048626" name="Title 1"/>
          <p:cNvSpPr>
            <a:spLocks noGrp="1"/>
          </p:cNvSpPr>
          <p:nvPr>
            <p:ph type="title"/>
          </p:nvPr>
        </p:nvSpPr>
        <p:spPr/>
        <p:txBody>
          <a:bodyPr/>
          <a:p>
            <a:r>
              <a:rPr dirty="0" lang="en-US" smtClean="0"/>
              <a:t>ANATOMY &amp; PHYSIOLOGY</a:t>
            </a:r>
            <a:endParaRPr dirty="0" lang="en-US"/>
          </a:p>
        </p:txBody>
      </p:sp>
      <p:sp>
        <p:nvSpPr>
          <p:cNvPr id="1048627" name="Content Placeholder 2"/>
          <p:cNvSpPr>
            <a:spLocks noGrp="1"/>
          </p:cNvSpPr>
          <p:nvPr>
            <p:ph sz="quarter" idx="1"/>
          </p:nvPr>
        </p:nvSpPr>
        <p:spPr/>
        <p:txBody>
          <a:bodyPr/>
          <a:p>
            <a:pPr>
              <a:buNone/>
            </a:pPr>
            <a:r>
              <a:rPr b="1" dirty="0" lang="en-US" smtClean="0"/>
              <a:t>Individual assignment.</a:t>
            </a:r>
          </a:p>
          <a:p>
            <a:pPr>
              <a:buNone/>
            </a:pPr>
            <a:r>
              <a:rPr b="1" dirty="0" lang="en-US" smtClean="0"/>
              <a:t>Revise the A &amp; P of musculoskeletal system.</a:t>
            </a:r>
          </a:p>
          <a:p>
            <a:pPr>
              <a:buNone/>
            </a:pPr>
            <a:r>
              <a:rPr b="1" lang="en-US" smtClean="0"/>
              <a:t>Bone healing</a:t>
            </a:r>
            <a:endParaRPr b="1" dirty="0" lang="en-US" smtClean="0"/>
          </a:p>
          <a:p>
            <a:pPr>
              <a:buNone/>
            </a:pPr>
            <a:r>
              <a:rPr b="1" dirty="0" lang="en-US" smtClean="0"/>
              <a:t>Also connective tissue</a:t>
            </a:r>
          </a:p>
          <a:p>
            <a:pPr>
              <a:buNone/>
            </a:pPr>
            <a:endParaRPr b="1" dirty="0" lang="en-US" smtClean="0"/>
          </a:p>
          <a:p>
            <a:pPr>
              <a:buNone/>
            </a:pPr>
            <a:endParaRPr b="1" dirty="0" lang="en-US"/>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233" name=""/>
        <p:cNvGrpSpPr/>
        <p:nvPr/>
      </p:nvGrpSpPr>
      <p:grpSpPr>
        <a:xfrm>
          <a:off x="0" y="0"/>
          <a:ext cx="0" cy="0"/>
          <a:chOff x="0" y="0"/>
          <a:chExt cx="0" cy="0"/>
        </a:xfrm>
      </p:grpSpPr>
      <p:sp>
        <p:nvSpPr>
          <p:cNvPr id="1048628" name="Title 1"/>
          <p:cNvSpPr>
            <a:spLocks noGrp="1"/>
          </p:cNvSpPr>
          <p:nvPr>
            <p:ph type="title"/>
          </p:nvPr>
        </p:nvSpPr>
        <p:spPr/>
        <p:txBody>
          <a:bodyPr/>
          <a:p>
            <a:r>
              <a:rPr dirty="0" lang="en-US" smtClean="0"/>
              <a:t>TALIPES (CLUB FOOT)</a:t>
            </a:r>
            <a:endParaRPr dirty="0" lang="en-US"/>
          </a:p>
        </p:txBody>
      </p:sp>
      <p:pic>
        <p:nvPicPr>
          <p:cNvPr id="2097155" name="Content Placeholder 3" descr="http://medlibes.com/uploads/Screen%20shot%202010-07-14%20at%201.53.27%20PM.png">
            <a:hlinkClick r:id="rId1" tgtFrame="_blank"/>
          </p:cNvPr>
          <p:cNvPicPr>
            <a:picLocks noGrp="1"/>
          </p:cNvPicPr>
          <p:nvPr>
            <p:ph sz="quarter" idx="1"/>
          </p:nvPr>
        </p:nvPicPr>
        <p:blipFill>
          <a:blip xmlns:r="http://schemas.openxmlformats.org/officeDocument/2006/relationships" r:embed="rId2" cstate="print"/>
          <a:srcRect/>
          <a:stretch>
            <a:fillRect/>
          </a:stretch>
        </p:blipFill>
        <p:spPr bwMode="auto">
          <a:xfrm>
            <a:off x="533400" y="1295400"/>
            <a:ext cx="7848600" cy="4724400"/>
          </a:xfrm>
          <a:prstGeom prst="rect"/>
          <a:noFill/>
          <a:ln w="9525">
            <a:noFill/>
            <a:miter lim="800000"/>
            <a:headEnd/>
            <a:tailEnd/>
          </a:ln>
        </p:spPr>
      </p:pic>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234" name=""/>
        <p:cNvGrpSpPr/>
        <p:nvPr/>
      </p:nvGrpSpPr>
      <p:grpSpPr>
        <a:xfrm>
          <a:off x="0" y="0"/>
          <a:ext cx="0" cy="0"/>
          <a:chOff x="0" y="0"/>
          <a:chExt cx="0" cy="0"/>
        </a:xfrm>
      </p:grpSpPr>
      <p:sp>
        <p:nvSpPr>
          <p:cNvPr id="1048629" name="Title 1"/>
          <p:cNvSpPr>
            <a:spLocks noGrp="1"/>
          </p:cNvSpPr>
          <p:nvPr>
            <p:ph type="title"/>
          </p:nvPr>
        </p:nvSpPr>
        <p:spPr/>
        <p:txBody>
          <a:bodyPr/>
          <a:p>
            <a:r>
              <a:rPr b="1" dirty="0" lang="en-US" smtClean="0"/>
              <a:t>TALIPES/ CLUB FOOT</a:t>
            </a:r>
            <a:endParaRPr b="1" dirty="0" lang="en-US"/>
          </a:p>
        </p:txBody>
      </p:sp>
      <p:sp>
        <p:nvSpPr>
          <p:cNvPr id="1048630" name="Content Placeholder 2"/>
          <p:cNvSpPr>
            <a:spLocks noGrp="1"/>
          </p:cNvSpPr>
          <p:nvPr>
            <p:ph sz="quarter" idx="1"/>
          </p:nvPr>
        </p:nvSpPr>
        <p:spPr/>
        <p:txBody>
          <a:bodyPr>
            <a:normAutofit fontScale="85000" lnSpcReduction="10000"/>
          </a:bodyPr>
          <a:p>
            <a:pPr>
              <a:buNone/>
            </a:pPr>
            <a:r>
              <a:rPr dirty="0" lang="en-US" smtClean="0"/>
              <a:t>Is a congenitally inverted foot in which adduction, plantar flexion &amp; inversion of the foot occur in varying degrees of severity.</a:t>
            </a:r>
          </a:p>
          <a:p>
            <a:pPr>
              <a:buNone/>
            </a:pPr>
            <a:r>
              <a:rPr dirty="0" lang="en-US" smtClean="0"/>
              <a:t> The unilateral form occur commonly than the bilateral form.</a:t>
            </a:r>
          </a:p>
          <a:p>
            <a:pPr>
              <a:buNone/>
            </a:pPr>
            <a:r>
              <a:rPr b="1" dirty="0" lang="en-US" smtClean="0"/>
              <a:t>RISK FACTORS</a:t>
            </a:r>
          </a:p>
          <a:p>
            <a:pPr indent="-514350" marL="514350">
              <a:buFont typeface="+mj-lt"/>
              <a:buAutoNum type="arabicPeriod"/>
            </a:pPr>
            <a:r>
              <a:rPr dirty="0" lang="en-US" smtClean="0"/>
              <a:t>Intrauterine compression –faulty posture of the fetus in the uterus</a:t>
            </a:r>
          </a:p>
          <a:p>
            <a:pPr indent="-514350" marL="514350">
              <a:buFont typeface="+mj-lt"/>
              <a:buAutoNum type="arabicPeriod"/>
            </a:pPr>
            <a:r>
              <a:rPr dirty="0" lang="en-US" smtClean="0"/>
              <a:t>Decreased growth of distal tibia</a:t>
            </a:r>
          </a:p>
          <a:p>
            <a:pPr indent="-514350" marL="514350">
              <a:buFont typeface="+mj-lt"/>
              <a:buAutoNum type="arabicPeriod"/>
            </a:pPr>
            <a:r>
              <a:rPr dirty="0" lang="en-US" smtClean="0"/>
              <a:t>Family history of </a:t>
            </a:r>
            <a:r>
              <a:rPr dirty="0" lang="en-US" err="1" smtClean="0"/>
              <a:t>talipes</a:t>
            </a:r>
            <a:endParaRPr dirty="0" lang="en-US" smtClean="0"/>
          </a:p>
          <a:p>
            <a:pPr indent="-514350" marL="514350">
              <a:buFont typeface="+mj-lt"/>
              <a:buAutoNum type="arabicPeriod"/>
            </a:pPr>
            <a:r>
              <a:rPr dirty="0" lang="en-US" smtClean="0"/>
              <a:t>Poor muscular development-poor muscles allow the bone to dislocate.</a:t>
            </a:r>
          </a:p>
          <a:p>
            <a:pPr>
              <a:buNone/>
            </a:pPr>
            <a:endParaRPr dirty="0" lang="en-US"/>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235" name=""/>
        <p:cNvGrpSpPr/>
        <p:nvPr/>
      </p:nvGrpSpPr>
      <p:grpSpPr>
        <a:xfrm>
          <a:off x="0" y="0"/>
          <a:ext cx="0" cy="0"/>
          <a:chOff x="0" y="0"/>
          <a:chExt cx="0" cy="0"/>
        </a:xfrm>
      </p:grpSpPr>
      <p:sp>
        <p:nvSpPr>
          <p:cNvPr id="1048631" name="Title 1"/>
          <p:cNvSpPr>
            <a:spLocks noGrp="1"/>
          </p:cNvSpPr>
          <p:nvPr>
            <p:ph type="title"/>
          </p:nvPr>
        </p:nvSpPr>
        <p:spPr/>
        <p:txBody>
          <a:bodyPr/>
          <a:p>
            <a:r>
              <a:rPr dirty="0" lang="en-US" smtClean="0"/>
              <a:t>TALIPES</a:t>
            </a:r>
            <a:endParaRPr dirty="0" lang="en-US"/>
          </a:p>
        </p:txBody>
      </p:sp>
      <p:sp>
        <p:nvSpPr>
          <p:cNvPr id="1048632" name="Content Placeholder 2"/>
          <p:cNvSpPr>
            <a:spLocks noGrp="1"/>
          </p:cNvSpPr>
          <p:nvPr>
            <p:ph sz="quarter" idx="1"/>
          </p:nvPr>
        </p:nvSpPr>
        <p:spPr/>
        <p:txBody>
          <a:bodyPr>
            <a:normAutofit lnSpcReduction="10000"/>
          </a:bodyPr>
          <a:p>
            <a:pPr>
              <a:buNone/>
            </a:pPr>
            <a:r>
              <a:rPr b="1" dirty="0" lang="en-US" smtClean="0"/>
              <a:t>DIAGNOSIS</a:t>
            </a:r>
            <a:endParaRPr dirty="0" lang="en-US" smtClean="0"/>
          </a:p>
          <a:p>
            <a:pPr>
              <a:buNone/>
            </a:pPr>
            <a:r>
              <a:rPr dirty="0" lang="en-US" smtClean="0"/>
              <a:t>Clinical manifestation</a:t>
            </a:r>
          </a:p>
          <a:p>
            <a:pPr>
              <a:buNone/>
            </a:pPr>
            <a:r>
              <a:rPr b="1" dirty="0" lang="en-US" smtClean="0"/>
              <a:t>TREATMENT/MEDICAL MANAGEMENT</a:t>
            </a:r>
          </a:p>
          <a:p>
            <a:pPr>
              <a:buNone/>
            </a:pPr>
            <a:r>
              <a:rPr dirty="0" lang="en-US" smtClean="0"/>
              <a:t>Treatment is began immediately &amp; most often requires three stages for correction.</a:t>
            </a:r>
          </a:p>
          <a:p>
            <a:pPr>
              <a:buNone/>
            </a:pPr>
            <a:r>
              <a:rPr dirty="0" lang="en-US" smtClean="0"/>
              <a:t>(a) Correction of deformity: Casts are applied in series for gradual stretching &amp; strengthening;</a:t>
            </a:r>
          </a:p>
          <a:p>
            <a:pPr>
              <a:buNone/>
            </a:pPr>
            <a:r>
              <a:rPr dirty="0" lang="en-US" smtClean="0"/>
              <a:t>Massages accompanied by special bandaging may be used.</a:t>
            </a:r>
            <a:endParaRPr dirty="0" lang="en-US"/>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236" name=""/>
        <p:cNvGrpSpPr/>
        <p:nvPr/>
      </p:nvGrpSpPr>
      <p:grpSpPr>
        <a:xfrm>
          <a:off x="0" y="0"/>
          <a:ext cx="0" cy="0"/>
          <a:chOff x="0" y="0"/>
          <a:chExt cx="0" cy="0"/>
        </a:xfrm>
      </p:grpSpPr>
      <p:sp>
        <p:nvSpPr>
          <p:cNvPr id="1048633" name="Title 1"/>
          <p:cNvSpPr>
            <a:spLocks noGrp="1"/>
          </p:cNvSpPr>
          <p:nvPr>
            <p:ph type="title"/>
          </p:nvPr>
        </p:nvSpPr>
        <p:spPr/>
        <p:txBody>
          <a:bodyPr/>
          <a:p>
            <a:r>
              <a:rPr dirty="0" lang="en-US" smtClean="0"/>
              <a:t>TALIPES/ CLUB FOOT</a:t>
            </a:r>
            <a:endParaRPr dirty="0" lang="en-US"/>
          </a:p>
        </p:txBody>
      </p:sp>
      <p:sp>
        <p:nvSpPr>
          <p:cNvPr id="1048634" name="Content Placeholder 2"/>
          <p:cNvSpPr>
            <a:spLocks noGrp="1"/>
          </p:cNvSpPr>
          <p:nvPr>
            <p:ph sz="quarter" idx="1"/>
          </p:nvPr>
        </p:nvSpPr>
        <p:spPr/>
        <p:txBody>
          <a:bodyPr/>
          <a:p>
            <a:pPr>
              <a:buNone/>
            </a:pPr>
            <a:r>
              <a:rPr lang="en-US" smtClean="0"/>
              <a:t>(b) Maintainance of correction: Orthopaedic shoes.</a:t>
            </a:r>
          </a:p>
          <a:p>
            <a:pPr>
              <a:buNone/>
            </a:pPr>
            <a:r>
              <a:rPr lang="en-US" smtClean="0"/>
              <a:t>(c) Follow-up observations to prevent recurrence of the deformity.</a:t>
            </a:r>
          </a:p>
          <a:p>
            <a:pPr>
              <a:buNone/>
            </a:pPr>
            <a:r>
              <a:rPr b="1" lang="en-US" smtClean="0"/>
              <a:t>NURSING INTERVENTION</a:t>
            </a:r>
          </a:p>
          <a:p>
            <a:pPr indent="-514350" marL="514350">
              <a:buAutoNum type="arabicPeriod"/>
            </a:pPr>
            <a:r>
              <a:rPr lang="en-US" smtClean="0"/>
              <a:t>To assist parents to understand mechanism of treatment to achieve correction.</a:t>
            </a:r>
          </a:p>
          <a:p>
            <a:pPr indent="-514350" marL="514350">
              <a:buNone/>
            </a:pPr>
            <a:r>
              <a:rPr lang="en-US" smtClean="0"/>
              <a:t>(a) Appropriate care of cast or brace at home</a:t>
            </a:r>
          </a:p>
          <a:p>
            <a:pPr>
              <a:buNone/>
            </a:pPr>
            <a:endParaRPr dirty="0" lang="en-US"/>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237" name=""/>
        <p:cNvGrpSpPr/>
        <p:nvPr/>
      </p:nvGrpSpPr>
      <p:grpSpPr>
        <a:xfrm>
          <a:off x="0" y="0"/>
          <a:ext cx="0" cy="0"/>
          <a:chOff x="0" y="0"/>
          <a:chExt cx="0" cy="0"/>
        </a:xfrm>
      </p:grpSpPr>
      <p:sp>
        <p:nvSpPr>
          <p:cNvPr id="1048635" name="Title 1"/>
          <p:cNvSpPr>
            <a:spLocks noGrp="1"/>
          </p:cNvSpPr>
          <p:nvPr>
            <p:ph type="title"/>
          </p:nvPr>
        </p:nvSpPr>
        <p:spPr/>
        <p:txBody>
          <a:bodyPr/>
          <a:p>
            <a:r>
              <a:rPr dirty="0" lang="en-US" smtClean="0"/>
              <a:t>TALIPES</a:t>
            </a:r>
            <a:endParaRPr dirty="0" lang="en-US"/>
          </a:p>
        </p:txBody>
      </p:sp>
      <p:sp>
        <p:nvSpPr>
          <p:cNvPr id="1048636" name="Content Placeholder 2"/>
          <p:cNvSpPr>
            <a:spLocks noGrp="1"/>
          </p:cNvSpPr>
          <p:nvPr>
            <p:ph sz="quarter" idx="1"/>
          </p:nvPr>
        </p:nvSpPr>
        <p:spPr/>
        <p:txBody>
          <a:bodyPr>
            <a:normAutofit/>
          </a:bodyPr>
          <a:p>
            <a:pPr>
              <a:buNone/>
            </a:pPr>
            <a:r>
              <a:rPr dirty="0" lang="en-US" smtClean="0"/>
              <a:t>(b) Follow-up care &amp; importance of frequent cast changes.</a:t>
            </a:r>
          </a:p>
          <a:p>
            <a:pPr>
              <a:buNone/>
            </a:pPr>
            <a:r>
              <a:rPr dirty="0" lang="en-US" smtClean="0"/>
              <a:t>2. To facilitate developmental progress &amp; adapt nurturing activities.</a:t>
            </a:r>
          </a:p>
          <a:p>
            <a:pPr indent="-514350" marL="514350">
              <a:buAutoNum type="alphaLcParenBoth"/>
            </a:pPr>
            <a:r>
              <a:rPr dirty="0" lang="en-US" smtClean="0"/>
              <a:t>Provide appropriate stimuli &amp; activity for developmental level.</a:t>
            </a:r>
          </a:p>
          <a:p>
            <a:pPr indent="-514350" marL="514350">
              <a:buAutoNum type="alphaLcParenBoth"/>
            </a:pPr>
            <a:r>
              <a:rPr dirty="0" lang="en-US" smtClean="0"/>
              <a:t>Encourage parents to hold &amp; cuddle the baby.</a:t>
            </a:r>
          </a:p>
          <a:p>
            <a:pPr indent="-514350" marL="514350">
              <a:buAutoNum type="alphaLcParenBoth"/>
            </a:pPr>
            <a:r>
              <a:rPr dirty="0" lang="en-US" smtClean="0"/>
              <a:t>Maintain normal home routine.</a:t>
            </a:r>
            <a:endParaRPr dirty="0" lang="en-US"/>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238" name=""/>
        <p:cNvGrpSpPr/>
        <p:nvPr/>
      </p:nvGrpSpPr>
      <p:grpSpPr>
        <a:xfrm>
          <a:off x="0" y="0"/>
          <a:ext cx="0" cy="0"/>
          <a:chOff x="0" y="0"/>
          <a:chExt cx="0" cy="0"/>
        </a:xfrm>
      </p:grpSpPr>
      <p:sp>
        <p:nvSpPr>
          <p:cNvPr id="1048637" name="Title 1"/>
          <p:cNvSpPr>
            <a:spLocks noGrp="1"/>
          </p:cNvSpPr>
          <p:nvPr>
            <p:ph type="title"/>
          </p:nvPr>
        </p:nvSpPr>
        <p:spPr/>
        <p:txBody>
          <a:bodyPr/>
          <a:p>
            <a:r>
              <a:rPr dirty="0" lang="en-US" smtClean="0"/>
              <a:t>TALIPES</a:t>
            </a:r>
            <a:endParaRPr dirty="0" lang="en-US"/>
          </a:p>
        </p:txBody>
      </p:sp>
      <p:sp>
        <p:nvSpPr>
          <p:cNvPr id="1048638" name="Content Placeholder 2"/>
          <p:cNvSpPr>
            <a:spLocks noGrp="1"/>
          </p:cNvSpPr>
          <p:nvPr>
            <p:ph sz="quarter" idx="1"/>
          </p:nvPr>
        </p:nvSpPr>
        <p:spPr/>
        <p:txBody>
          <a:bodyPr/>
          <a:p>
            <a:pPr>
              <a:buNone/>
            </a:pPr>
            <a:r>
              <a:rPr b="1" dirty="0" lang="en-US" smtClean="0"/>
              <a:t>COMPLICATIONS</a:t>
            </a:r>
          </a:p>
          <a:p>
            <a:r>
              <a:rPr dirty="0" lang="en-US" smtClean="0"/>
              <a:t>Pressure sores due to tight casts.</a:t>
            </a:r>
          </a:p>
          <a:p>
            <a:r>
              <a:rPr dirty="0" lang="en-US" smtClean="0"/>
              <a:t>Rocker bottom deformity of the foot</a:t>
            </a:r>
          </a:p>
          <a:p>
            <a:r>
              <a:rPr dirty="0" lang="en-US" smtClean="0"/>
              <a:t>Failure to achieve correction.</a:t>
            </a:r>
            <a:endParaRPr dirty="0" lang="en-US"/>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239" name=""/>
        <p:cNvGrpSpPr/>
        <p:nvPr/>
      </p:nvGrpSpPr>
      <p:grpSpPr>
        <a:xfrm>
          <a:off x="0" y="0"/>
          <a:ext cx="0" cy="0"/>
          <a:chOff x="0" y="0"/>
          <a:chExt cx="0" cy="0"/>
        </a:xfrm>
      </p:grpSpPr>
      <p:sp>
        <p:nvSpPr>
          <p:cNvPr id="1048639" name="Title 1"/>
          <p:cNvSpPr>
            <a:spLocks noGrp="1"/>
          </p:cNvSpPr>
          <p:nvPr>
            <p:ph type="title"/>
          </p:nvPr>
        </p:nvSpPr>
        <p:spPr>
          <a:xfrm>
            <a:off x="457200" y="152400"/>
            <a:ext cx="8229600" cy="457200"/>
          </a:xfrm>
        </p:spPr>
        <p:txBody>
          <a:bodyPr>
            <a:normAutofit fontScale="90000"/>
          </a:bodyPr>
          <a:p>
            <a:r>
              <a:rPr dirty="0" lang="en-US" smtClean="0"/>
              <a:t>OSTEOGENESIS IMPERFECTA</a:t>
            </a:r>
            <a:endParaRPr dirty="0" lang="en-US"/>
          </a:p>
        </p:txBody>
      </p:sp>
      <p:pic>
        <p:nvPicPr>
          <p:cNvPr id="2097156" name="Content Placeholder 3" descr="C:\Users\admin\Documents\thCALGU7M4.jpg"/>
          <p:cNvPicPr>
            <a:picLocks noGrp="1"/>
          </p:cNvPicPr>
          <p:nvPr>
            <p:ph sz="quarter" idx="1"/>
          </p:nvPr>
        </p:nvPicPr>
        <p:blipFill>
          <a:blip xmlns:r="http://schemas.openxmlformats.org/officeDocument/2006/relationships" r:embed="rId1" cstate="print"/>
          <a:srcRect/>
          <a:stretch>
            <a:fillRect/>
          </a:stretch>
        </p:blipFill>
        <p:spPr bwMode="auto">
          <a:xfrm>
            <a:off x="533400" y="685800"/>
            <a:ext cx="8153400" cy="5562600"/>
          </a:xfrm>
          <a:prstGeom prst="rect"/>
          <a:noFill/>
          <a:ln w="9525">
            <a:noFill/>
            <a:miter lim="800000"/>
            <a:headEnd/>
            <a:tailEnd/>
          </a:ln>
        </p:spPr>
      </p:pic>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240" name=""/>
        <p:cNvGrpSpPr/>
        <p:nvPr/>
      </p:nvGrpSpPr>
      <p:grpSpPr>
        <a:xfrm>
          <a:off x="0" y="0"/>
          <a:ext cx="0" cy="0"/>
          <a:chOff x="0" y="0"/>
          <a:chExt cx="0" cy="0"/>
        </a:xfrm>
      </p:grpSpPr>
      <p:sp>
        <p:nvSpPr>
          <p:cNvPr id="1048640" name="Title 1"/>
          <p:cNvSpPr>
            <a:spLocks noGrp="1"/>
          </p:cNvSpPr>
          <p:nvPr>
            <p:ph type="title"/>
          </p:nvPr>
        </p:nvSpPr>
        <p:spPr/>
        <p:txBody>
          <a:bodyPr/>
          <a:p>
            <a:r>
              <a:rPr dirty="0" lang="en-US" smtClean="0"/>
              <a:t>OSTEOGENESIS IMPERFECTA</a:t>
            </a:r>
            <a:endParaRPr dirty="0" lang="en-US"/>
          </a:p>
        </p:txBody>
      </p:sp>
      <p:sp>
        <p:nvSpPr>
          <p:cNvPr id="1048641" name="Content Placeholder 2"/>
          <p:cNvSpPr>
            <a:spLocks noGrp="1"/>
          </p:cNvSpPr>
          <p:nvPr>
            <p:ph sz="quarter" idx="1"/>
          </p:nvPr>
        </p:nvSpPr>
        <p:spPr/>
        <p:txBody>
          <a:bodyPr>
            <a:normAutofit/>
          </a:bodyPr>
          <a:p>
            <a:pPr>
              <a:buFont typeface="Wingdings" pitchFamily="2" charset="2"/>
              <a:buChar char="Ø"/>
            </a:pPr>
            <a:r>
              <a:rPr dirty="0" lang="en-US" smtClean="0"/>
              <a:t>Also called brittle bone disease.</a:t>
            </a:r>
          </a:p>
          <a:p>
            <a:pPr>
              <a:buFont typeface="Wingdings" pitchFamily="2" charset="2"/>
              <a:buChar char="Ø"/>
            </a:pPr>
            <a:r>
              <a:rPr dirty="0" lang="en-US" smtClean="0"/>
              <a:t>Is a defect in the production of collagen resulting in repeated fractures with minor trauma.</a:t>
            </a:r>
          </a:p>
          <a:p>
            <a:pPr>
              <a:buFont typeface="Wingdings" pitchFamily="2" charset="2"/>
              <a:buChar char="Ø"/>
            </a:pPr>
            <a:r>
              <a:rPr dirty="0" lang="en-US" smtClean="0"/>
              <a:t>Spontaneous fractures occur in </a:t>
            </a:r>
            <a:r>
              <a:rPr dirty="0" lang="en-US" err="1" smtClean="0"/>
              <a:t>utero</a:t>
            </a:r>
            <a:r>
              <a:rPr dirty="0" lang="en-US" smtClean="0"/>
              <a:t> (</a:t>
            </a:r>
            <a:r>
              <a:rPr dirty="0" lang="en-US" err="1" smtClean="0"/>
              <a:t>osteogenesis</a:t>
            </a:r>
            <a:r>
              <a:rPr dirty="0" lang="en-US" smtClean="0"/>
              <a:t> </a:t>
            </a:r>
            <a:r>
              <a:rPr dirty="0" lang="en-US" err="1" smtClean="0"/>
              <a:t>congenita</a:t>
            </a:r>
            <a:r>
              <a:rPr dirty="0" lang="en-US" smtClean="0"/>
              <a:t>) or during birth or childhood (</a:t>
            </a:r>
            <a:r>
              <a:rPr dirty="0" lang="en-US" err="1" smtClean="0"/>
              <a:t>osteogenesis</a:t>
            </a:r>
            <a:r>
              <a:rPr dirty="0" lang="en-US" smtClean="0"/>
              <a:t> </a:t>
            </a:r>
            <a:r>
              <a:rPr dirty="0" lang="en-US" err="1" smtClean="0"/>
              <a:t>imperfecta</a:t>
            </a:r>
            <a:r>
              <a:rPr dirty="0" lang="en-US" smtClean="0"/>
              <a:t> </a:t>
            </a:r>
            <a:r>
              <a:rPr dirty="0" lang="en-US" err="1" smtClean="0"/>
              <a:t>tarda</a:t>
            </a:r>
            <a:r>
              <a:rPr dirty="0" lang="en-US" smtClean="0"/>
              <a:t>)</a:t>
            </a:r>
          </a:p>
          <a:p>
            <a:pPr>
              <a:buFont typeface="Wingdings" pitchFamily="2" charset="2"/>
              <a:buChar char="Ø"/>
            </a:pPr>
            <a:r>
              <a:rPr dirty="0" lang="en-US" smtClean="0"/>
              <a:t>Healing of the bone fractures progresses normally.</a:t>
            </a:r>
          </a:p>
          <a:p>
            <a:pPr>
              <a:buFont typeface="Wingdings" pitchFamily="2" charset="2"/>
              <a:buChar char="Ø"/>
            </a:pPr>
            <a:endParaRPr dirty="0" lang="en-US"/>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241" name=""/>
        <p:cNvGrpSpPr/>
        <p:nvPr/>
      </p:nvGrpSpPr>
      <p:grpSpPr>
        <a:xfrm>
          <a:off x="0" y="0"/>
          <a:ext cx="0" cy="0"/>
          <a:chOff x="0" y="0"/>
          <a:chExt cx="0" cy="0"/>
        </a:xfrm>
      </p:grpSpPr>
      <p:sp>
        <p:nvSpPr>
          <p:cNvPr id="1048642" name="Title 1"/>
          <p:cNvSpPr>
            <a:spLocks noGrp="1"/>
          </p:cNvSpPr>
          <p:nvPr>
            <p:ph type="title"/>
          </p:nvPr>
        </p:nvSpPr>
        <p:spPr/>
        <p:txBody>
          <a:bodyPr/>
          <a:p>
            <a:r>
              <a:rPr dirty="0" lang="en-US" smtClean="0"/>
              <a:t>OSTEOGENESIS IMPERFECTA</a:t>
            </a:r>
            <a:endParaRPr dirty="0" lang="en-US"/>
          </a:p>
        </p:txBody>
      </p:sp>
      <p:sp>
        <p:nvSpPr>
          <p:cNvPr id="1048643" name="Content Placeholder 2"/>
          <p:cNvSpPr>
            <a:spLocks noGrp="1"/>
          </p:cNvSpPr>
          <p:nvPr>
            <p:ph sz="quarter" idx="1"/>
          </p:nvPr>
        </p:nvSpPr>
        <p:spPr/>
        <p:txBody>
          <a:bodyPr/>
          <a:p>
            <a:pPr>
              <a:buFont typeface="Wingdings" pitchFamily="2" charset="2"/>
              <a:buChar char="Ø"/>
            </a:pPr>
            <a:r>
              <a:rPr dirty="0" lang="en-US" smtClean="0"/>
              <a:t>Later in life the tendency to fracture decrease &amp; often disappears.</a:t>
            </a:r>
          </a:p>
          <a:p>
            <a:pPr>
              <a:buFont typeface="Wingdings" pitchFamily="2" charset="2"/>
              <a:buChar char="Ø"/>
            </a:pPr>
            <a:r>
              <a:rPr dirty="0" lang="en-US" smtClean="0"/>
              <a:t>Vast majority of cases are transmitted as </a:t>
            </a:r>
            <a:r>
              <a:rPr dirty="0" lang="en-US" err="1" smtClean="0"/>
              <a:t>autosomal</a:t>
            </a:r>
            <a:r>
              <a:rPr dirty="0" lang="en-US" smtClean="0"/>
              <a:t> </a:t>
            </a:r>
            <a:r>
              <a:rPr dirty="0" lang="en-US" err="1" smtClean="0"/>
              <a:t>dorminant</a:t>
            </a:r>
            <a:r>
              <a:rPr dirty="0" lang="en-US" smtClean="0"/>
              <a:t> traits although a small percentage of congenital cases are transmitted as </a:t>
            </a:r>
            <a:r>
              <a:rPr dirty="0" lang="en-US" err="1" smtClean="0"/>
              <a:t>autosomal</a:t>
            </a:r>
            <a:r>
              <a:rPr dirty="0" lang="en-US" smtClean="0"/>
              <a:t> recessive </a:t>
            </a:r>
          </a:p>
          <a:p>
            <a:pPr>
              <a:buFont typeface="Wingdings" pitchFamily="2" charset="2"/>
              <a:buChar char="Ø"/>
            </a:pPr>
            <a:endParaRPr dirty="0" lang="en-US"/>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244" name=""/>
        <p:cNvGrpSpPr/>
        <p:nvPr/>
      </p:nvGrpSpPr>
      <p:grpSpPr>
        <a:xfrm>
          <a:off x="0" y="0"/>
          <a:ext cx="0" cy="0"/>
          <a:chOff x="0" y="0"/>
          <a:chExt cx="0" cy="0"/>
        </a:xfrm>
      </p:grpSpPr>
      <p:sp>
        <p:nvSpPr>
          <p:cNvPr id="1048647" name="Title 1"/>
          <p:cNvSpPr>
            <a:spLocks noGrp="1"/>
          </p:cNvSpPr>
          <p:nvPr>
            <p:ph type="title"/>
          </p:nvPr>
        </p:nvSpPr>
        <p:spPr/>
        <p:txBody>
          <a:bodyPr/>
          <a:p>
            <a:r>
              <a:rPr dirty="0" lang="en-US" smtClean="0"/>
              <a:t>OSTEOGENESIS IMPERFECTA</a:t>
            </a:r>
            <a:endParaRPr dirty="0" lang="en-US"/>
          </a:p>
        </p:txBody>
      </p:sp>
      <p:sp>
        <p:nvSpPr>
          <p:cNvPr id="1048648" name="Content Placeholder 2"/>
          <p:cNvSpPr>
            <a:spLocks noGrp="1"/>
          </p:cNvSpPr>
          <p:nvPr>
            <p:ph sz="quarter" idx="1"/>
          </p:nvPr>
        </p:nvSpPr>
        <p:spPr/>
        <p:txBody>
          <a:bodyPr>
            <a:normAutofit/>
          </a:bodyPr>
          <a:p>
            <a:pPr>
              <a:buNone/>
            </a:pPr>
            <a:r>
              <a:rPr b="1" dirty="0" lang="en-US" smtClean="0"/>
              <a:t>PRESENTATION</a:t>
            </a:r>
          </a:p>
          <a:p>
            <a:pPr indent="-514350" marL="514350">
              <a:buFont typeface="+mj-lt"/>
              <a:buAutoNum type="arabicPeriod"/>
            </a:pPr>
            <a:r>
              <a:rPr dirty="0" lang="en-US" smtClean="0"/>
              <a:t>Trauma during delivery may lead to intracranial hemorrhage &amp; stillbirth.</a:t>
            </a:r>
          </a:p>
          <a:p>
            <a:pPr indent="-514350" marL="514350">
              <a:buFont typeface="+mj-lt"/>
              <a:buAutoNum type="arabicPeriod"/>
            </a:pPr>
            <a:r>
              <a:rPr dirty="0" lang="en-US" smtClean="0"/>
              <a:t>At birth the skull is soft &amp; feels like a “bag of bones”.</a:t>
            </a:r>
          </a:p>
          <a:p>
            <a:pPr indent="-514350" marL="514350">
              <a:buFont typeface="+mj-lt"/>
              <a:buAutoNum type="arabicPeriod"/>
            </a:pPr>
            <a:r>
              <a:rPr dirty="0" lang="en-US" smtClean="0"/>
              <a:t>Infants born alive may die suddenly during the first few days or week.</a:t>
            </a:r>
          </a:p>
          <a:p>
            <a:pPr indent="-514350" marL="514350">
              <a:buFont typeface="+mj-lt"/>
              <a:buAutoNum type="arabicPeriod"/>
            </a:pPr>
            <a:r>
              <a:rPr dirty="0" lang="en-US" smtClean="0"/>
              <a:t>Survivors develop shortened extremities &amp; other bony deformities.</a:t>
            </a:r>
            <a:endParaRPr dirty="0" lang="en-US"/>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245" name=""/>
        <p:cNvGrpSpPr/>
        <p:nvPr/>
      </p:nvGrpSpPr>
      <p:grpSpPr>
        <a:xfrm>
          <a:off x="0" y="0"/>
          <a:ext cx="0" cy="0"/>
          <a:chOff x="0" y="0"/>
          <a:chExt cx="0" cy="0"/>
        </a:xfrm>
      </p:grpSpPr>
      <p:sp>
        <p:nvSpPr>
          <p:cNvPr id="1048649" name="Title 1"/>
          <p:cNvSpPr>
            <a:spLocks noGrp="1"/>
          </p:cNvSpPr>
          <p:nvPr>
            <p:ph type="title"/>
          </p:nvPr>
        </p:nvSpPr>
        <p:spPr/>
        <p:txBody>
          <a:bodyPr/>
          <a:p>
            <a:r>
              <a:rPr dirty="0" lang="en-US" smtClean="0"/>
              <a:t>OSTEOGENESIS IMPERFECTA</a:t>
            </a:r>
            <a:endParaRPr dirty="0" lang="en-US"/>
          </a:p>
        </p:txBody>
      </p:sp>
      <p:sp>
        <p:nvSpPr>
          <p:cNvPr id="1048650" name="Content Placeholder 2"/>
          <p:cNvSpPr>
            <a:spLocks noGrp="1"/>
          </p:cNvSpPr>
          <p:nvPr>
            <p:ph sz="quarter" idx="1"/>
          </p:nvPr>
        </p:nvSpPr>
        <p:spPr/>
        <p:txBody>
          <a:bodyPr/>
          <a:p>
            <a:pPr>
              <a:buNone/>
            </a:pPr>
            <a:r>
              <a:rPr dirty="0" lang="en-US" smtClean="0"/>
              <a:t>5. Mental development is normal unless CNS injury occurs.</a:t>
            </a:r>
          </a:p>
          <a:p>
            <a:pPr>
              <a:buNone/>
            </a:pPr>
            <a:r>
              <a:rPr dirty="0" lang="en-US" smtClean="0"/>
              <a:t>6. The </a:t>
            </a:r>
            <a:r>
              <a:rPr dirty="0" lang="en-US" err="1" smtClean="0"/>
              <a:t>sclerae</a:t>
            </a:r>
            <a:r>
              <a:rPr dirty="0" lang="en-US" smtClean="0"/>
              <a:t> is thin, translucent &amp; appear blue.</a:t>
            </a:r>
          </a:p>
          <a:p>
            <a:pPr>
              <a:buNone/>
            </a:pPr>
            <a:r>
              <a:rPr dirty="0" lang="en-US" smtClean="0"/>
              <a:t>7. Hearing loss from </a:t>
            </a:r>
            <a:r>
              <a:rPr dirty="0" lang="en-US" err="1" smtClean="0"/>
              <a:t>otosclerosis</a:t>
            </a:r>
            <a:r>
              <a:rPr dirty="0" lang="en-US" smtClean="0"/>
              <a:t> may occur.</a:t>
            </a:r>
          </a:p>
          <a:p>
            <a:pPr>
              <a:buNone/>
            </a:pPr>
            <a:r>
              <a:rPr dirty="0" lang="en-US" smtClean="0"/>
              <a:t>8. Joint instability.</a:t>
            </a:r>
            <a:endParaRPr dirty="0" lang="en-US"/>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246" name=""/>
        <p:cNvGrpSpPr/>
        <p:nvPr/>
      </p:nvGrpSpPr>
      <p:grpSpPr>
        <a:xfrm>
          <a:off x="0" y="0"/>
          <a:ext cx="0" cy="0"/>
          <a:chOff x="0" y="0"/>
          <a:chExt cx="0" cy="0"/>
        </a:xfrm>
      </p:grpSpPr>
      <p:sp>
        <p:nvSpPr>
          <p:cNvPr id="1048651" name="Title 1"/>
          <p:cNvSpPr>
            <a:spLocks noGrp="1"/>
          </p:cNvSpPr>
          <p:nvPr>
            <p:ph type="title"/>
          </p:nvPr>
        </p:nvSpPr>
        <p:spPr/>
        <p:txBody>
          <a:bodyPr/>
          <a:p>
            <a:r>
              <a:rPr dirty="0" lang="en-US" smtClean="0"/>
              <a:t>OSTEOGENESIS IMPERFECTA</a:t>
            </a:r>
            <a:endParaRPr dirty="0" lang="en-US"/>
          </a:p>
        </p:txBody>
      </p:sp>
      <p:sp>
        <p:nvSpPr>
          <p:cNvPr id="1048652" name="Content Placeholder 2"/>
          <p:cNvSpPr>
            <a:spLocks noGrp="1"/>
          </p:cNvSpPr>
          <p:nvPr>
            <p:ph sz="quarter" idx="1"/>
          </p:nvPr>
        </p:nvSpPr>
        <p:spPr/>
        <p:txBody>
          <a:bodyPr/>
          <a:p>
            <a:pPr>
              <a:buNone/>
            </a:pPr>
            <a:r>
              <a:rPr b="1" dirty="0" lang="en-US" smtClean="0"/>
              <a:t>MANAGEMENT</a:t>
            </a:r>
          </a:p>
          <a:p>
            <a:pPr>
              <a:buFont typeface="Wingdings" pitchFamily="2" charset="2"/>
              <a:buChar char="Ø"/>
            </a:pPr>
            <a:r>
              <a:rPr dirty="0" lang="en-US" smtClean="0"/>
              <a:t>To prevent fractures &amp; increase function</a:t>
            </a:r>
          </a:p>
          <a:p>
            <a:r>
              <a:rPr dirty="0" lang="en-US" smtClean="0"/>
              <a:t>Orthopedic treatment </a:t>
            </a:r>
          </a:p>
          <a:p>
            <a:r>
              <a:rPr dirty="0" lang="en-US" smtClean="0"/>
              <a:t>Physiotherapy &amp; occupational therapy</a:t>
            </a:r>
          </a:p>
          <a:p>
            <a:pPr>
              <a:buFont typeface="Wingdings" pitchFamily="2" charset="2"/>
              <a:buChar char="Ø"/>
            </a:pPr>
            <a:r>
              <a:rPr dirty="0" lang="en-US" smtClean="0"/>
              <a:t>Treatment with </a:t>
            </a:r>
            <a:r>
              <a:rPr dirty="0" lang="en-US" err="1" smtClean="0"/>
              <a:t>biphosphonate</a:t>
            </a:r>
            <a:r>
              <a:rPr dirty="0" lang="en-US" smtClean="0"/>
              <a:t> </a:t>
            </a:r>
            <a:r>
              <a:rPr dirty="0" lang="en-US" err="1" smtClean="0"/>
              <a:t>pamidronate</a:t>
            </a:r>
            <a:r>
              <a:rPr dirty="0" lang="en-US" smtClean="0"/>
              <a:t> given iv has been shown to increase bone mineral density &amp; motor function &amp; may decrease bone pain &amp; resorption.</a:t>
            </a:r>
          </a:p>
          <a:p>
            <a:endParaRPr dirty="0" lang="en-US"/>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247" name=""/>
        <p:cNvGrpSpPr/>
        <p:nvPr/>
      </p:nvGrpSpPr>
      <p:grpSpPr>
        <a:xfrm>
          <a:off x="0" y="0"/>
          <a:ext cx="0" cy="0"/>
          <a:chOff x="0" y="0"/>
          <a:chExt cx="0" cy="0"/>
        </a:xfrm>
      </p:grpSpPr>
      <p:sp>
        <p:nvSpPr>
          <p:cNvPr id="1048653" name="Title 1"/>
          <p:cNvSpPr>
            <a:spLocks noGrp="1"/>
          </p:cNvSpPr>
          <p:nvPr>
            <p:ph type="title"/>
          </p:nvPr>
        </p:nvSpPr>
        <p:spPr/>
        <p:txBody>
          <a:bodyPr/>
          <a:p>
            <a:r>
              <a:rPr dirty="0" lang="en-US" smtClean="0"/>
              <a:t>OSTEOGENESIS IMPERFECTA</a:t>
            </a:r>
            <a:endParaRPr dirty="0" lang="en-US"/>
          </a:p>
        </p:txBody>
      </p:sp>
      <p:sp>
        <p:nvSpPr>
          <p:cNvPr id="1048654" name="Content Placeholder 2"/>
          <p:cNvSpPr>
            <a:spLocks noGrp="1"/>
          </p:cNvSpPr>
          <p:nvPr>
            <p:ph sz="quarter" idx="1"/>
          </p:nvPr>
        </p:nvSpPr>
        <p:spPr/>
        <p:txBody>
          <a:bodyPr/>
          <a:p>
            <a:pPr>
              <a:buNone/>
            </a:pPr>
            <a:r>
              <a:rPr b="1" dirty="0" lang="en-US" smtClean="0"/>
              <a:t>COMPLICATION</a:t>
            </a:r>
          </a:p>
          <a:p>
            <a:pPr indent="-514350" marL="514350">
              <a:buFont typeface="+mj-lt"/>
              <a:buAutoNum type="arabicPeriod"/>
            </a:pPr>
            <a:r>
              <a:rPr dirty="0" lang="en-US" smtClean="0"/>
              <a:t>Failure to gain weight</a:t>
            </a:r>
          </a:p>
          <a:p>
            <a:pPr indent="-514350" marL="514350">
              <a:buFont typeface="+mj-lt"/>
              <a:buAutoNum type="arabicPeriod"/>
            </a:pPr>
            <a:r>
              <a:rPr dirty="0" lang="en-US" smtClean="0"/>
              <a:t>Bone deformities &amp; dwarfism</a:t>
            </a:r>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248" name=""/>
        <p:cNvGrpSpPr/>
        <p:nvPr/>
      </p:nvGrpSpPr>
      <p:grpSpPr>
        <a:xfrm>
          <a:off x="0" y="0"/>
          <a:ext cx="0" cy="0"/>
          <a:chOff x="0" y="0"/>
          <a:chExt cx="0" cy="0"/>
        </a:xfrm>
      </p:grpSpPr>
      <p:sp>
        <p:nvSpPr>
          <p:cNvPr id="1048655" name="Title 1"/>
          <p:cNvSpPr>
            <a:spLocks noGrp="1"/>
          </p:cNvSpPr>
          <p:nvPr>
            <p:ph type="title"/>
          </p:nvPr>
        </p:nvSpPr>
        <p:spPr/>
        <p:txBody>
          <a:bodyPr/>
          <a:p>
            <a:r>
              <a:rPr dirty="0" lang="en-US" smtClean="0"/>
              <a:t>HIP DYSPLASIA</a:t>
            </a:r>
            <a:endParaRPr dirty="0" lang="en-US"/>
          </a:p>
        </p:txBody>
      </p:sp>
      <p:sp>
        <p:nvSpPr>
          <p:cNvPr id="1048656" name="Content Placeholder 2"/>
          <p:cNvSpPr>
            <a:spLocks noGrp="1"/>
          </p:cNvSpPr>
          <p:nvPr>
            <p:ph sz="quarter" idx="1"/>
          </p:nvPr>
        </p:nvSpPr>
        <p:spPr/>
        <p:txBody>
          <a:bodyPr>
            <a:normAutofit fontScale="92500" lnSpcReduction="10000"/>
          </a:bodyPr>
          <a:p>
            <a:pPr>
              <a:buFont typeface="Wingdings" pitchFamily="2" charset="2"/>
              <a:buChar char="Ø"/>
            </a:pPr>
            <a:r>
              <a:rPr dirty="0" lang="en-US" smtClean="0"/>
              <a:t>Is a malformation of the hip as a result of imperfect development of the femoral head or the </a:t>
            </a:r>
            <a:r>
              <a:rPr dirty="0" lang="en-US" err="1" smtClean="0"/>
              <a:t>acetabulum</a:t>
            </a:r>
            <a:r>
              <a:rPr dirty="0" lang="en-US" smtClean="0"/>
              <a:t> or both.</a:t>
            </a:r>
          </a:p>
          <a:p>
            <a:pPr>
              <a:buFont typeface="Wingdings" pitchFamily="2" charset="2"/>
              <a:buChar char="Ø"/>
            </a:pPr>
            <a:r>
              <a:rPr dirty="0" lang="en-US" smtClean="0"/>
              <a:t>The structures that support the hip joint &amp; holds the joint together are too loose, or the joint cavity is too shallow.</a:t>
            </a:r>
          </a:p>
          <a:p>
            <a:pPr>
              <a:buNone/>
            </a:pPr>
            <a:r>
              <a:rPr b="1" dirty="0" lang="en-US" smtClean="0"/>
              <a:t>RISK FACTORS</a:t>
            </a:r>
          </a:p>
          <a:p>
            <a:pPr indent="-514350" marL="514350">
              <a:buFont typeface="+mj-lt"/>
              <a:buAutoNum type="arabicPeriod"/>
            </a:pPr>
            <a:r>
              <a:rPr dirty="0" lang="en-US" smtClean="0"/>
              <a:t>Frequently associated with other congenital deformities.</a:t>
            </a:r>
          </a:p>
          <a:p>
            <a:pPr indent="-514350" marL="514350">
              <a:buFont typeface="+mj-lt"/>
              <a:buAutoNum type="arabicPeriod"/>
            </a:pPr>
            <a:r>
              <a:rPr dirty="0" lang="en-US" smtClean="0"/>
              <a:t>Prenatal factors e.g. maternal hormonal secretion, intrauterine posture especially frank breech position </a:t>
            </a:r>
          </a:p>
          <a:p>
            <a:pPr>
              <a:buNone/>
            </a:pPr>
            <a:endParaRPr dirty="0" lang="en-US"/>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249" name=""/>
        <p:cNvGrpSpPr/>
        <p:nvPr/>
      </p:nvGrpSpPr>
      <p:grpSpPr>
        <a:xfrm>
          <a:off x="0" y="0"/>
          <a:ext cx="0" cy="0"/>
          <a:chOff x="0" y="0"/>
          <a:chExt cx="0" cy="0"/>
        </a:xfrm>
      </p:grpSpPr>
      <p:sp>
        <p:nvSpPr>
          <p:cNvPr id="1048657" name="Title 1"/>
          <p:cNvSpPr>
            <a:spLocks noGrp="1"/>
          </p:cNvSpPr>
          <p:nvPr>
            <p:ph type="title"/>
          </p:nvPr>
        </p:nvSpPr>
        <p:spPr/>
        <p:txBody>
          <a:bodyPr/>
          <a:p>
            <a:r>
              <a:rPr dirty="0" lang="en-US" smtClean="0"/>
              <a:t>HIP DYSPLASIA</a:t>
            </a:r>
            <a:endParaRPr dirty="0" lang="en-US"/>
          </a:p>
        </p:txBody>
      </p:sp>
      <p:sp>
        <p:nvSpPr>
          <p:cNvPr id="1048658" name="Content Placeholder 2"/>
          <p:cNvSpPr>
            <a:spLocks noGrp="1"/>
          </p:cNvSpPr>
          <p:nvPr>
            <p:ph sz="quarter" idx="1"/>
          </p:nvPr>
        </p:nvSpPr>
        <p:spPr/>
        <p:txBody>
          <a:bodyPr/>
          <a:p>
            <a:pPr>
              <a:buNone/>
            </a:pPr>
            <a:r>
              <a:rPr b="1" dirty="0" lang="en-US" smtClean="0"/>
              <a:t>CLINICAL MANIFESTATIONS (NEWBORN)</a:t>
            </a:r>
          </a:p>
          <a:p>
            <a:pPr indent="-514350" marL="514350">
              <a:buFont typeface="+mj-lt"/>
              <a:buAutoNum type="arabicPeriod"/>
            </a:pPr>
            <a:r>
              <a:rPr dirty="0" lang="en-US" err="1" smtClean="0"/>
              <a:t>Ortolani’s</a:t>
            </a:r>
            <a:r>
              <a:rPr dirty="0" lang="en-US" smtClean="0"/>
              <a:t> sign: Infant supine, knees flexed, hips fully abducted, a click is heard or felt as the hip is reduced by the abduction.</a:t>
            </a:r>
          </a:p>
          <a:p>
            <a:pPr indent="-514350" marL="514350">
              <a:buFont typeface="+mj-lt"/>
              <a:buAutoNum type="arabicPeriod"/>
            </a:pPr>
            <a:r>
              <a:rPr dirty="0" lang="en-US" smtClean="0"/>
              <a:t>Asymmetrical </a:t>
            </a:r>
            <a:r>
              <a:rPr dirty="0" lang="en-US" err="1" smtClean="0"/>
              <a:t>gluteal</a:t>
            </a:r>
            <a:r>
              <a:rPr dirty="0" lang="en-US" smtClean="0"/>
              <a:t> &amp; thigh folds.</a:t>
            </a:r>
          </a:p>
          <a:p>
            <a:pPr indent="-514350" marL="514350">
              <a:buFont typeface="+mj-lt"/>
              <a:buAutoNum type="arabicPeriod"/>
            </a:pPr>
            <a:r>
              <a:rPr dirty="0" lang="en-US" smtClean="0"/>
              <a:t>Shortening of the leg on the affected side, one knee is lower than the other (</a:t>
            </a:r>
            <a:r>
              <a:rPr dirty="0" lang="en-US" err="1" smtClean="0"/>
              <a:t>Galeazzi</a:t>
            </a:r>
            <a:r>
              <a:rPr dirty="0" lang="en-US" smtClean="0"/>
              <a:t> sign)</a:t>
            </a:r>
            <a:endParaRPr dirty="0" lang="en-US"/>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250" name=""/>
        <p:cNvGrpSpPr/>
        <p:nvPr/>
      </p:nvGrpSpPr>
      <p:grpSpPr>
        <a:xfrm>
          <a:off x="0" y="0"/>
          <a:ext cx="0" cy="0"/>
          <a:chOff x="0" y="0"/>
          <a:chExt cx="0" cy="0"/>
        </a:xfrm>
      </p:grpSpPr>
      <p:sp>
        <p:nvSpPr>
          <p:cNvPr id="1048659" name="Title 1"/>
          <p:cNvSpPr>
            <a:spLocks noGrp="1"/>
          </p:cNvSpPr>
          <p:nvPr>
            <p:ph type="title"/>
          </p:nvPr>
        </p:nvSpPr>
        <p:spPr/>
        <p:txBody>
          <a:bodyPr/>
          <a:p>
            <a:r>
              <a:rPr dirty="0" lang="en-US" smtClean="0"/>
              <a:t>HIP DYSPLASIA</a:t>
            </a:r>
            <a:endParaRPr dirty="0" lang="en-US"/>
          </a:p>
        </p:txBody>
      </p:sp>
      <p:sp>
        <p:nvSpPr>
          <p:cNvPr id="1048660" name="Content Placeholder 2"/>
          <p:cNvSpPr>
            <a:spLocks noGrp="1"/>
          </p:cNvSpPr>
          <p:nvPr>
            <p:ph sz="quarter" idx="1"/>
          </p:nvPr>
        </p:nvSpPr>
        <p:spPr/>
        <p:txBody>
          <a:bodyPr>
            <a:normAutofit/>
          </a:bodyPr>
          <a:p>
            <a:pPr>
              <a:buNone/>
            </a:pPr>
            <a:r>
              <a:rPr b="1" dirty="0" lang="en-US" smtClean="0"/>
              <a:t>DIAGNOSIS</a:t>
            </a:r>
          </a:p>
          <a:p>
            <a:pPr>
              <a:buFont typeface="Wingdings" pitchFamily="2" charset="2"/>
              <a:buChar char="Ø"/>
            </a:pPr>
            <a:r>
              <a:rPr dirty="0" lang="en-US" smtClean="0"/>
              <a:t>X-ray film</a:t>
            </a:r>
          </a:p>
          <a:p>
            <a:pPr>
              <a:buFont typeface="Wingdings" pitchFamily="2" charset="2"/>
              <a:buChar char="Ø"/>
            </a:pPr>
            <a:r>
              <a:rPr dirty="0" lang="en-US" smtClean="0"/>
              <a:t>CT Scan</a:t>
            </a:r>
          </a:p>
          <a:p>
            <a:pPr>
              <a:buNone/>
            </a:pPr>
            <a:r>
              <a:rPr b="1" dirty="0" lang="en-US" smtClean="0"/>
              <a:t>TREATMENT</a:t>
            </a:r>
          </a:p>
          <a:p>
            <a:pPr>
              <a:buFont typeface="Wingdings" pitchFamily="2" charset="2"/>
              <a:buChar char="Ø"/>
            </a:pPr>
            <a:r>
              <a:rPr dirty="0" lang="en-US" smtClean="0"/>
              <a:t>Is initiated as soon as condition is identified</a:t>
            </a:r>
          </a:p>
          <a:p>
            <a:pPr>
              <a:buFont typeface="Wingdings" pitchFamily="2" charset="2"/>
              <a:buChar char="Ø"/>
            </a:pPr>
            <a:r>
              <a:rPr dirty="0" lang="en-US" smtClean="0"/>
              <a:t>For newborn, the dislocated hip is securely held in a full abduction position. This keeps the femur in the </a:t>
            </a:r>
            <a:r>
              <a:rPr dirty="0" lang="en-US" err="1" smtClean="0"/>
              <a:t>acetabulum</a:t>
            </a:r>
            <a:r>
              <a:rPr dirty="0" lang="en-US" smtClean="0"/>
              <a:t> &amp; stabilizes the area </a:t>
            </a:r>
            <a:endParaRPr dirty="0" lang="en-US"/>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251" name=""/>
        <p:cNvGrpSpPr/>
        <p:nvPr/>
      </p:nvGrpSpPr>
      <p:grpSpPr>
        <a:xfrm>
          <a:off x="0" y="0"/>
          <a:ext cx="0" cy="0"/>
          <a:chOff x="0" y="0"/>
          <a:chExt cx="0" cy="0"/>
        </a:xfrm>
      </p:grpSpPr>
      <p:sp>
        <p:nvSpPr>
          <p:cNvPr id="1048661" name="Title 1"/>
          <p:cNvSpPr>
            <a:spLocks noGrp="1"/>
          </p:cNvSpPr>
          <p:nvPr>
            <p:ph type="title"/>
          </p:nvPr>
        </p:nvSpPr>
        <p:spPr/>
        <p:txBody>
          <a:bodyPr/>
          <a:p>
            <a:r>
              <a:rPr dirty="0" lang="en-US" smtClean="0"/>
              <a:t>HIP DYSPLASIA</a:t>
            </a:r>
            <a:endParaRPr dirty="0" lang="en-US"/>
          </a:p>
        </p:txBody>
      </p:sp>
      <p:sp>
        <p:nvSpPr>
          <p:cNvPr id="1048662" name="Content Placeholder 2"/>
          <p:cNvSpPr>
            <a:spLocks noGrp="1"/>
          </p:cNvSpPr>
          <p:nvPr>
            <p:ph sz="quarter" idx="1"/>
          </p:nvPr>
        </p:nvSpPr>
        <p:spPr/>
        <p:txBody>
          <a:bodyPr>
            <a:normAutofit/>
          </a:bodyPr>
          <a:p>
            <a:pPr>
              <a:buFont typeface="Wingdings" pitchFamily="2" charset="2"/>
              <a:buChar char="Ø"/>
            </a:pPr>
            <a:r>
              <a:rPr dirty="0" lang="en-US" smtClean="0"/>
              <a:t>Abduction devices</a:t>
            </a:r>
          </a:p>
          <a:p>
            <a:pPr indent="-514350" marL="514350">
              <a:buFont typeface="+mj-lt"/>
              <a:buAutoNum type="alphaLcParenR"/>
            </a:pPr>
            <a:r>
              <a:rPr dirty="0" lang="en-US" err="1" smtClean="0"/>
              <a:t>Pavlik</a:t>
            </a:r>
            <a:r>
              <a:rPr dirty="0" lang="en-US" smtClean="0"/>
              <a:t> harness: a fabric, strap harness that is secured around the infant’s shoulders &amp; chest &amp; is connected to straps around the lower leg. The harness maintains the legs in a flexed, abducted position at the hip. The harness maybe removed for bathing, but the infant will wear it full time until the hip is stable.</a:t>
            </a:r>
            <a:endParaRPr dirty="0" lang="en-US"/>
          </a:p>
        </p:txBody>
      </p:sp>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252" name=""/>
        <p:cNvGrpSpPr/>
        <p:nvPr/>
      </p:nvGrpSpPr>
      <p:grpSpPr>
        <a:xfrm>
          <a:off x="0" y="0"/>
          <a:ext cx="0" cy="0"/>
          <a:chOff x="0" y="0"/>
          <a:chExt cx="0" cy="0"/>
        </a:xfrm>
      </p:grpSpPr>
      <p:sp>
        <p:nvSpPr>
          <p:cNvPr id="1048663" name="Title 1"/>
          <p:cNvSpPr>
            <a:spLocks noGrp="1"/>
          </p:cNvSpPr>
          <p:nvPr>
            <p:ph type="title"/>
          </p:nvPr>
        </p:nvSpPr>
        <p:spPr/>
        <p:txBody>
          <a:bodyPr/>
          <a:p>
            <a:r>
              <a:rPr dirty="0" lang="en-US" smtClean="0"/>
              <a:t>HIP DYSPLASIA</a:t>
            </a:r>
            <a:endParaRPr dirty="0" lang="en-US"/>
          </a:p>
        </p:txBody>
      </p:sp>
      <p:sp>
        <p:nvSpPr>
          <p:cNvPr id="1048664" name="Content Placeholder 2"/>
          <p:cNvSpPr>
            <a:spLocks noGrp="1"/>
          </p:cNvSpPr>
          <p:nvPr>
            <p:ph sz="quarter" idx="1"/>
          </p:nvPr>
        </p:nvSpPr>
        <p:spPr/>
        <p:txBody>
          <a:bodyPr/>
          <a:p>
            <a:pPr>
              <a:buNone/>
            </a:pPr>
            <a:r>
              <a:rPr dirty="0" lang="en-US" smtClean="0"/>
              <a:t>b) Hip </a:t>
            </a:r>
            <a:r>
              <a:rPr dirty="0" lang="en-US" err="1" smtClean="0"/>
              <a:t>spica</a:t>
            </a:r>
            <a:r>
              <a:rPr dirty="0" lang="en-US" smtClean="0"/>
              <a:t> cast, most often used when adduction contracture is present. After the removal of the cast, a protective abduction brace is fitted.</a:t>
            </a:r>
          </a:p>
          <a:p>
            <a:pPr>
              <a:buNone/>
            </a:pPr>
            <a:r>
              <a:rPr dirty="0" lang="en-US" smtClean="0"/>
              <a:t>c) Closed reduction: Performed in older children, 6-8 months old.</a:t>
            </a:r>
          </a:p>
          <a:p>
            <a:pPr>
              <a:buNone/>
            </a:pPr>
            <a:r>
              <a:rPr dirty="0" lang="en-US" smtClean="0"/>
              <a:t>d) Open reduction: becomes increasingly difficult after the age of 4 years.</a:t>
            </a:r>
            <a:endParaRPr dirty="0" lang="en-US"/>
          </a:p>
        </p:txBody>
      </p: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253" name=""/>
        <p:cNvGrpSpPr/>
        <p:nvPr/>
      </p:nvGrpSpPr>
      <p:grpSpPr>
        <a:xfrm>
          <a:off x="0" y="0"/>
          <a:ext cx="0" cy="0"/>
          <a:chOff x="0" y="0"/>
          <a:chExt cx="0" cy="0"/>
        </a:xfrm>
      </p:grpSpPr>
      <p:sp>
        <p:nvSpPr>
          <p:cNvPr id="1048665" name="Title 1"/>
          <p:cNvSpPr>
            <a:spLocks noGrp="1"/>
          </p:cNvSpPr>
          <p:nvPr>
            <p:ph type="title"/>
          </p:nvPr>
        </p:nvSpPr>
        <p:spPr/>
        <p:txBody>
          <a:bodyPr/>
          <a:p>
            <a:r>
              <a:rPr dirty="0" lang="en-US" smtClean="0"/>
              <a:t>HIP DYSPLASIA-PAVLIK HARNESS</a:t>
            </a:r>
            <a:endParaRPr dirty="0" lang="en-US"/>
          </a:p>
        </p:txBody>
      </p:sp>
      <p:pic>
        <p:nvPicPr>
          <p:cNvPr id="2097157" name="Content Placeholder 4" descr="http://ts1.mm.bing.net/th?id=H.4891728276753096&amp;pid=1.9">
            <a:hlinkClick r:id="rId1"/>
          </p:cNvPr>
          <p:cNvPicPr>
            <a:picLocks noGrp="1"/>
          </p:cNvPicPr>
          <p:nvPr>
            <p:ph sz="quarter" idx="1"/>
          </p:nvPr>
        </p:nvPicPr>
        <p:blipFill>
          <a:blip xmlns:r="http://schemas.openxmlformats.org/officeDocument/2006/relationships" r:embed="rId2" cstate="print"/>
          <a:stretch>
            <a:fillRect/>
          </a:stretch>
        </p:blipFill>
        <p:spPr bwMode="auto">
          <a:xfrm>
            <a:off x="3641725" y="2419350"/>
            <a:ext cx="2095500" cy="2857500"/>
          </a:xfrm>
          <a:prstGeom prst="rect"/>
          <a:noFill/>
          <a:ln w="9525">
            <a:noFill/>
            <a:miter lim="800000"/>
            <a:headEnd/>
            <a:tailEnd/>
          </a:ln>
        </p:spPr>
      </p:pic>
    </p:spTree>
  </p:cSld>
  <p:clrMapOvr>
    <a:masterClrMapping/>
  </p:clrMapOvr>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254" name=""/>
        <p:cNvGrpSpPr/>
        <p:nvPr/>
      </p:nvGrpSpPr>
      <p:grpSpPr>
        <a:xfrm>
          <a:off x="0" y="0"/>
          <a:ext cx="0" cy="0"/>
          <a:chOff x="0" y="0"/>
          <a:chExt cx="0" cy="0"/>
        </a:xfrm>
      </p:grpSpPr>
      <p:sp>
        <p:nvSpPr>
          <p:cNvPr id="1048666" name="Title 1"/>
          <p:cNvSpPr>
            <a:spLocks noGrp="1"/>
          </p:cNvSpPr>
          <p:nvPr>
            <p:ph type="title"/>
          </p:nvPr>
        </p:nvSpPr>
        <p:spPr/>
        <p:txBody>
          <a:bodyPr/>
          <a:p>
            <a:r>
              <a:rPr dirty="0" lang="en-US" smtClean="0"/>
              <a:t>HIP DYSPLASIA</a:t>
            </a:r>
            <a:endParaRPr dirty="0" lang="en-US"/>
          </a:p>
        </p:txBody>
      </p:sp>
      <p:sp>
        <p:nvSpPr>
          <p:cNvPr id="1048667" name="Content Placeholder 2"/>
          <p:cNvSpPr>
            <a:spLocks noGrp="1"/>
          </p:cNvSpPr>
          <p:nvPr>
            <p:ph sz="quarter" idx="1"/>
          </p:nvPr>
        </p:nvSpPr>
        <p:spPr/>
        <p:txBody>
          <a:bodyPr>
            <a:normAutofit lnSpcReduction="10000"/>
          </a:bodyPr>
          <a:p>
            <a:pPr>
              <a:buNone/>
            </a:pPr>
            <a:r>
              <a:rPr b="1" dirty="0" lang="en-US" smtClean="0"/>
              <a:t>NURSING INTERVENTION</a:t>
            </a:r>
          </a:p>
          <a:p>
            <a:pPr indent="-514350" marL="514350">
              <a:buFont typeface="+mj-lt"/>
              <a:buAutoNum type="arabicPeriod"/>
            </a:pPr>
            <a:r>
              <a:rPr dirty="0" lang="en-US" smtClean="0"/>
              <a:t>To identify hip dysplasia in the newborn before discharge.</a:t>
            </a:r>
          </a:p>
          <a:p>
            <a:pPr indent="-514350" marL="514350">
              <a:buFont typeface="+mj-lt"/>
              <a:buAutoNum type="arabicPeriod"/>
            </a:pPr>
            <a:r>
              <a:rPr dirty="0" lang="en-US" smtClean="0"/>
              <a:t>To assist parents to understand mechanisms to maintain reduction</a:t>
            </a:r>
          </a:p>
          <a:p>
            <a:pPr indent="-514350" marL="514350">
              <a:buNone/>
            </a:pPr>
            <a:r>
              <a:rPr dirty="0" lang="en-US" smtClean="0"/>
              <a:t>(a) </a:t>
            </a:r>
            <a:r>
              <a:rPr dirty="0" lang="en-US" err="1" smtClean="0"/>
              <a:t>Pavlik</a:t>
            </a:r>
            <a:r>
              <a:rPr dirty="0" lang="en-US" smtClean="0"/>
              <a:t> brace: Teach parents the application of brace, undershirts should be worn beneath the brace. Check skin under brace for irritation or pressure areas, no lotions or oils should be applied to the skin that will be under brace.</a:t>
            </a:r>
          </a:p>
          <a:p>
            <a:pPr>
              <a:buNone/>
            </a:pPr>
            <a:endParaRPr dirty="0" lang="en-US"/>
          </a:p>
        </p:txBody>
      </p:sp>
    </p:spTree>
  </p:cSld>
  <p:clrMapOvr>
    <a:masterClrMapping/>
  </p:clrMapOvr>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255" name=""/>
        <p:cNvGrpSpPr/>
        <p:nvPr/>
      </p:nvGrpSpPr>
      <p:grpSpPr>
        <a:xfrm>
          <a:off x="0" y="0"/>
          <a:ext cx="0" cy="0"/>
          <a:chOff x="0" y="0"/>
          <a:chExt cx="0" cy="0"/>
        </a:xfrm>
      </p:grpSpPr>
      <p:sp>
        <p:nvSpPr>
          <p:cNvPr id="1048668" name="Title 1"/>
          <p:cNvSpPr>
            <a:spLocks noGrp="1"/>
          </p:cNvSpPr>
          <p:nvPr>
            <p:ph type="title"/>
          </p:nvPr>
        </p:nvSpPr>
        <p:spPr/>
        <p:txBody>
          <a:bodyPr>
            <a:normAutofit/>
          </a:bodyPr>
          <a:p>
            <a:r>
              <a:rPr dirty="0" lang="en-US" smtClean="0"/>
              <a:t>HIP DYSPLASIA</a:t>
            </a:r>
            <a:endParaRPr dirty="0" lang="en-US"/>
          </a:p>
        </p:txBody>
      </p:sp>
      <p:sp>
        <p:nvSpPr>
          <p:cNvPr id="1048669" name="Content Placeholder 2"/>
          <p:cNvSpPr>
            <a:spLocks noGrp="1"/>
          </p:cNvSpPr>
          <p:nvPr>
            <p:ph sz="quarter" idx="1"/>
          </p:nvPr>
        </p:nvSpPr>
        <p:spPr/>
        <p:txBody>
          <a:bodyPr/>
          <a:p>
            <a:pPr>
              <a:buNone/>
            </a:pPr>
            <a:r>
              <a:rPr dirty="0" lang="en-US" smtClean="0"/>
              <a:t>(b) Teach parents cast care if hip </a:t>
            </a:r>
            <a:r>
              <a:rPr dirty="0" lang="en-US" err="1" smtClean="0"/>
              <a:t>spica</a:t>
            </a:r>
            <a:r>
              <a:rPr dirty="0" lang="en-US" smtClean="0"/>
              <a:t> cast is applied.</a:t>
            </a:r>
          </a:p>
          <a:p>
            <a:pPr>
              <a:buNone/>
            </a:pPr>
            <a:r>
              <a:rPr dirty="0" lang="en-US" smtClean="0"/>
              <a:t>3. To facilitate developmental progress.</a:t>
            </a:r>
          </a:p>
          <a:p>
            <a:pPr indent="-514350" marL="514350">
              <a:buFont typeface="+mj-lt"/>
              <a:buAutoNum type="alphaLcParenR"/>
            </a:pPr>
            <a:r>
              <a:rPr dirty="0" lang="en-US" smtClean="0"/>
              <a:t>Provide appropriate stimuli &amp; activity for developmental level.</a:t>
            </a:r>
          </a:p>
          <a:p>
            <a:pPr indent="-514350" marL="514350">
              <a:buFont typeface="+mj-lt"/>
              <a:buAutoNum type="alphaLcParenR"/>
            </a:pPr>
            <a:r>
              <a:rPr dirty="0" lang="en-US" smtClean="0"/>
              <a:t>Encourage parents to hold &amp; cuddle child.</a:t>
            </a:r>
          </a:p>
          <a:p>
            <a:pPr indent="-514350" marL="514350">
              <a:buFont typeface="+mj-lt"/>
              <a:buAutoNum type="alphaLcParenR"/>
            </a:pPr>
            <a:r>
              <a:rPr dirty="0" lang="en-US" smtClean="0"/>
              <a:t>Maintain normal home routine.</a:t>
            </a:r>
            <a:endParaRPr dirty="0" lang="en-US"/>
          </a:p>
        </p:txBody>
      </p:sp>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256" name=""/>
        <p:cNvGrpSpPr/>
        <p:nvPr/>
      </p:nvGrpSpPr>
      <p:grpSpPr>
        <a:xfrm>
          <a:off x="0" y="0"/>
          <a:ext cx="0" cy="0"/>
          <a:chOff x="0" y="0"/>
          <a:chExt cx="0" cy="0"/>
        </a:xfrm>
      </p:grpSpPr>
      <p:sp>
        <p:nvSpPr>
          <p:cNvPr id="1048670" name="Title 1"/>
          <p:cNvSpPr>
            <a:spLocks noGrp="1"/>
          </p:cNvSpPr>
          <p:nvPr>
            <p:ph type="title"/>
          </p:nvPr>
        </p:nvSpPr>
        <p:spPr/>
        <p:txBody>
          <a:bodyPr/>
          <a:p>
            <a:r>
              <a:rPr dirty="0" lang="en-US" smtClean="0"/>
              <a:t>OSTEOPOROSIS (POROUS BONE)</a:t>
            </a:r>
            <a:endParaRPr dirty="0" lang="en-US"/>
          </a:p>
        </p:txBody>
      </p:sp>
      <p:pic>
        <p:nvPicPr>
          <p:cNvPr id="2097158" name="Content Placeholder 3" descr="http://ts3.mm.bing.net/th?id=H.4691462540296338&amp;pid=1.9">
            <a:hlinkClick r:id="rId1"/>
          </p:cNvPr>
          <p:cNvPicPr>
            <a:picLocks noGrp="1"/>
          </p:cNvPicPr>
          <p:nvPr>
            <p:ph sz="quarter" idx="1"/>
          </p:nvPr>
        </p:nvPicPr>
        <p:blipFill>
          <a:blip xmlns:r="http://schemas.openxmlformats.org/officeDocument/2006/relationships" r:embed="rId2" cstate="print"/>
          <a:srcRect/>
          <a:stretch>
            <a:fillRect/>
          </a:stretch>
        </p:blipFill>
        <p:spPr bwMode="auto">
          <a:xfrm>
            <a:off x="1600200" y="1295400"/>
            <a:ext cx="5791200" cy="4953000"/>
          </a:xfrm>
          <a:prstGeom prst="rect"/>
          <a:noFill/>
          <a:ln w="9525">
            <a:noFill/>
            <a:miter lim="800000"/>
            <a:headEnd/>
            <a:tailEnd/>
          </a:ln>
        </p:spPr>
      </p:pic>
    </p:spTree>
  </p:cSld>
  <p:clrMapOvr>
    <a:masterClrMapping/>
  </p:clrMapOvr>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257" name=""/>
        <p:cNvGrpSpPr/>
        <p:nvPr/>
      </p:nvGrpSpPr>
      <p:grpSpPr>
        <a:xfrm>
          <a:off x="0" y="0"/>
          <a:ext cx="0" cy="0"/>
          <a:chOff x="0" y="0"/>
          <a:chExt cx="0" cy="0"/>
        </a:xfrm>
      </p:grpSpPr>
      <p:sp>
        <p:nvSpPr>
          <p:cNvPr id="1048671" name="Title 1"/>
          <p:cNvSpPr>
            <a:spLocks noGrp="1"/>
          </p:cNvSpPr>
          <p:nvPr>
            <p:ph type="title"/>
          </p:nvPr>
        </p:nvSpPr>
        <p:spPr/>
        <p:txBody>
          <a:bodyPr/>
          <a:p>
            <a:r>
              <a:rPr dirty="0" lang="en-US" smtClean="0"/>
              <a:t>OSTEOPOROSIS (POROUS BONE)</a:t>
            </a:r>
            <a:endParaRPr dirty="0" lang="en-US"/>
          </a:p>
        </p:txBody>
      </p:sp>
      <p:sp>
        <p:nvSpPr>
          <p:cNvPr id="1048672" name="Content Placeholder 2"/>
          <p:cNvSpPr>
            <a:spLocks noGrp="1"/>
          </p:cNvSpPr>
          <p:nvPr>
            <p:ph sz="quarter" idx="1"/>
          </p:nvPr>
        </p:nvSpPr>
        <p:spPr/>
        <p:txBody>
          <a:bodyPr>
            <a:normAutofit fontScale="92500"/>
          </a:bodyPr>
          <a:p>
            <a:pPr>
              <a:buFont typeface="Wingdings" pitchFamily="2" charset="2"/>
              <a:buChar char="Ø"/>
            </a:pPr>
            <a:r>
              <a:rPr dirty="0" lang="en-US" smtClean="0"/>
              <a:t>A metabolic bone disease that involves an imbalance between new bone formation &amp; bone resorption.</a:t>
            </a:r>
          </a:p>
          <a:p>
            <a:pPr>
              <a:buFont typeface="Wingdings" pitchFamily="2" charset="2"/>
              <a:buChar char="Ø"/>
            </a:pPr>
            <a:r>
              <a:rPr dirty="0" lang="en-US" smtClean="0"/>
              <a:t>Primary osteoporosis is the most common type, often in women after menopause because low levels of estrogen are associated with an increase in bone resorption.</a:t>
            </a:r>
          </a:p>
          <a:p>
            <a:pPr>
              <a:buFont typeface="Wingdings" pitchFamily="2" charset="2"/>
              <a:buChar char="Ø"/>
            </a:pPr>
            <a:r>
              <a:rPr dirty="0" lang="en-US" smtClean="0"/>
              <a:t>Bone loss occurs predominantly in the vertebral bodies of the spine, femoral neck in the hip, &amp; the distal radius of the arm. Bone mass declines, leaving the bones brittle &amp; weak.  </a:t>
            </a:r>
            <a:endParaRPr dirty="0" lang="en-US"/>
          </a:p>
        </p:txBody>
      </p:sp>
    </p:spTree>
  </p:cSld>
  <p:clrMapOvr>
    <a:masterClrMapping/>
  </p:clrMapOvr>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258" name=""/>
        <p:cNvGrpSpPr/>
        <p:nvPr/>
      </p:nvGrpSpPr>
      <p:grpSpPr>
        <a:xfrm>
          <a:off x="0" y="0"/>
          <a:ext cx="0" cy="0"/>
          <a:chOff x="0" y="0"/>
          <a:chExt cx="0" cy="0"/>
        </a:xfrm>
      </p:grpSpPr>
      <p:sp>
        <p:nvSpPr>
          <p:cNvPr id="1048673" name="Title 1"/>
          <p:cNvSpPr>
            <a:spLocks noGrp="1"/>
          </p:cNvSpPr>
          <p:nvPr>
            <p:ph type="title"/>
          </p:nvPr>
        </p:nvSpPr>
        <p:spPr/>
        <p:txBody>
          <a:bodyPr/>
          <a:p>
            <a:r>
              <a:rPr dirty="0" lang="en-US" smtClean="0"/>
              <a:t>OSTEOPOROSIS (POROUS BONE)</a:t>
            </a:r>
            <a:endParaRPr dirty="0" lang="en-US"/>
          </a:p>
        </p:txBody>
      </p:sp>
      <p:sp>
        <p:nvSpPr>
          <p:cNvPr id="1048674" name="Content Placeholder 2"/>
          <p:cNvSpPr>
            <a:spLocks noGrp="1"/>
          </p:cNvSpPr>
          <p:nvPr>
            <p:ph sz="quarter" idx="1"/>
          </p:nvPr>
        </p:nvSpPr>
        <p:spPr/>
        <p:txBody>
          <a:bodyPr>
            <a:normAutofit fontScale="92500" lnSpcReduction="10000"/>
          </a:bodyPr>
          <a:p>
            <a:pPr>
              <a:buNone/>
            </a:pPr>
            <a:r>
              <a:rPr b="1" dirty="0" lang="en-US" smtClean="0"/>
              <a:t>RISK FACTORS</a:t>
            </a:r>
          </a:p>
          <a:p>
            <a:pPr indent="-514350" marL="514350">
              <a:buFont typeface="+mj-lt"/>
              <a:buAutoNum type="arabicPeriod"/>
            </a:pPr>
            <a:r>
              <a:rPr dirty="0" lang="en-US" smtClean="0"/>
              <a:t>Increased incidence in women after the age of 50 yrs.</a:t>
            </a:r>
          </a:p>
          <a:p>
            <a:pPr indent="-514350" marL="514350">
              <a:buFont typeface="+mj-lt"/>
              <a:buAutoNum type="arabicPeriod"/>
            </a:pPr>
            <a:r>
              <a:rPr dirty="0" lang="en-US" smtClean="0"/>
              <a:t>Early </a:t>
            </a:r>
            <a:r>
              <a:rPr dirty="0" lang="en-US" err="1" smtClean="0"/>
              <a:t>menopouse</a:t>
            </a:r>
            <a:endParaRPr dirty="0" lang="en-US" smtClean="0"/>
          </a:p>
          <a:p>
            <a:pPr indent="-514350" marL="514350">
              <a:buFont typeface="+mj-lt"/>
              <a:buAutoNum type="arabicPeriod"/>
            </a:pPr>
            <a:r>
              <a:rPr dirty="0" lang="en-US" smtClean="0"/>
              <a:t>Low peak bone mass (maximum amount of bone a person achieves)</a:t>
            </a:r>
          </a:p>
          <a:p>
            <a:pPr indent="-514350" marL="514350">
              <a:buFont typeface="+mj-lt"/>
              <a:buAutoNum type="arabicPeriod"/>
            </a:pPr>
            <a:r>
              <a:rPr dirty="0" lang="en-US" smtClean="0"/>
              <a:t>Excessive alcohol intake-act on bone cells to reduce remodeling by increasing the parathyroid hormone</a:t>
            </a:r>
          </a:p>
          <a:p>
            <a:pPr indent="-514350" marL="514350">
              <a:buFont typeface="+mj-lt"/>
              <a:buAutoNum type="arabicPeriod"/>
            </a:pPr>
            <a:r>
              <a:rPr dirty="0" lang="en-US" smtClean="0"/>
              <a:t>Sedentary lifestyle </a:t>
            </a:r>
          </a:p>
          <a:p>
            <a:pPr indent="-514350" marL="514350">
              <a:buNone/>
            </a:pPr>
            <a:r>
              <a:rPr dirty="0" lang="en-US" smtClean="0">
                <a:solidFill>
                  <a:srgbClr val="FF0000"/>
                </a:solidFill>
              </a:rPr>
              <a:t>N/B OESTROGEN MAINTAINS BONE MASS IN ADULT WOMEN</a:t>
            </a:r>
            <a:endParaRPr dirty="0" lang="en-US">
              <a:solidFill>
                <a:srgbClr val="FF0000"/>
              </a:solidFill>
            </a:endParaRPr>
          </a:p>
        </p:txBody>
      </p:sp>
    </p:spTree>
  </p:cSld>
  <p:clrMapOvr>
    <a:masterClrMapping/>
  </p:clrMapOvr>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259" name=""/>
        <p:cNvGrpSpPr/>
        <p:nvPr/>
      </p:nvGrpSpPr>
      <p:grpSpPr>
        <a:xfrm>
          <a:off x="0" y="0"/>
          <a:ext cx="0" cy="0"/>
          <a:chOff x="0" y="0"/>
          <a:chExt cx="0" cy="0"/>
        </a:xfrm>
      </p:grpSpPr>
      <p:sp>
        <p:nvSpPr>
          <p:cNvPr id="1048675" name="Title 1"/>
          <p:cNvSpPr>
            <a:spLocks noGrp="1"/>
          </p:cNvSpPr>
          <p:nvPr>
            <p:ph type="title"/>
          </p:nvPr>
        </p:nvSpPr>
        <p:spPr/>
        <p:txBody>
          <a:bodyPr>
            <a:normAutofit/>
          </a:bodyPr>
          <a:p>
            <a:r>
              <a:rPr dirty="0" lang="en-US" smtClean="0"/>
              <a:t>OSTEOPOROSIS</a:t>
            </a:r>
            <a:endParaRPr dirty="0" lang="en-US"/>
          </a:p>
        </p:txBody>
      </p:sp>
      <p:sp>
        <p:nvSpPr>
          <p:cNvPr id="1048676" name="Content Placeholder 2"/>
          <p:cNvSpPr>
            <a:spLocks noGrp="1"/>
          </p:cNvSpPr>
          <p:nvPr>
            <p:ph sz="quarter" idx="1"/>
          </p:nvPr>
        </p:nvSpPr>
        <p:spPr/>
        <p:txBody>
          <a:bodyPr/>
          <a:p>
            <a:pPr>
              <a:buNone/>
            </a:pPr>
            <a:r>
              <a:rPr dirty="0" lang="en-US" smtClean="0"/>
              <a:t>6. Endocrine disorders of the thyroid &amp; parathyroid glands.</a:t>
            </a:r>
          </a:p>
          <a:p>
            <a:pPr>
              <a:buNone/>
            </a:pPr>
            <a:r>
              <a:rPr dirty="0" lang="en-US" smtClean="0"/>
              <a:t>7. Eating disorders</a:t>
            </a:r>
          </a:p>
          <a:p>
            <a:pPr>
              <a:buNone/>
            </a:pPr>
            <a:r>
              <a:rPr dirty="0" lang="en-US" smtClean="0"/>
              <a:t>8. Cigarette smoking</a:t>
            </a:r>
          </a:p>
          <a:p>
            <a:pPr>
              <a:buNone/>
            </a:pPr>
            <a:r>
              <a:rPr dirty="0" lang="en-US" smtClean="0"/>
              <a:t>9. Insufficient dietary calcium </a:t>
            </a:r>
          </a:p>
          <a:p>
            <a:pPr>
              <a:buNone/>
            </a:pPr>
            <a:r>
              <a:rPr dirty="0" lang="en-US" smtClean="0"/>
              <a:t>10. Long term use of corticosteroids (decreases collagen synthesis &amp; increase collagen breakdown).</a:t>
            </a:r>
            <a:endParaRPr dirty="0" lang="en-US"/>
          </a:p>
        </p:txBody>
      </p:sp>
    </p:spTree>
  </p:cSld>
  <p:clrMapOvr>
    <a:masterClrMapping/>
  </p:clrMapOvr>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260" name=""/>
        <p:cNvGrpSpPr/>
        <p:nvPr/>
      </p:nvGrpSpPr>
      <p:grpSpPr>
        <a:xfrm>
          <a:off x="0" y="0"/>
          <a:ext cx="0" cy="0"/>
          <a:chOff x="0" y="0"/>
          <a:chExt cx="0" cy="0"/>
        </a:xfrm>
      </p:grpSpPr>
      <p:sp>
        <p:nvSpPr>
          <p:cNvPr id="1048677" name="Title 1"/>
          <p:cNvSpPr>
            <a:spLocks noGrp="1"/>
          </p:cNvSpPr>
          <p:nvPr>
            <p:ph type="title"/>
          </p:nvPr>
        </p:nvSpPr>
        <p:spPr/>
        <p:txBody>
          <a:bodyPr/>
          <a:p>
            <a:r>
              <a:rPr dirty="0" lang="en-US" smtClean="0"/>
              <a:t>OSTEOPOROSIS</a:t>
            </a:r>
            <a:endParaRPr dirty="0" lang="en-US"/>
          </a:p>
        </p:txBody>
      </p:sp>
      <p:sp>
        <p:nvSpPr>
          <p:cNvPr id="1048678" name="Content Placeholder 2"/>
          <p:cNvSpPr>
            <a:spLocks noGrp="1"/>
          </p:cNvSpPr>
          <p:nvPr>
            <p:ph sz="quarter" idx="1"/>
          </p:nvPr>
        </p:nvSpPr>
        <p:spPr/>
        <p:txBody>
          <a:bodyPr/>
          <a:p>
            <a:pPr>
              <a:buNone/>
            </a:pPr>
            <a:r>
              <a:rPr b="1" dirty="0" lang="en-US" smtClean="0"/>
              <a:t>CLINICAL MANIFESTATIONS</a:t>
            </a:r>
          </a:p>
          <a:p>
            <a:pPr indent="-514350" marL="514350">
              <a:buFont typeface="+mj-lt"/>
              <a:buAutoNum type="arabicPeriod"/>
            </a:pPr>
            <a:r>
              <a:rPr dirty="0" lang="en-US" smtClean="0"/>
              <a:t>Maybe asymptomatic until x-ray films demonstrate skeletal weakening.</a:t>
            </a:r>
          </a:p>
          <a:p>
            <a:pPr indent="-514350" marL="514350">
              <a:buFont typeface="+mj-lt"/>
              <a:buAutoNum type="arabicPeriod"/>
            </a:pPr>
            <a:r>
              <a:rPr dirty="0" lang="en-US" smtClean="0"/>
              <a:t>Spinal deformity &amp; dowager’s hump resulting from repeated pathological, spinal vertebral fractures.</a:t>
            </a:r>
          </a:p>
          <a:p>
            <a:pPr indent="-514350" marL="514350">
              <a:buFont typeface="+mj-lt"/>
              <a:buAutoNum type="arabicPeriod"/>
            </a:pPr>
            <a:r>
              <a:rPr dirty="0" lang="en-US" smtClean="0"/>
              <a:t>Spinal fractures may occur spontaneously or as a result of minimal trauma.</a:t>
            </a:r>
            <a:endParaRPr dirty="0" lang="en-US"/>
          </a:p>
        </p:txBody>
      </p:sp>
    </p:spTree>
  </p:cSld>
  <p:clrMapOvr>
    <a:masterClrMapping/>
  </p:clrMapOvr>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261" name=""/>
        <p:cNvGrpSpPr/>
        <p:nvPr/>
      </p:nvGrpSpPr>
      <p:grpSpPr>
        <a:xfrm>
          <a:off x="0" y="0"/>
          <a:ext cx="0" cy="0"/>
          <a:chOff x="0" y="0"/>
          <a:chExt cx="0" cy="0"/>
        </a:xfrm>
      </p:grpSpPr>
      <p:sp>
        <p:nvSpPr>
          <p:cNvPr id="1048679" name="Title 1"/>
          <p:cNvSpPr>
            <a:spLocks noGrp="1"/>
          </p:cNvSpPr>
          <p:nvPr>
            <p:ph type="title"/>
          </p:nvPr>
        </p:nvSpPr>
        <p:spPr/>
        <p:txBody>
          <a:bodyPr/>
          <a:p>
            <a:r>
              <a:rPr dirty="0" lang="en-US" smtClean="0"/>
              <a:t>OSTEOPOROSIS</a:t>
            </a:r>
            <a:endParaRPr dirty="0" lang="en-US"/>
          </a:p>
        </p:txBody>
      </p:sp>
      <p:sp>
        <p:nvSpPr>
          <p:cNvPr id="1048680" name="Content Placeholder 2"/>
          <p:cNvSpPr>
            <a:spLocks noGrp="1"/>
          </p:cNvSpPr>
          <p:nvPr>
            <p:ph sz="quarter" idx="1"/>
          </p:nvPr>
        </p:nvSpPr>
        <p:spPr/>
        <p:txBody>
          <a:bodyPr>
            <a:normAutofit/>
          </a:bodyPr>
          <a:p>
            <a:pPr>
              <a:buNone/>
            </a:pPr>
            <a:r>
              <a:rPr dirty="0" lang="en-US" smtClean="0"/>
              <a:t>4. Chronic low thoracic &amp; midline back pain</a:t>
            </a:r>
          </a:p>
          <a:p>
            <a:pPr>
              <a:buNone/>
            </a:pPr>
            <a:r>
              <a:rPr dirty="0" lang="en-US" smtClean="0"/>
              <a:t>5. Height loss may precipitate thoracic problems, decrease in abdominal capacity, &amp; decrease in exercise tolerance.</a:t>
            </a:r>
          </a:p>
          <a:p>
            <a:pPr>
              <a:buNone/>
            </a:pPr>
            <a:r>
              <a:rPr dirty="0" lang="en-US" smtClean="0"/>
              <a:t>6. Hip fractures &amp; vertebral column collapse are the most debilitating problems.</a:t>
            </a:r>
          </a:p>
          <a:p>
            <a:pPr>
              <a:buNone/>
            </a:pPr>
            <a:r>
              <a:rPr b="1" dirty="0" lang="en-US" smtClean="0"/>
              <a:t>DIAGNOSTICS</a:t>
            </a:r>
          </a:p>
          <a:p>
            <a:pPr indent="-514350" marL="514350">
              <a:buFont typeface="+mj-lt"/>
              <a:buAutoNum type="arabicPeriod"/>
            </a:pPr>
            <a:r>
              <a:rPr dirty="0" lang="en-US" smtClean="0"/>
              <a:t>Serum calcium, phosphorus, &amp; alkaline </a:t>
            </a:r>
            <a:r>
              <a:rPr dirty="0" lang="en-US" err="1" smtClean="0"/>
              <a:t>phosphatase</a:t>
            </a:r>
            <a:r>
              <a:rPr dirty="0" lang="en-US" smtClean="0"/>
              <a:t> &amp; PTH are usually normal</a:t>
            </a:r>
            <a:endParaRPr dirty="0" lang="en-US"/>
          </a:p>
        </p:txBody>
      </p:sp>
    </p:spTree>
  </p:cSld>
  <p:clrMapOvr>
    <a:masterClrMapping/>
  </p:clrMapOvr>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262" name=""/>
        <p:cNvGrpSpPr/>
        <p:nvPr/>
      </p:nvGrpSpPr>
      <p:grpSpPr>
        <a:xfrm>
          <a:off x="0" y="0"/>
          <a:ext cx="0" cy="0"/>
          <a:chOff x="0" y="0"/>
          <a:chExt cx="0" cy="0"/>
        </a:xfrm>
      </p:grpSpPr>
      <p:sp>
        <p:nvSpPr>
          <p:cNvPr id="1048681" name="Title 1"/>
          <p:cNvSpPr>
            <a:spLocks noGrp="1"/>
          </p:cNvSpPr>
          <p:nvPr>
            <p:ph type="title"/>
          </p:nvPr>
        </p:nvSpPr>
        <p:spPr/>
        <p:txBody>
          <a:bodyPr/>
          <a:p>
            <a:r>
              <a:rPr dirty="0" lang="en-US" smtClean="0"/>
              <a:t>OSTEOPORISIS</a:t>
            </a:r>
            <a:endParaRPr dirty="0" lang="en-US"/>
          </a:p>
        </p:txBody>
      </p:sp>
      <p:sp>
        <p:nvSpPr>
          <p:cNvPr id="1048682" name="Content Placeholder 2"/>
          <p:cNvSpPr>
            <a:spLocks noGrp="1"/>
          </p:cNvSpPr>
          <p:nvPr>
            <p:ph sz="quarter" idx="1"/>
          </p:nvPr>
        </p:nvSpPr>
        <p:spPr/>
        <p:txBody>
          <a:bodyPr>
            <a:normAutofit/>
          </a:bodyPr>
          <a:p>
            <a:pPr>
              <a:buNone/>
            </a:pPr>
            <a:r>
              <a:rPr dirty="0" lang="en-US" smtClean="0"/>
              <a:t>2. CT Scan or bone density scan to evaluate bone loss.</a:t>
            </a:r>
          </a:p>
          <a:p>
            <a:pPr>
              <a:buNone/>
            </a:pPr>
            <a:r>
              <a:rPr b="1" dirty="0" lang="en-US" smtClean="0"/>
              <a:t>MEDICAL MANAGEMENT</a:t>
            </a:r>
          </a:p>
          <a:p>
            <a:pPr indent="-514350" marL="514350">
              <a:buFont typeface="+mj-lt"/>
              <a:buAutoNum type="arabicPeriod"/>
            </a:pPr>
            <a:r>
              <a:rPr dirty="0" lang="en-US" smtClean="0"/>
              <a:t>Medications: calcium supplements, </a:t>
            </a:r>
            <a:r>
              <a:rPr dirty="0" lang="en-US" err="1" smtClean="0"/>
              <a:t>vit</a:t>
            </a:r>
            <a:r>
              <a:rPr dirty="0" lang="en-US" smtClean="0"/>
              <a:t>. D supplements, estrogen replacement therapy &amp; medications that facilitate increased bone density.</a:t>
            </a:r>
          </a:p>
          <a:p>
            <a:pPr indent="-514350" marL="514350">
              <a:buFont typeface="+mj-lt"/>
              <a:buAutoNum type="arabicPeriod"/>
            </a:pPr>
            <a:r>
              <a:rPr dirty="0" lang="en-US" smtClean="0"/>
              <a:t>Dietary: increased intake of protein, calcium &amp; </a:t>
            </a:r>
            <a:r>
              <a:rPr dirty="0" lang="en-US" err="1" smtClean="0"/>
              <a:t>vit</a:t>
            </a:r>
            <a:r>
              <a:rPr dirty="0" lang="en-US" smtClean="0"/>
              <a:t>. D. </a:t>
            </a:r>
          </a:p>
          <a:p>
            <a:pPr indent="-514350" marL="514350">
              <a:buNone/>
            </a:pPr>
            <a:endParaRPr dirty="0" lang="en-US"/>
          </a:p>
        </p:txBody>
      </p:sp>
    </p:spTree>
  </p:cSld>
  <p:clrMapOvr>
    <a:masterClrMapping/>
  </p:clrMapOvr>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263" name=""/>
        <p:cNvGrpSpPr/>
        <p:nvPr/>
      </p:nvGrpSpPr>
      <p:grpSpPr>
        <a:xfrm>
          <a:off x="0" y="0"/>
          <a:ext cx="0" cy="0"/>
          <a:chOff x="0" y="0"/>
          <a:chExt cx="0" cy="0"/>
        </a:xfrm>
      </p:grpSpPr>
      <p:sp>
        <p:nvSpPr>
          <p:cNvPr id="1048683" name="Title 1"/>
          <p:cNvSpPr>
            <a:spLocks noGrp="1"/>
          </p:cNvSpPr>
          <p:nvPr>
            <p:ph type="title"/>
          </p:nvPr>
        </p:nvSpPr>
        <p:spPr/>
        <p:txBody>
          <a:bodyPr/>
          <a:p>
            <a:r>
              <a:rPr dirty="0" lang="en-US" smtClean="0"/>
              <a:t>OSTEOPOROSIS</a:t>
            </a:r>
            <a:endParaRPr dirty="0" lang="en-US"/>
          </a:p>
        </p:txBody>
      </p:sp>
      <p:sp>
        <p:nvSpPr>
          <p:cNvPr id="1048684" name="Content Placeholder 2"/>
          <p:cNvSpPr>
            <a:spLocks noGrp="1"/>
          </p:cNvSpPr>
          <p:nvPr>
            <p:ph sz="quarter" idx="1"/>
          </p:nvPr>
        </p:nvSpPr>
        <p:spPr/>
        <p:txBody>
          <a:bodyPr>
            <a:normAutofit/>
          </a:bodyPr>
          <a:p>
            <a:pPr>
              <a:buNone/>
            </a:pPr>
            <a:r>
              <a:rPr dirty="0" lang="en-US" smtClean="0"/>
              <a:t>3. Exercise: activities that put moderate stress on bones working them against gravity (walking, racquet sports, jogging).</a:t>
            </a:r>
          </a:p>
          <a:p>
            <a:pPr>
              <a:buNone/>
            </a:pPr>
            <a:r>
              <a:rPr dirty="0" lang="en-US" smtClean="0"/>
              <a:t>4. Compression fractures of the vertebrae usually heal with surgical intervention.</a:t>
            </a:r>
          </a:p>
          <a:p>
            <a:pPr>
              <a:buNone/>
            </a:pPr>
            <a:r>
              <a:rPr b="1" dirty="0" lang="en-US" smtClean="0"/>
              <a:t>NURSING INTERVENTION</a:t>
            </a:r>
            <a:endParaRPr dirty="0" lang="en-US" smtClean="0"/>
          </a:p>
          <a:p>
            <a:pPr indent="-514350" marL="514350">
              <a:buFont typeface="+mj-lt"/>
              <a:buAutoNum type="arabicPeriod"/>
            </a:pPr>
            <a:r>
              <a:rPr dirty="0" lang="en-US" smtClean="0"/>
              <a:t>pain relief; </a:t>
            </a:r>
            <a:r>
              <a:rPr dirty="0" lang="en-US" err="1" smtClean="0"/>
              <a:t>bedrest</a:t>
            </a:r>
            <a:r>
              <a:rPr dirty="0" lang="en-US" smtClean="0"/>
              <a:t>; firm mattress &amp; narcotic analgesic initially, followed by non steroidal </a:t>
            </a:r>
            <a:r>
              <a:rPr dirty="0" lang="en-US" err="1" smtClean="0"/>
              <a:t>antiinflammatory</a:t>
            </a:r>
            <a:r>
              <a:rPr dirty="0" lang="en-US" smtClean="0"/>
              <a:t> drugs.</a:t>
            </a:r>
            <a:endParaRPr dirty="0" lang="en-US"/>
          </a:p>
        </p:txBody>
      </p:sp>
    </p:spTree>
  </p:cSld>
  <p:clrMapOvr>
    <a:masterClrMapping/>
  </p:clrMapOvr>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264" name=""/>
        <p:cNvGrpSpPr/>
        <p:nvPr/>
      </p:nvGrpSpPr>
      <p:grpSpPr>
        <a:xfrm>
          <a:off x="0" y="0"/>
          <a:ext cx="0" cy="0"/>
          <a:chOff x="0" y="0"/>
          <a:chExt cx="0" cy="0"/>
        </a:xfrm>
      </p:grpSpPr>
      <p:sp>
        <p:nvSpPr>
          <p:cNvPr id="1048685" name="Title 1"/>
          <p:cNvSpPr>
            <a:spLocks noGrp="1"/>
          </p:cNvSpPr>
          <p:nvPr>
            <p:ph type="title"/>
          </p:nvPr>
        </p:nvSpPr>
        <p:spPr/>
        <p:txBody>
          <a:bodyPr/>
          <a:p>
            <a:r>
              <a:rPr dirty="0" lang="en-US" smtClean="0"/>
              <a:t>OSTEOPOROSIS</a:t>
            </a:r>
            <a:endParaRPr dirty="0" lang="en-US"/>
          </a:p>
        </p:txBody>
      </p:sp>
      <p:sp>
        <p:nvSpPr>
          <p:cNvPr id="1048686" name="Content Placeholder 2"/>
          <p:cNvSpPr>
            <a:spLocks noGrp="1"/>
          </p:cNvSpPr>
          <p:nvPr>
            <p:ph sz="quarter" idx="1"/>
          </p:nvPr>
        </p:nvSpPr>
        <p:spPr/>
        <p:txBody>
          <a:bodyPr/>
          <a:p>
            <a:pPr>
              <a:buNone/>
            </a:pPr>
            <a:r>
              <a:rPr dirty="0" lang="en-US" smtClean="0"/>
              <a:t>2. Assess bowel &amp; bladder function, patient will be prone to constipation &amp; paralytic </a:t>
            </a:r>
            <a:r>
              <a:rPr dirty="0" lang="en-US" err="1" smtClean="0"/>
              <a:t>ileus</a:t>
            </a:r>
            <a:r>
              <a:rPr dirty="0" lang="en-US" smtClean="0"/>
              <a:t> if vertebrae are involved.</a:t>
            </a:r>
          </a:p>
          <a:p>
            <a:pPr>
              <a:buNone/>
            </a:pPr>
            <a:r>
              <a:rPr dirty="0" lang="en-US" smtClean="0"/>
              <a:t>3. Regular daily exercise; encourage outdoor exercise (to increase the utilization of </a:t>
            </a:r>
            <a:r>
              <a:rPr dirty="0" lang="en-US" err="1" smtClean="0"/>
              <a:t>vit</a:t>
            </a:r>
            <a:r>
              <a:rPr dirty="0" lang="en-US" smtClean="0"/>
              <a:t>. D)</a:t>
            </a:r>
          </a:p>
          <a:p>
            <a:pPr>
              <a:buNone/>
            </a:pPr>
            <a:r>
              <a:rPr dirty="0" lang="en-US" smtClean="0"/>
              <a:t>4. Increased calcium intake &amp; estrogen therapy.</a:t>
            </a:r>
          </a:p>
          <a:p>
            <a:pPr>
              <a:buNone/>
            </a:pPr>
            <a:r>
              <a:rPr dirty="0" lang="en-US" smtClean="0"/>
              <a:t>5. Education:-decrease falls &amp; injury by maintaining safe home environment</a:t>
            </a:r>
          </a:p>
          <a:p>
            <a:pPr>
              <a:buNone/>
            </a:pPr>
            <a:endParaRPr dirty="0" lang="en-US"/>
          </a:p>
        </p:txBody>
      </p:sp>
    </p:spTree>
  </p:cSld>
  <p:clrMapOvr>
    <a:masterClrMapping/>
  </p:clrMapOvr>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265" name=""/>
        <p:cNvGrpSpPr/>
        <p:nvPr/>
      </p:nvGrpSpPr>
      <p:grpSpPr>
        <a:xfrm>
          <a:off x="0" y="0"/>
          <a:ext cx="0" cy="0"/>
          <a:chOff x="0" y="0"/>
          <a:chExt cx="0" cy="0"/>
        </a:xfrm>
      </p:grpSpPr>
      <p:sp>
        <p:nvSpPr>
          <p:cNvPr id="1048687" name="Title 1"/>
          <p:cNvSpPr>
            <a:spLocks noGrp="1"/>
          </p:cNvSpPr>
          <p:nvPr>
            <p:ph type="title"/>
          </p:nvPr>
        </p:nvSpPr>
        <p:spPr/>
        <p:txBody>
          <a:bodyPr/>
          <a:p>
            <a:r>
              <a:rPr dirty="0" lang="en-US" smtClean="0"/>
              <a:t>OSTEOPOROSIS</a:t>
            </a:r>
            <a:endParaRPr dirty="0" lang="en-US"/>
          </a:p>
        </p:txBody>
      </p:sp>
      <p:sp>
        <p:nvSpPr>
          <p:cNvPr id="1048688" name="Content Placeholder 2"/>
          <p:cNvSpPr>
            <a:spLocks noGrp="1"/>
          </p:cNvSpPr>
          <p:nvPr>
            <p:ph sz="quarter" idx="1"/>
          </p:nvPr>
        </p:nvSpPr>
        <p:spPr/>
        <p:txBody>
          <a:bodyPr/>
          <a:p>
            <a:pPr>
              <a:buNone/>
            </a:pPr>
            <a:r>
              <a:rPr dirty="0" lang="en-US" smtClean="0"/>
              <a:t>  - understand the need to continue taking medication even if they do not make the patient feel better, they prevent further damage.</a:t>
            </a:r>
          </a:p>
          <a:p>
            <a:pPr>
              <a:buNone/>
            </a:pPr>
            <a:r>
              <a:rPr dirty="0" lang="en-US" smtClean="0"/>
              <a:t>  - do not exercise if pain occurs.</a:t>
            </a:r>
          </a:p>
          <a:p>
            <a:pPr>
              <a:buNone/>
            </a:pPr>
            <a:r>
              <a:rPr dirty="0" lang="en-US" smtClean="0"/>
              <a:t>  - avoid heavy lifting, stooping &amp; bending. Review &amp; demonstrate good body mechanics with the client.</a:t>
            </a:r>
            <a:endParaRPr dirty="0" lang="en-US"/>
          </a:p>
        </p:txBody>
      </p:sp>
    </p:spTree>
  </p:cSld>
  <p:clrMapOvr>
    <a:masterClrMapping/>
  </p:clrMapOvr>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266" name=""/>
        <p:cNvGrpSpPr/>
        <p:nvPr/>
      </p:nvGrpSpPr>
      <p:grpSpPr>
        <a:xfrm>
          <a:off x="0" y="0"/>
          <a:ext cx="0" cy="0"/>
          <a:chOff x="0" y="0"/>
          <a:chExt cx="0" cy="0"/>
        </a:xfrm>
      </p:grpSpPr>
      <p:sp>
        <p:nvSpPr>
          <p:cNvPr id="1048689" name="Title 1"/>
          <p:cNvSpPr>
            <a:spLocks noGrp="1"/>
          </p:cNvSpPr>
          <p:nvPr>
            <p:ph type="title"/>
          </p:nvPr>
        </p:nvSpPr>
        <p:spPr/>
        <p:txBody>
          <a:bodyPr/>
          <a:p>
            <a:r>
              <a:rPr dirty="0" lang="en-US" smtClean="0"/>
              <a:t>OSTEOPOROSIS</a:t>
            </a:r>
            <a:endParaRPr dirty="0" lang="en-US"/>
          </a:p>
        </p:txBody>
      </p:sp>
      <p:sp>
        <p:nvSpPr>
          <p:cNvPr id="1048690" name="Content Placeholder 2"/>
          <p:cNvSpPr>
            <a:spLocks noGrp="1"/>
          </p:cNvSpPr>
          <p:nvPr>
            <p:ph sz="quarter" idx="1"/>
          </p:nvPr>
        </p:nvSpPr>
        <p:spPr/>
        <p:txBody>
          <a:bodyPr>
            <a:normAutofit/>
          </a:bodyPr>
          <a:p>
            <a:pPr>
              <a:buNone/>
            </a:pPr>
            <a:r>
              <a:rPr b="1" dirty="0" lang="en-US" smtClean="0"/>
              <a:t>PREVENTION</a:t>
            </a:r>
          </a:p>
          <a:p>
            <a:pPr indent="-514350" marL="514350">
              <a:buFont typeface="+mj-lt"/>
              <a:buAutoNum type="arabicPeriod"/>
            </a:pPr>
            <a:r>
              <a:rPr dirty="0" lang="en-US" smtClean="0"/>
              <a:t>Diet adequate in protein, calories, calcium &amp; </a:t>
            </a:r>
            <a:r>
              <a:rPr dirty="0" lang="en-US" err="1" smtClean="0"/>
              <a:t>vit</a:t>
            </a:r>
            <a:r>
              <a:rPr dirty="0" lang="en-US" smtClean="0"/>
              <a:t>. D.</a:t>
            </a:r>
          </a:p>
          <a:p>
            <a:pPr indent="-514350" marL="514350">
              <a:buFont typeface="+mj-lt"/>
              <a:buAutoNum type="arabicPeriod"/>
            </a:pPr>
            <a:r>
              <a:rPr dirty="0" lang="en-US" smtClean="0"/>
              <a:t>Calcium &amp; </a:t>
            </a:r>
            <a:r>
              <a:rPr dirty="0" lang="en-US" err="1" smtClean="0"/>
              <a:t>vit</a:t>
            </a:r>
            <a:r>
              <a:rPr dirty="0" lang="en-US" smtClean="0"/>
              <a:t>. D supplements &amp; exercise for those at risk.</a:t>
            </a:r>
          </a:p>
          <a:p>
            <a:pPr indent="-514350" marL="514350">
              <a:buFont typeface="+mj-lt"/>
              <a:buAutoNum type="arabicPeriod"/>
            </a:pPr>
            <a:r>
              <a:rPr dirty="0" lang="en-US" smtClean="0"/>
              <a:t>Consider hormonal replacement for </a:t>
            </a:r>
            <a:r>
              <a:rPr dirty="0" lang="en-US" err="1" smtClean="0"/>
              <a:t>hypogonadal</a:t>
            </a:r>
            <a:r>
              <a:rPr dirty="0" lang="en-US" smtClean="0"/>
              <a:t> men &amp; women.</a:t>
            </a:r>
          </a:p>
          <a:p>
            <a:pPr indent="-514350" marL="514350">
              <a:buFont typeface="+mj-lt"/>
              <a:buAutoNum type="arabicPeriod"/>
            </a:pPr>
            <a:r>
              <a:rPr dirty="0" lang="en-US" smtClean="0"/>
              <a:t>Consider </a:t>
            </a:r>
            <a:r>
              <a:rPr dirty="0" lang="en-US" err="1" smtClean="0"/>
              <a:t>biphosphate</a:t>
            </a:r>
            <a:r>
              <a:rPr dirty="0" lang="en-US" smtClean="0"/>
              <a:t> if pt is on corticosteroids for more than 2 weeks &amp; for prevention of osteoporosis.</a:t>
            </a:r>
            <a:endParaRPr dirty="0" lang="en-US"/>
          </a:p>
        </p:txBody>
      </p:sp>
    </p:spTree>
  </p:cSld>
  <p:clrMapOvr>
    <a:masterClrMapping/>
  </p:clrMapOvr>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267" name=""/>
        <p:cNvGrpSpPr/>
        <p:nvPr/>
      </p:nvGrpSpPr>
      <p:grpSpPr>
        <a:xfrm>
          <a:off x="0" y="0"/>
          <a:ext cx="0" cy="0"/>
          <a:chOff x="0" y="0"/>
          <a:chExt cx="0" cy="0"/>
        </a:xfrm>
      </p:grpSpPr>
      <p:sp>
        <p:nvSpPr>
          <p:cNvPr id="1048691" name="Title 1"/>
          <p:cNvSpPr>
            <a:spLocks noGrp="1"/>
          </p:cNvSpPr>
          <p:nvPr>
            <p:ph type="title"/>
          </p:nvPr>
        </p:nvSpPr>
        <p:spPr/>
        <p:txBody>
          <a:bodyPr/>
          <a:p>
            <a:r>
              <a:rPr dirty="0" lang="en-US" smtClean="0"/>
              <a:t>OSTEOPOROSIS</a:t>
            </a:r>
            <a:endParaRPr dirty="0" lang="en-US"/>
          </a:p>
        </p:txBody>
      </p:sp>
      <p:sp>
        <p:nvSpPr>
          <p:cNvPr id="1048692" name="Content Placeholder 2"/>
          <p:cNvSpPr>
            <a:spLocks noGrp="1"/>
          </p:cNvSpPr>
          <p:nvPr>
            <p:ph sz="quarter" idx="1"/>
          </p:nvPr>
        </p:nvSpPr>
        <p:spPr/>
        <p:txBody>
          <a:bodyPr/>
          <a:p>
            <a:pPr>
              <a:buNone/>
            </a:pPr>
            <a:r>
              <a:rPr dirty="0" lang="en-US" smtClean="0"/>
              <a:t>5. Give calcium supplement with meals to reduce risk of calcium oxalate </a:t>
            </a:r>
            <a:r>
              <a:rPr dirty="0" lang="en-US" err="1" smtClean="0"/>
              <a:t>nephrolithiasis</a:t>
            </a:r>
            <a:r>
              <a:rPr dirty="0" lang="en-US" smtClean="0"/>
              <a:t>.</a:t>
            </a:r>
          </a:p>
          <a:p>
            <a:pPr>
              <a:buNone/>
            </a:pPr>
            <a:r>
              <a:rPr b="1" dirty="0" lang="en-US" smtClean="0"/>
              <a:t>COMPLICATION</a:t>
            </a:r>
          </a:p>
          <a:p>
            <a:pPr>
              <a:buNone/>
            </a:pPr>
            <a:r>
              <a:rPr dirty="0" lang="en-US" smtClean="0"/>
              <a:t>Bone fracture occurring in the vertebral bodies, distal radius or hip.</a:t>
            </a:r>
            <a:endParaRPr dirty="0" lang="en-US"/>
          </a:p>
        </p:txBody>
      </p:sp>
    </p:spTree>
  </p:cSld>
  <p:clrMapOvr>
    <a:masterClrMapping/>
  </p:clrMapOvr>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268" name=""/>
        <p:cNvGrpSpPr/>
        <p:nvPr/>
      </p:nvGrpSpPr>
      <p:grpSpPr>
        <a:xfrm>
          <a:off x="0" y="0"/>
          <a:ext cx="0" cy="0"/>
          <a:chOff x="0" y="0"/>
          <a:chExt cx="0" cy="0"/>
        </a:xfrm>
      </p:grpSpPr>
      <p:sp>
        <p:nvSpPr>
          <p:cNvPr id="1048693" name="Title 1"/>
          <p:cNvSpPr>
            <a:spLocks noGrp="1"/>
          </p:cNvSpPr>
          <p:nvPr>
            <p:ph type="title"/>
          </p:nvPr>
        </p:nvSpPr>
        <p:spPr/>
        <p:txBody>
          <a:bodyPr/>
          <a:p>
            <a:r>
              <a:rPr dirty="0" lang="en-US" smtClean="0"/>
              <a:t>BONE TUMOR-BONE CYST</a:t>
            </a:r>
            <a:endParaRPr dirty="0" lang="en-US"/>
          </a:p>
        </p:txBody>
      </p:sp>
      <p:pic>
        <p:nvPicPr>
          <p:cNvPr id="2097159" name="Content Placeholder 3" descr="http://www.tumorlibrary.com/case/images/1823.jpg"/>
          <p:cNvPicPr>
            <a:picLocks noGrp="1"/>
          </p:cNvPicPr>
          <p:nvPr>
            <p:ph sz="quarter" idx="1"/>
          </p:nvPr>
        </p:nvPicPr>
        <p:blipFill>
          <a:blip xmlns:r="http://schemas.openxmlformats.org/officeDocument/2006/relationships" r:embed="rId1" cstate="print"/>
          <a:stretch>
            <a:fillRect/>
          </a:stretch>
        </p:blipFill>
        <p:spPr bwMode="auto">
          <a:xfrm>
            <a:off x="4366048" y="3633046"/>
            <a:ext cx="646853" cy="430107"/>
          </a:xfrm>
          <a:prstGeom prst="rect"/>
          <a:noFill/>
          <a:ln w="9525">
            <a:noFill/>
            <a:miter lim="800000"/>
            <a:headEnd/>
            <a:tailEnd/>
          </a:ln>
        </p:spPr>
      </p:pic>
    </p:spTree>
  </p:cSld>
  <p:clrMapOvr>
    <a:masterClrMapping/>
  </p:clrMapOvr>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269" name=""/>
        <p:cNvGrpSpPr/>
        <p:nvPr/>
      </p:nvGrpSpPr>
      <p:grpSpPr>
        <a:xfrm>
          <a:off x="0" y="0"/>
          <a:ext cx="0" cy="0"/>
          <a:chOff x="0" y="0"/>
          <a:chExt cx="0" cy="0"/>
        </a:xfrm>
      </p:grpSpPr>
      <p:sp>
        <p:nvSpPr>
          <p:cNvPr id="1048694" name="Title 1"/>
          <p:cNvSpPr>
            <a:spLocks noGrp="1"/>
          </p:cNvSpPr>
          <p:nvPr>
            <p:ph type="title"/>
          </p:nvPr>
        </p:nvSpPr>
        <p:spPr/>
        <p:txBody>
          <a:bodyPr/>
          <a:p>
            <a:r>
              <a:rPr dirty="0" lang="en-US" smtClean="0"/>
              <a:t>BONE TUMOURS</a:t>
            </a:r>
            <a:endParaRPr dirty="0" lang="en-US"/>
          </a:p>
        </p:txBody>
      </p:sp>
      <p:sp>
        <p:nvSpPr>
          <p:cNvPr id="1048695" name="Content Placeholder 2"/>
          <p:cNvSpPr>
            <a:spLocks noGrp="1"/>
          </p:cNvSpPr>
          <p:nvPr>
            <p:ph sz="quarter" idx="1"/>
          </p:nvPr>
        </p:nvSpPr>
        <p:spPr/>
        <p:txBody>
          <a:bodyPr>
            <a:normAutofit fontScale="92500" lnSpcReduction="10000"/>
          </a:bodyPr>
          <a:p>
            <a:pPr>
              <a:buNone/>
            </a:pPr>
            <a:r>
              <a:rPr b="1" dirty="0" lang="en-US" smtClean="0"/>
              <a:t>TUMOR-abnormal swelling due to rapid growth of tissue which may be benign or malignant</a:t>
            </a:r>
          </a:p>
          <a:p>
            <a:pPr>
              <a:buNone/>
            </a:pPr>
            <a:r>
              <a:rPr b="1" dirty="0" lang="en-US" smtClean="0"/>
              <a:t>TYPES</a:t>
            </a:r>
            <a:endParaRPr dirty="0" lang="en-US" smtClean="0"/>
          </a:p>
          <a:p>
            <a:pPr indent="-514350" marL="514350">
              <a:buFont typeface="+mj-lt"/>
              <a:buAutoNum type="alphaLcPeriod"/>
            </a:pPr>
            <a:r>
              <a:rPr dirty="0" lang="en-US" smtClean="0"/>
              <a:t>Osteogenic- of bone origin</a:t>
            </a:r>
          </a:p>
          <a:p>
            <a:pPr indent="-514350" marL="514350">
              <a:buFont typeface="+mj-lt"/>
              <a:buAutoNum type="alphaLcPeriod"/>
            </a:pPr>
            <a:r>
              <a:rPr dirty="0" lang="en-US" smtClean="0"/>
              <a:t>Chondronic- of cartilage origin</a:t>
            </a:r>
          </a:p>
          <a:p>
            <a:pPr indent="-514350" marL="514350">
              <a:buFont typeface="+mj-lt"/>
              <a:buAutoNum type="alphaLcPeriod"/>
            </a:pPr>
            <a:r>
              <a:rPr dirty="0" lang="en-US" smtClean="0"/>
              <a:t>Fibrogenic- from fibrous tissue</a:t>
            </a:r>
          </a:p>
          <a:p>
            <a:pPr indent="-514350" marL="514350">
              <a:buFont typeface="+mj-lt"/>
              <a:buAutoNum type="alphaLcPeriod"/>
            </a:pPr>
            <a:r>
              <a:rPr dirty="0" lang="en-US" err="1" smtClean="0"/>
              <a:t>Rhabdomyogenic</a:t>
            </a:r>
            <a:r>
              <a:rPr dirty="0" lang="en-US" smtClean="0"/>
              <a:t>- of muscular origin</a:t>
            </a:r>
          </a:p>
          <a:p>
            <a:pPr indent="-514350" marL="514350">
              <a:buFont typeface="+mj-lt"/>
              <a:buAutoNum type="alphaLcPeriod"/>
            </a:pPr>
            <a:r>
              <a:rPr dirty="0" lang="en-US" smtClean="0"/>
              <a:t>Others are marrow (reticulum), nerve, vascular &amp; fatty cell tumors.</a:t>
            </a:r>
          </a:p>
          <a:p>
            <a:pPr indent="-514350" marL="514350">
              <a:buFont typeface="Wingdings" pitchFamily="2" charset="2"/>
              <a:buChar char="Ø"/>
            </a:pPr>
            <a:r>
              <a:rPr dirty="0" lang="en-US" smtClean="0"/>
              <a:t>Could be primary or metastatic tumor.</a:t>
            </a:r>
          </a:p>
        </p:txBody>
      </p:sp>
    </p:spTree>
  </p:cSld>
  <p:clrMapOvr>
    <a:masterClrMapping/>
  </p:clrMapOvr>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270" name=""/>
        <p:cNvGrpSpPr/>
        <p:nvPr/>
      </p:nvGrpSpPr>
      <p:grpSpPr>
        <a:xfrm>
          <a:off x="0" y="0"/>
          <a:ext cx="0" cy="0"/>
          <a:chOff x="0" y="0"/>
          <a:chExt cx="0" cy="0"/>
        </a:xfrm>
      </p:grpSpPr>
      <p:sp>
        <p:nvSpPr>
          <p:cNvPr id="1048696" name="Title 1"/>
          <p:cNvSpPr>
            <a:spLocks noGrp="1"/>
          </p:cNvSpPr>
          <p:nvPr>
            <p:ph type="title"/>
          </p:nvPr>
        </p:nvSpPr>
        <p:spPr/>
        <p:txBody>
          <a:bodyPr/>
          <a:p>
            <a:r>
              <a:rPr dirty="0" lang="en-US" smtClean="0"/>
              <a:t>BONE TUMOURS</a:t>
            </a:r>
            <a:endParaRPr dirty="0" lang="en-US"/>
          </a:p>
        </p:txBody>
      </p:sp>
      <p:sp>
        <p:nvSpPr>
          <p:cNvPr id="1048697" name="Content Placeholder 2"/>
          <p:cNvSpPr>
            <a:spLocks noGrp="1"/>
          </p:cNvSpPr>
          <p:nvPr>
            <p:ph sz="quarter" idx="1"/>
          </p:nvPr>
        </p:nvSpPr>
        <p:spPr/>
        <p:txBody>
          <a:bodyPr>
            <a:normAutofit/>
          </a:bodyPr>
          <a:p>
            <a:pPr>
              <a:buNone/>
            </a:pPr>
            <a:r>
              <a:rPr b="1" dirty="0" lang="en-US" smtClean="0"/>
              <a:t>BENIGN BONE TUMOURS-</a:t>
            </a:r>
          </a:p>
          <a:p>
            <a:pPr>
              <a:buFont typeface="Wingdings" pitchFamily="2" charset="2"/>
              <a:buChar char="Ø"/>
            </a:pPr>
            <a:r>
              <a:rPr dirty="0" lang="en-US" smtClean="0"/>
              <a:t>They do not metastasize to other </a:t>
            </a:r>
            <a:r>
              <a:rPr dirty="0" lang="en-US" err="1" smtClean="0"/>
              <a:t>tissues.Are</a:t>
            </a:r>
            <a:r>
              <a:rPr dirty="0" lang="en-US" smtClean="0"/>
              <a:t> more common than malignant primary bone </a:t>
            </a:r>
            <a:r>
              <a:rPr dirty="0" lang="en-US" err="1" smtClean="0"/>
              <a:t>tumours</a:t>
            </a:r>
            <a:r>
              <a:rPr dirty="0" lang="en-US" smtClean="0"/>
              <a:t>.</a:t>
            </a:r>
          </a:p>
          <a:p>
            <a:pPr>
              <a:buFont typeface="Wingdings" pitchFamily="2" charset="2"/>
              <a:buChar char="Ø"/>
            </a:pPr>
            <a:r>
              <a:rPr dirty="0" lang="en-US" smtClean="0"/>
              <a:t>Generally are slow growing &amp; well circumscribed, present few symptoms, &amp; are not a cause of death.</a:t>
            </a:r>
          </a:p>
          <a:p>
            <a:pPr>
              <a:buFont typeface="Wingdings" pitchFamily="2" charset="2"/>
              <a:buChar char="Ø"/>
            </a:pPr>
            <a:r>
              <a:rPr b="1" dirty="0" lang="en-US" smtClean="0"/>
              <a:t>Examples</a:t>
            </a:r>
            <a:r>
              <a:rPr dirty="0" lang="en-US" smtClean="0"/>
              <a:t>:- </a:t>
            </a:r>
            <a:r>
              <a:rPr dirty="0" lang="en-US" err="1" smtClean="0"/>
              <a:t>osteochondroma</a:t>
            </a:r>
            <a:r>
              <a:rPr dirty="0" lang="en-US" smtClean="0"/>
              <a:t>, bone cyst, </a:t>
            </a:r>
            <a:r>
              <a:rPr dirty="0" lang="en-US" err="1" smtClean="0"/>
              <a:t>fibroma</a:t>
            </a:r>
            <a:r>
              <a:rPr dirty="0" lang="en-US" smtClean="0"/>
              <a:t>.</a:t>
            </a:r>
          </a:p>
          <a:p>
            <a:pPr>
              <a:buFont typeface="Wingdings" pitchFamily="2" charset="2"/>
              <a:buChar char="Ø"/>
            </a:pPr>
            <a:r>
              <a:rPr dirty="0" lang="en-US" smtClean="0"/>
              <a:t>Some benign tumors such as giant cell tumors (</a:t>
            </a:r>
            <a:r>
              <a:rPr dirty="0" lang="en-US" err="1" smtClean="0"/>
              <a:t>osteoclastoma</a:t>
            </a:r>
            <a:r>
              <a:rPr dirty="0" lang="en-US" smtClean="0"/>
              <a:t>) have the potential of undergoing malignant transformation.</a:t>
            </a:r>
            <a:endParaRPr dirty="0" lang="en-US"/>
          </a:p>
        </p:txBody>
      </p:sp>
    </p:spTree>
  </p:cSld>
  <p:clrMapOvr>
    <a:masterClrMapping/>
  </p:clrMapOvr>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271" name=""/>
        <p:cNvGrpSpPr/>
        <p:nvPr/>
      </p:nvGrpSpPr>
      <p:grpSpPr>
        <a:xfrm>
          <a:off x="0" y="0"/>
          <a:ext cx="0" cy="0"/>
          <a:chOff x="0" y="0"/>
          <a:chExt cx="0" cy="0"/>
        </a:xfrm>
      </p:grpSpPr>
      <p:sp>
        <p:nvSpPr>
          <p:cNvPr id="1048698" name="Title 1"/>
          <p:cNvSpPr>
            <a:spLocks noGrp="1"/>
          </p:cNvSpPr>
          <p:nvPr>
            <p:ph type="title"/>
          </p:nvPr>
        </p:nvSpPr>
        <p:spPr/>
        <p:txBody>
          <a:bodyPr/>
          <a:p>
            <a:r>
              <a:rPr dirty="0" lang="en-US" smtClean="0"/>
              <a:t>BONE TUMOUR</a:t>
            </a:r>
            <a:endParaRPr dirty="0" lang="en-US"/>
          </a:p>
        </p:txBody>
      </p:sp>
      <p:sp>
        <p:nvSpPr>
          <p:cNvPr id="1048699" name="Content Placeholder 2"/>
          <p:cNvSpPr>
            <a:spLocks noGrp="1"/>
          </p:cNvSpPr>
          <p:nvPr>
            <p:ph sz="quarter" idx="1"/>
          </p:nvPr>
        </p:nvSpPr>
        <p:spPr/>
        <p:txBody>
          <a:bodyPr/>
          <a:p>
            <a:pPr>
              <a:buNone/>
            </a:pPr>
            <a:r>
              <a:rPr b="1" dirty="0" lang="en-US" smtClean="0"/>
              <a:t>MALIGNANT BONE TUMOURS</a:t>
            </a:r>
          </a:p>
          <a:p>
            <a:pPr>
              <a:buFont typeface="Wingdings" pitchFamily="2" charset="2"/>
              <a:buChar char="Ø"/>
            </a:pPr>
            <a:r>
              <a:rPr dirty="0" lang="en-US" smtClean="0"/>
              <a:t>Primary malignant musculoskeletal </a:t>
            </a:r>
            <a:r>
              <a:rPr dirty="0" lang="en-US" err="1" smtClean="0"/>
              <a:t>tumours</a:t>
            </a:r>
            <a:r>
              <a:rPr dirty="0" lang="en-US" smtClean="0"/>
              <a:t> are relatively rare &amp; arise from connective &amp; supportive tissue cells (sarcomas) or bone marrow elements (myelomas).</a:t>
            </a:r>
          </a:p>
          <a:p>
            <a:pPr>
              <a:buFont typeface="Wingdings" pitchFamily="2" charset="2"/>
              <a:buChar char="Ø"/>
            </a:pPr>
            <a:r>
              <a:rPr dirty="0" lang="en-US" smtClean="0"/>
              <a:t>Malignant primary musculoskeletal </a:t>
            </a:r>
            <a:r>
              <a:rPr dirty="0" lang="en-US" err="1" smtClean="0"/>
              <a:t>tumours</a:t>
            </a:r>
            <a:r>
              <a:rPr dirty="0" lang="en-US" smtClean="0"/>
              <a:t> include </a:t>
            </a:r>
            <a:r>
              <a:rPr dirty="0" lang="en-US" err="1" smtClean="0"/>
              <a:t>osteosarcoma</a:t>
            </a:r>
            <a:r>
              <a:rPr dirty="0" lang="en-US" smtClean="0"/>
              <a:t>, </a:t>
            </a:r>
            <a:r>
              <a:rPr dirty="0" lang="en-US" err="1" smtClean="0"/>
              <a:t>chondrosarcoma</a:t>
            </a:r>
            <a:r>
              <a:rPr dirty="0" lang="en-US" smtClean="0"/>
              <a:t>, Ewing’s sarcoma &amp; </a:t>
            </a:r>
            <a:r>
              <a:rPr dirty="0" lang="en-US" err="1" smtClean="0"/>
              <a:t>fibrosarcoma</a:t>
            </a:r>
            <a:r>
              <a:rPr dirty="0" lang="en-US" smtClean="0"/>
              <a:t>. </a:t>
            </a:r>
            <a:endParaRPr dirty="0" lang="en-US"/>
          </a:p>
        </p:txBody>
      </p:sp>
    </p:spTree>
  </p:cSld>
  <p:clrMapOvr>
    <a:masterClrMapping/>
  </p:clrMapOvr>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272" name=""/>
        <p:cNvGrpSpPr/>
        <p:nvPr/>
      </p:nvGrpSpPr>
      <p:grpSpPr>
        <a:xfrm>
          <a:off x="0" y="0"/>
          <a:ext cx="0" cy="0"/>
          <a:chOff x="0" y="0"/>
          <a:chExt cx="0" cy="0"/>
        </a:xfrm>
      </p:grpSpPr>
      <p:sp>
        <p:nvSpPr>
          <p:cNvPr id="1048700" name="Title 1"/>
          <p:cNvSpPr>
            <a:spLocks noGrp="1"/>
          </p:cNvSpPr>
          <p:nvPr>
            <p:ph type="title"/>
          </p:nvPr>
        </p:nvSpPr>
        <p:spPr/>
        <p:txBody>
          <a:bodyPr/>
          <a:p>
            <a:r>
              <a:rPr dirty="0" lang="en-US" smtClean="0"/>
              <a:t>BONE TUMOURS</a:t>
            </a:r>
            <a:endParaRPr dirty="0" lang="en-US"/>
          </a:p>
        </p:txBody>
      </p:sp>
      <p:sp>
        <p:nvSpPr>
          <p:cNvPr id="1048701" name="Content Placeholder 2"/>
          <p:cNvSpPr>
            <a:spLocks noGrp="1"/>
          </p:cNvSpPr>
          <p:nvPr>
            <p:ph sz="quarter" idx="1"/>
          </p:nvPr>
        </p:nvSpPr>
        <p:spPr/>
        <p:txBody>
          <a:bodyPr/>
          <a:p>
            <a:pPr>
              <a:buFont typeface="Wingdings" pitchFamily="2" charset="2"/>
              <a:buChar char="Ø"/>
            </a:pPr>
            <a:r>
              <a:rPr dirty="0" lang="en-US" smtClean="0"/>
              <a:t>Soft tissue sarcomas include </a:t>
            </a:r>
            <a:r>
              <a:rPr dirty="0" lang="en-US" err="1" smtClean="0"/>
              <a:t>liposarcoma</a:t>
            </a:r>
            <a:r>
              <a:rPr dirty="0" lang="en-US" smtClean="0"/>
              <a:t>, </a:t>
            </a:r>
            <a:r>
              <a:rPr dirty="0" lang="en-US" err="1" smtClean="0"/>
              <a:t>fibrosarcoma</a:t>
            </a:r>
            <a:r>
              <a:rPr dirty="0" lang="en-US" smtClean="0"/>
              <a:t>.</a:t>
            </a:r>
          </a:p>
          <a:p>
            <a:pPr>
              <a:buFont typeface="Wingdings" pitchFamily="2" charset="2"/>
              <a:buChar char="Ø"/>
            </a:pPr>
            <a:r>
              <a:rPr dirty="0" lang="en-US" smtClean="0"/>
              <a:t>Osteogenic sarcoma (</a:t>
            </a:r>
            <a:r>
              <a:rPr dirty="0" lang="en-US" err="1" smtClean="0"/>
              <a:t>osteosarcoma</a:t>
            </a:r>
            <a:r>
              <a:rPr dirty="0" lang="en-US" smtClean="0"/>
              <a:t>) is the most common &amp; most often fatal malignant bone </a:t>
            </a:r>
            <a:r>
              <a:rPr dirty="0" lang="en-US" err="1" smtClean="0"/>
              <a:t>tumour</a:t>
            </a:r>
            <a:r>
              <a:rPr dirty="0" lang="en-US" smtClean="0"/>
              <a:t>. The </a:t>
            </a:r>
            <a:r>
              <a:rPr dirty="0" lang="en-US" err="1" smtClean="0"/>
              <a:t>tumour</a:t>
            </a:r>
            <a:r>
              <a:rPr dirty="0" lang="en-US" smtClean="0"/>
              <a:t> carries a high mortality rate because the sarcoma often has spread to the lungs by the time pt seeks healthcare. Long bone is often affected.</a:t>
            </a:r>
            <a:endParaRPr dirty="0" lang="en-US"/>
          </a:p>
        </p:txBody>
      </p:sp>
    </p:spTree>
  </p:cSld>
  <p:clrMapOvr>
    <a:masterClrMapping/>
  </p:clrMapOvr>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273" name=""/>
        <p:cNvGrpSpPr/>
        <p:nvPr/>
      </p:nvGrpSpPr>
      <p:grpSpPr>
        <a:xfrm>
          <a:off x="0" y="0"/>
          <a:ext cx="0" cy="0"/>
          <a:chOff x="0" y="0"/>
          <a:chExt cx="0" cy="0"/>
        </a:xfrm>
      </p:grpSpPr>
      <p:sp>
        <p:nvSpPr>
          <p:cNvPr id="1048702" name="Title 1"/>
          <p:cNvSpPr>
            <a:spLocks noGrp="1"/>
          </p:cNvSpPr>
          <p:nvPr>
            <p:ph type="title"/>
          </p:nvPr>
        </p:nvSpPr>
        <p:spPr/>
        <p:txBody>
          <a:bodyPr/>
          <a:p>
            <a:r>
              <a:rPr dirty="0" lang="en-US" smtClean="0"/>
              <a:t>BONE TUMOURS </a:t>
            </a:r>
            <a:endParaRPr dirty="0" lang="en-US"/>
          </a:p>
        </p:txBody>
      </p:sp>
      <p:sp>
        <p:nvSpPr>
          <p:cNvPr id="1048703" name="Content Placeholder 2"/>
          <p:cNvSpPr>
            <a:spLocks noGrp="1"/>
          </p:cNvSpPr>
          <p:nvPr>
            <p:ph sz="quarter" idx="1"/>
          </p:nvPr>
        </p:nvSpPr>
        <p:spPr/>
        <p:txBody>
          <a:bodyPr/>
          <a:p>
            <a:pPr>
              <a:buNone/>
            </a:pPr>
            <a:r>
              <a:rPr b="1" dirty="0" lang="en-US" smtClean="0"/>
              <a:t>METASTATIC BONE DISEASE</a:t>
            </a:r>
          </a:p>
          <a:p>
            <a:pPr>
              <a:buFont typeface="Wingdings" pitchFamily="2" charset="2"/>
              <a:buChar char="Ø"/>
            </a:pPr>
            <a:r>
              <a:rPr dirty="0" lang="en-US" smtClean="0"/>
              <a:t>More common than any primary bone </a:t>
            </a:r>
            <a:r>
              <a:rPr dirty="0" lang="en-US" err="1" smtClean="0"/>
              <a:t>tumour</a:t>
            </a:r>
            <a:r>
              <a:rPr dirty="0" lang="en-US" smtClean="0"/>
              <a:t>.</a:t>
            </a:r>
          </a:p>
          <a:p>
            <a:pPr>
              <a:buFont typeface="Wingdings" pitchFamily="2" charset="2"/>
              <a:buChar char="Ø"/>
            </a:pPr>
            <a:r>
              <a:rPr dirty="0" lang="en-US" smtClean="0"/>
              <a:t>From elsewhere the most common primary sites of tumors that metastasize to bone include the kidney, prostate, lung, breast, ovary &amp; thyroid.</a:t>
            </a:r>
          </a:p>
          <a:p>
            <a:pPr>
              <a:buNone/>
            </a:pPr>
            <a:endParaRPr dirty="0" lang="en-US"/>
          </a:p>
        </p:txBody>
      </p:sp>
    </p:spTree>
  </p:cSld>
  <p:clrMapOvr>
    <a:masterClrMapping/>
  </p:clrMapOvr>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274" name=""/>
        <p:cNvGrpSpPr/>
        <p:nvPr/>
      </p:nvGrpSpPr>
      <p:grpSpPr>
        <a:xfrm>
          <a:off x="0" y="0"/>
          <a:ext cx="0" cy="0"/>
          <a:chOff x="0" y="0"/>
          <a:chExt cx="0" cy="0"/>
        </a:xfrm>
      </p:grpSpPr>
      <p:sp>
        <p:nvSpPr>
          <p:cNvPr id="1048704" name="Title 1"/>
          <p:cNvSpPr>
            <a:spLocks noGrp="1"/>
          </p:cNvSpPr>
          <p:nvPr>
            <p:ph type="title"/>
          </p:nvPr>
        </p:nvSpPr>
        <p:spPr/>
        <p:txBody>
          <a:bodyPr/>
          <a:p>
            <a:r>
              <a:rPr dirty="0" lang="en-US" smtClean="0"/>
              <a:t>BONE TUMOURS</a:t>
            </a:r>
            <a:endParaRPr dirty="0" lang="en-US"/>
          </a:p>
        </p:txBody>
      </p:sp>
      <p:sp>
        <p:nvSpPr>
          <p:cNvPr id="1048705" name="Content Placeholder 2"/>
          <p:cNvSpPr>
            <a:spLocks noGrp="1"/>
          </p:cNvSpPr>
          <p:nvPr>
            <p:ph sz="quarter" idx="1"/>
          </p:nvPr>
        </p:nvSpPr>
        <p:spPr/>
        <p:txBody>
          <a:bodyPr>
            <a:normAutofit lnSpcReduction="10000"/>
          </a:bodyPr>
          <a:p>
            <a:pPr>
              <a:buNone/>
            </a:pPr>
            <a:r>
              <a:rPr b="1" dirty="0" lang="en-US" smtClean="0"/>
              <a:t>RISK FACTORS</a:t>
            </a:r>
          </a:p>
          <a:p>
            <a:pPr indent="-514350" marL="514350">
              <a:buFont typeface="+mj-lt"/>
              <a:buAutoNum type="arabicPeriod"/>
            </a:pPr>
            <a:r>
              <a:rPr dirty="0" lang="en-US" smtClean="0"/>
              <a:t>Male between 10-25 years</a:t>
            </a:r>
          </a:p>
          <a:p>
            <a:pPr indent="-514350" marL="514350">
              <a:buFont typeface="+mj-lt"/>
              <a:buAutoNum type="arabicPeriod"/>
            </a:pPr>
            <a:r>
              <a:rPr dirty="0" lang="en-US" smtClean="0"/>
              <a:t>Older people with </a:t>
            </a:r>
            <a:r>
              <a:rPr dirty="0" lang="en-US" err="1" smtClean="0"/>
              <a:t>paget’s</a:t>
            </a:r>
            <a:r>
              <a:rPr dirty="0" lang="en-US" smtClean="0"/>
              <a:t> disease</a:t>
            </a:r>
          </a:p>
          <a:p>
            <a:pPr indent="-514350" marL="514350">
              <a:buFont typeface="+mj-lt"/>
              <a:buAutoNum type="arabicPeriod"/>
            </a:pPr>
            <a:r>
              <a:rPr dirty="0" lang="en-US" smtClean="0"/>
              <a:t>A result of radiation exposure</a:t>
            </a:r>
          </a:p>
          <a:p>
            <a:pPr indent="-514350" marL="514350">
              <a:buNone/>
            </a:pPr>
            <a:r>
              <a:rPr b="1" dirty="0" lang="en-US" smtClean="0"/>
              <a:t>PATHOPHYSIOLOGY</a:t>
            </a:r>
          </a:p>
          <a:p>
            <a:pPr indent="-514350" marL="514350">
              <a:buNone/>
            </a:pPr>
            <a:r>
              <a:rPr dirty="0" lang="en-US" smtClean="0"/>
              <a:t>A </a:t>
            </a:r>
            <a:r>
              <a:rPr dirty="0" lang="en-US" err="1" smtClean="0"/>
              <a:t>tumour</a:t>
            </a:r>
            <a:r>
              <a:rPr dirty="0" lang="en-US" smtClean="0"/>
              <a:t> causes normal bone tissue to react by </a:t>
            </a:r>
            <a:r>
              <a:rPr dirty="0" lang="en-US" err="1" smtClean="0"/>
              <a:t>osteolytic</a:t>
            </a:r>
            <a:r>
              <a:rPr dirty="0" lang="en-US" smtClean="0"/>
              <a:t> response (bone destruction) or </a:t>
            </a:r>
            <a:r>
              <a:rPr dirty="0" lang="en-US" err="1" smtClean="0"/>
              <a:t>osteoblastic</a:t>
            </a:r>
            <a:r>
              <a:rPr dirty="0" lang="en-US" smtClean="0"/>
              <a:t> response (bone formation). Primary </a:t>
            </a:r>
            <a:r>
              <a:rPr dirty="0" lang="en-US" err="1" smtClean="0"/>
              <a:t>tumours</a:t>
            </a:r>
            <a:r>
              <a:rPr dirty="0" lang="en-US" smtClean="0"/>
              <a:t> cause bone destruction, which </a:t>
            </a:r>
            <a:endParaRPr dirty="0" lang="en-US"/>
          </a:p>
        </p:txBody>
      </p:sp>
    </p:spTree>
  </p:cSld>
  <p:clrMapOvr>
    <a:masterClrMapping/>
  </p:clrMapOvr>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275" name=""/>
        <p:cNvGrpSpPr/>
        <p:nvPr/>
      </p:nvGrpSpPr>
      <p:grpSpPr>
        <a:xfrm>
          <a:off x="0" y="0"/>
          <a:ext cx="0" cy="0"/>
          <a:chOff x="0" y="0"/>
          <a:chExt cx="0" cy="0"/>
        </a:xfrm>
      </p:grpSpPr>
      <p:sp>
        <p:nvSpPr>
          <p:cNvPr id="1048706" name="Title 1"/>
          <p:cNvSpPr>
            <a:spLocks noGrp="1"/>
          </p:cNvSpPr>
          <p:nvPr>
            <p:ph type="title"/>
          </p:nvPr>
        </p:nvSpPr>
        <p:spPr/>
        <p:txBody>
          <a:bodyPr/>
          <a:p>
            <a:r>
              <a:rPr dirty="0" lang="en-US" smtClean="0"/>
              <a:t>BONE TUMOURS</a:t>
            </a:r>
            <a:endParaRPr dirty="0" lang="en-US"/>
          </a:p>
        </p:txBody>
      </p:sp>
      <p:sp>
        <p:nvSpPr>
          <p:cNvPr id="1048707" name="Content Placeholder 2"/>
          <p:cNvSpPr>
            <a:spLocks noGrp="1"/>
          </p:cNvSpPr>
          <p:nvPr>
            <p:ph sz="quarter" idx="1"/>
          </p:nvPr>
        </p:nvSpPr>
        <p:spPr/>
        <p:txBody>
          <a:bodyPr>
            <a:normAutofit lnSpcReduction="10000"/>
          </a:bodyPr>
          <a:p>
            <a:pPr>
              <a:buNone/>
            </a:pPr>
            <a:r>
              <a:rPr dirty="0" lang="en-US" smtClean="0"/>
              <a:t>Weakens the bone, resulting in bone fractures. The bones surface changes &amp; the contour enlarges in the tumor area. </a:t>
            </a:r>
          </a:p>
          <a:p>
            <a:pPr>
              <a:buNone/>
            </a:pPr>
            <a:r>
              <a:rPr dirty="0" lang="en-US" smtClean="0"/>
              <a:t>Malignant bone tumors spreads in blood along the walls of the veins. This invade &amp; destroy adjacent bone tissue &amp; benign bone tumors place pressure on adjacent bone tissue. This weakens the structure of the bone until it can no longer withstand the stress of ordinary use. Pathologic fractures commonly result. </a:t>
            </a:r>
            <a:endParaRPr dirty="0" lang="en-US"/>
          </a:p>
        </p:txBody>
      </p:sp>
    </p:spTree>
  </p:cSld>
  <p:clrMapOvr>
    <a:masterClrMapping/>
  </p:clrMapOvr>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276" name=""/>
        <p:cNvGrpSpPr/>
        <p:nvPr/>
      </p:nvGrpSpPr>
      <p:grpSpPr>
        <a:xfrm>
          <a:off x="0" y="0"/>
          <a:ext cx="0" cy="0"/>
          <a:chOff x="0" y="0"/>
          <a:chExt cx="0" cy="0"/>
        </a:xfrm>
      </p:grpSpPr>
      <p:sp>
        <p:nvSpPr>
          <p:cNvPr id="1048708" name="Title 1"/>
          <p:cNvSpPr>
            <a:spLocks noGrp="1"/>
          </p:cNvSpPr>
          <p:nvPr>
            <p:ph type="title"/>
          </p:nvPr>
        </p:nvSpPr>
        <p:spPr/>
        <p:txBody>
          <a:bodyPr/>
          <a:p>
            <a:r>
              <a:rPr dirty="0" lang="en-US" smtClean="0"/>
              <a:t>BONE TUMOURS</a:t>
            </a:r>
            <a:endParaRPr dirty="0" lang="en-US"/>
          </a:p>
        </p:txBody>
      </p:sp>
      <p:sp>
        <p:nvSpPr>
          <p:cNvPr id="1048709" name="Content Placeholder 2"/>
          <p:cNvSpPr>
            <a:spLocks noGrp="1"/>
          </p:cNvSpPr>
          <p:nvPr>
            <p:ph sz="quarter" idx="1"/>
          </p:nvPr>
        </p:nvSpPr>
        <p:spPr/>
        <p:txBody>
          <a:bodyPr/>
          <a:p>
            <a:pPr>
              <a:buNone/>
            </a:pPr>
            <a:r>
              <a:rPr b="1" dirty="0" lang="en-US" smtClean="0"/>
              <a:t>CLINICAL MANIFESTATION</a:t>
            </a:r>
          </a:p>
          <a:p>
            <a:pPr indent="-514350" marL="514350">
              <a:buFont typeface="+mj-lt"/>
              <a:buAutoNum type="arabicPeriod"/>
            </a:pPr>
            <a:r>
              <a:rPr dirty="0" lang="en-US" smtClean="0"/>
              <a:t>Varying degrees of disability</a:t>
            </a:r>
          </a:p>
          <a:p>
            <a:pPr indent="-514350" marL="514350">
              <a:buFont typeface="+mj-lt"/>
              <a:buAutoNum type="arabicPeriod"/>
            </a:pPr>
            <a:r>
              <a:rPr dirty="0" lang="en-US" smtClean="0"/>
              <a:t>Weight loss</a:t>
            </a:r>
          </a:p>
          <a:p>
            <a:pPr indent="-514350" marL="514350">
              <a:buFont typeface="+mj-lt"/>
              <a:buAutoNum type="arabicPeriod"/>
            </a:pPr>
            <a:r>
              <a:rPr dirty="0" lang="en-US" smtClean="0"/>
              <a:t>Malaise</a:t>
            </a:r>
          </a:p>
          <a:p>
            <a:pPr indent="-514350" marL="514350">
              <a:buFont typeface="+mj-lt"/>
              <a:buAutoNum type="arabicPeriod"/>
            </a:pPr>
            <a:r>
              <a:rPr dirty="0" lang="en-US" smtClean="0"/>
              <a:t>Fever</a:t>
            </a:r>
          </a:p>
          <a:p>
            <a:pPr indent="-514350" marL="514350">
              <a:buFont typeface="+mj-lt"/>
              <a:buAutoNum type="arabicPeriod"/>
            </a:pPr>
            <a:r>
              <a:rPr dirty="0" lang="en-US" smtClean="0"/>
              <a:t>Spinal cord compression (spinal metastasis)</a:t>
            </a:r>
          </a:p>
          <a:p>
            <a:pPr indent="-514350" marL="514350">
              <a:buFont typeface="+mj-lt"/>
              <a:buAutoNum type="arabicPeriod"/>
            </a:pPr>
            <a:r>
              <a:rPr dirty="0" lang="en-US" smtClean="0"/>
              <a:t>Palpable, tender, &amp; fixed bone mass.</a:t>
            </a:r>
          </a:p>
          <a:p>
            <a:pPr indent="-514350" marL="514350">
              <a:buNone/>
            </a:pPr>
            <a:endParaRPr dirty="0" lang="en-US"/>
          </a:p>
        </p:txBody>
      </p:sp>
    </p:spTree>
  </p:cSld>
  <p:clrMapOvr>
    <a:masterClrMapping/>
  </p:clrMapOvr>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277" name=""/>
        <p:cNvGrpSpPr/>
        <p:nvPr/>
      </p:nvGrpSpPr>
      <p:grpSpPr>
        <a:xfrm>
          <a:off x="0" y="0"/>
          <a:ext cx="0" cy="0"/>
          <a:chOff x="0" y="0"/>
          <a:chExt cx="0" cy="0"/>
        </a:xfrm>
      </p:grpSpPr>
      <p:sp>
        <p:nvSpPr>
          <p:cNvPr id="1048710" name="Title 1"/>
          <p:cNvSpPr>
            <a:spLocks noGrp="1"/>
          </p:cNvSpPr>
          <p:nvPr>
            <p:ph type="title"/>
          </p:nvPr>
        </p:nvSpPr>
        <p:spPr/>
        <p:txBody>
          <a:bodyPr/>
          <a:p>
            <a:r>
              <a:rPr dirty="0" lang="en-US" smtClean="0"/>
              <a:t>BONE TUMOURS</a:t>
            </a:r>
            <a:endParaRPr dirty="0" lang="en-US"/>
          </a:p>
        </p:txBody>
      </p:sp>
      <p:sp>
        <p:nvSpPr>
          <p:cNvPr id="1048711" name="Content Placeholder 2"/>
          <p:cNvSpPr>
            <a:spLocks noGrp="1"/>
          </p:cNvSpPr>
          <p:nvPr>
            <p:ph sz="quarter" idx="1"/>
          </p:nvPr>
        </p:nvSpPr>
        <p:spPr/>
        <p:txBody>
          <a:bodyPr>
            <a:normAutofit/>
          </a:bodyPr>
          <a:p>
            <a:pPr>
              <a:buNone/>
            </a:pPr>
            <a:r>
              <a:rPr b="1" dirty="0" lang="en-US" smtClean="0"/>
              <a:t>DIAGNOSTICS</a:t>
            </a:r>
          </a:p>
          <a:p>
            <a:pPr indent="-514350" marL="514350">
              <a:buFont typeface="+mj-lt"/>
              <a:buAutoNum type="arabicPeriod"/>
            </a:pPr>
            <a:r>
              <a:rPr dirty="0" lang="en-US" smtClean="0"/>
              <a:t>History &amp; physical examination</a:t>
            </a:r>
          </a:p>
          <a:p>
            <a:pPr indent="-514350" marL="514350">
              <a:buFont typeface="+mj-lt"/>
              <a:buAutoNum type="arabicPeriod"/>
            </a:pPr>
            <a:r>
              <a:rPr dirty="0" lang="en-US" smtClean="0"/>
              <a:t>Diagnostic studies: CT Scan, bone scan, </a:t>
            </a:r>
            <a:r>
              <a:rPr dirty="0" lang="en-US" err="1" smtClean="0"/>
              <a:t>myelogram</a:t>
            </a:r>
            <a:r>
              <a:rPr dirty="0" lang="en-US" smtClean="0"/>
              <a:t>, </a:t>
            </a:r>
            <a:r>
              <a:rPr dirty="0" lang="en-US" err="1" smtClean="0"/>
              <a:t>arteriography</a:t>
            </a:r>
            <a:r>
              <a:rPr dirty="0" lang="en-US" smtClean="0"/>
              <a:t>, MRI, biopsy, &amp; CXR.</a:t>
            </a:r>
          </a:p>
          <a:p>
            <a:pPr indent="-514350" marL="514350">
              <a:buNone/>
            </a:pPr>
            <a:r>
              <a:rPr b="1" dirty="0" lang="en-US" smtClean="0"/>
              <a:t>TREATMENT</a:t>
            </a:r>
          </a:p>
          <a:p>
            <a:pPr indent="-571500" marL="571500">
              <a:buFont typeface="+mj-lt"/>
              <a:buAutoNum type="romanUcPeriod"/>
            </a:pPr>
            <a:r>
              <a:rPr dirty="0" lang="en-US" smtClean="0"/>
              <a:t>Amputation of extremity &amp;/or extensive surgical resection of bone &amp; surrounding tissue.</a:t>
            </a:r>
          </a:p>
          <a:p>
            <a:pPr indent="-514350" marL="514350">
              <a:buFont typeface="+mj-lt"/>
              <a:buAutoNum type="arabicPeriod"/>
            </a:pPr>
            <a:endParaRPr dirty="0" lang="en-US" smtClean="0"/>
          </a:p>
        </p:txBody>
      </p:sp>
    </p:spTree>
  </p:cSld>
  <p:clrMapOvr>
    <a:masterClrMapping/>
  </p:clrMapOvr>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278" name=""/>
        <p:cNvGrpSpPr/>
        <p:nvPr/>
      </p:nvGrpSpPr>
      <p:grpSpPr>
        <a:xfrm>
          <a:off x="0" y="0"/>
          <a:ext cx="0" cy="0"/>
          <a:chOff x="0" y="0"/>
          <a:chExt cx="0" cy="0"/>
        </a:xfrm>
      </p:grpSpPr>
      <p:sp>
        <p:nvSpPr>
          <p:cNvPr id="1048712" name="Title 1"/>
          <p:cNvSpPr>
            <a:spLocks noGrp="1"/>
          </p:cNvSpPr>
          <p:nvPr>
            <p:ph type="title"/>
          </p:nvPr>
        </p:nvSpPr>
        <p:spPr/>
        <p:txBody>
          <a:bodyPr/>
          <a:p>
            <a:r>
              <a:rPr dirty="0" lang="en-US" smtClean="0"/>
              <a:t>BONE TUMOURS</a:t>
            </a:r>
            <a:endParaRPr dirty="0" lang="en-US"/>
          </a:p>
        </p:txBody>
      </p:sp>
      <p:sp>
        <p:nvSpPr>
          <p:cNvPr id="1048713" name="Content Placeholder 2"/>
          <p:cNvSpPr>
            <a:spLocks noGrp="1"/>
          </p:cNvSpPr>
          <p:nvPr>
            <p:ph sz="quarter" idx="1"/>
          </p:nvPr>
        </p:nvSpPr>
        <p:spPr/>
        <p:txBody>
          <a:bodyPr/>
          <a:p>
            <a:pPr>
              <a:buNone/>
            </a:pPr>
            <a:r>
              <a:rPr dirty="0" lang="en-US" smtClean="0"/>
              <a:t>2. Chemotherapy </a:t>
            </a:r>
          </a:p>
          <a:p>
            <a:pPr>
              <a:buNone/>
            </a:pPr>
            <a:r>
              <a:rPr dirty="0" lang="en-US" smtClean="0"/>
              <a:t>3. Radiotherapy </a:t>
            </a:r>
          </a:p>
          <a:p>
            <a:pPr>
              <a:buNone/>
            </a:pPr>
            <a:r>
              <a:rPr b="1" dirty="0" lang="en-US" smtClean="0"/>
              <a:t>NURSING INTERVENTION (post excision of tumor)</a:t>
            </a:r>
          </a:p>
          <a:p>
            <a:pPr indent="-514350" marL="514350">
              <a:buFont typeface="+mj-lt"/>
              <a:buAutoNum type="arabicPeriod"/>
            </a:pPr>
            <a:r>
              <a:rPr dirty="0" lang="en-US" smtClean="0"/>
              <a:t>Pain relieve: pharmacologic &amp; non-pharmacologic pain </a:t>
            </a:r>
            <a:r>
              <a:rPr dirty="0" lang="en-US" err="1" smtClean="0"/>
              <a:t>mx</a:t>
            </a:r>
            <a:r>
              <a:rPr dirty="0" lang="en-US" smtClean="0"/>
              <a:t>. Work with pt for effective pain </a:t>
            </a:r>
            <a:r>
              <a:rPr dirty="0" lang="en-US" err="1" smtClean="0"/>
              <a:t>mx</a:t>
            </a:r>
            <a:r>
              <a:rPr dirty="0" lang="en-US" smtClean="0"/>
              <a:t> regime increasing pt control.</a:t>
            </a:r>
          </a:p>
          <a:p>
            <a:pPr>
              <a:buNone/>
            </a:pPr>
            <a:endParaRPr dirty="0" lang="en-US"/>
          </a:p>
        </p:txBody>
      </p:sp>
    </p:spTree>
  </p:cSld>
  <p:clrMapOvr>
    <a:masterClrMapping/>
  </p:clrMapOvr>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279" name=""/>
        <p:cNvGrpSpPr/>
        <p:nvPr/>
      </p:nvGrpSpPr>
      <p:grpSpPr>
        <a:xfrm>
          <a:off x="0" y="0"/>
          <a:ext cx="0" cy="0"/>
          <a:chOff x="0" y="0"/>
          <a:chExt cx="0" cy="0"/>
        </a:xfrm>
      </p:grpSpPr>
      <p:sp>
        <p:nvSpPr>
          <p:cNvPr id="1048714" name="Title 1"/>
          <p:cNvSpPr>
            <a:spLocks noGrp="1"/>
          </p:cNvSpPr>
          <p:nvPr>
            <p:ph type="title"/>
          </p:nvPr>
        </p:nvSpPr>
        <p:spPr/>
        <p:txBody>
          <a:bodyPr/>
          <a:p>
            <a:r>
              <a:rPr dirty="0" lang="en-US" smtClean="0"/>
              <a:t>BONE TUMOURS</a:t>
            </a:r>
            <a:endParaRPr dirty="0" lang="en-US"/>
          </a:p>
        </p:txBody>
      </p:sp>
      <p:sp>
        <p:nvSpPr>
          <p:cNvPr id="1048715" name="Content Placeholder 2"/>
          <p:cNvSpPr>
            <a:spLocks noGrp="1"/>
          </p:cNvSpPr>
          <p:nvPr>
            <p:ph sz="quarter" idx="1"/>
          </p:nvPr>
        </p:nvSpPr>
        <p:spPr/>
        <p:txBody>
          <a:bodyPr>
            <a:normAutofit/>
          </a:bodyPr>
          <a:p>
            <a:pPr>
              <a:buNone/>
            </a:pPr>
            <a:r>
              <a:rPr dirty="0" lang="en-US" smtClean="0"/>
              <a:t>2. Wound care as healing maybe delayed because of surgery &amp; radiotherapy. Minimize pressure on wound.</a:t>
            </a:r>
          </a:p>
          <a:p>
            <a:pPr>
              <a:buNone/>
            </a:pPr>
            <a:r>
              <a:rPr dirty="0" lang="en-US" smtClean="0"/>
              <a:t>3. Adequate nutrition, address anorexia, nausea &amp; vomiting post chemotherapy &amp; radiotherapy.</a:t>
            </a:r>
          </a:p>
          <a:p>
            <a:pPr>
              <a:buNone/>
            </a:pPr>
            <a:r>
              <a:rPr dirty="0" lang="en-US" smtClean="0"/>
              <a:t>4. Prevent wound infection- antibiotics &amp; aseptic wound dressing  techniques. If pt is on chemotherapy monitor WBC.</a:t>
            </a:r>
            <a:endParaRPr dirty="0" lang="en-US"/>
          </a:p>
        </p:txBody>
      </p:sp>
    </p:spTree>
  </p:cSld>
  <p:clrMapOvr>
    <a:masterClrMapping/>
  </p:clrMapOvr>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280" name=""/>
        <p:cNvGrpSpPr/>
        <p:nvPr/>
      </p:nvGrpSpPr>
      <p:grpSpPr>
        <a:xfrm>
          <a:off x="0" y="0"/>
          <a:ext cx="0" cy="0"/>
          <a:chOff x="0" y="0"/>
          <a:chExt cx="0" cy="0"/>
        </a:xfrm>
      </p:grpSpPr>
      <p:sp>
        <p:nvSpPr>
          <p:cNvPr id="1048716" name="Title 1"/>
          <p:cNvSpPr>
            <a:spLocks noGrp="1"/>
          </p:cNvSpPr>
          <p:nvPr>
            <p:ph type="title"/>
          </p:nvPr>
        </p:nvSpPr>
        <p:spPr/>
        <p:txBody>
          <a:bodyPr/>
          <a:p>
            <a:r>
              <a:rPr dirty="0" lang="en-US" smtClean="0"/>
              <a:t>BONE TUMOUR</a:t>
            </a:r>
            <a:endParaRPr dirty="0" lang="en-US"/>
          </a:p>
        </p:txBody>
      </p:sp>
      <p:sp>
        <p:nvSpPr>
          <p:cNvPr id="1048717" name="Content Placeholder 2"/>
          <p:cNvSpPr>
            <a:spLocks noGrp="1"/>
          </p:cNvSpPr>
          <p:nvPr>
            <p:ph sz="quarter" idx="1"/>
          </p:nvPr>
        </p:nvSpPr>
        <p:spPr/>
        <p:txBody>
          <a:bodyPr/>
          <a:p>
            <a:pPr>
              <a:buNone/>
            </a:pPr>
            <a:r>
              <a:rPr dirty="0" lang="en-US" smtClean="0"/>
              <a:t>5. Give psychological care.</a:t>
            </a:r>
          </a:p>
          <a:p>
            <a:pPr>
              <a:buNone/>
            </a:pPr>
            <a:r>
              <a:rPr dirty="0" lang="en-US" smtClean="0"/>
              <a:t>6. physiotherapy.</a:t>
            </a:r>
          </a:p>
          <a:p>
            <a:pPr>
              <a:buNone/>
            </a:pPr>
            <a:r>
              <a:rPr dirty="0" lang="en-US" smtClean="0"/>
              <a:t>7. Teach on meds, dressing, treatment regimen,  physical &amp; occupational therapy programs, &amp; complications.</a:t>
            </a:r>
          </a:p>
        </p:txBody>
      </p:sp>
    </p:spTree>
  </p:cSld>
  <p:clrMapOvr>
    <a:masterClrMapping/>
  </p:clrMapOvr>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281" name=""/>
        <p:cNvGrpSpPr/>
        <p:nvPr/>
      </p:nvGrpSpPr>
      <p:grpSpPr>
        <a:xfrm>
          <a:off x="0" y="0"/>
          <a:ext cx="0" cy="0"/>
          <a:chOff x="0" y="0"/>
          <a:chExt cx="0" cy="0"/>
        </a:xfrm>
      </p:grpSpPr>
      <p:sp>
        <p:nvSpPr>
          <p:cNvPr id="1048718" name="Title 1"/>
          <p:cNvSpPr>
            <a:spLocks noGrp="1"/>
          </p:cNvSpPr>
          <p:nvPr>
            <p:ph type="title"/>
          </p:nvPr>
        </p:nvSpPr>
        <p:spPr/>
        <p:txBody>
          <a:bodyPr/>
          <a:p>
            <a:r>
              <a:rPr dirty="0" lang="en-US" smtClean="0"/>
              <a:t>SKELETAL TUBERCULOSIS</a:t>
            </a:r>
            <a:endParaRPr dirty="0" lang="en-US"/>
          </a:p>
        </p:txBody>
      </p:sp>
      <p:sp>
        <p:nvSpPr>
          <p:cNvPr id="1048719" name="Content Placeholder 2"/>
          <p:cNvSpPr>
            <a:spLocks noGrp="1"/>
          </p:cNvSpPr>
          <p:nvPr>
            <p:ph sz="quarter" idx="1"/>
          </p:nvPr>
        </p:nvSpPr>
        <p:spPr/>
        <p:txBody>
          <a:bodyPr/>
          <a:p>
            <a:pPr>
              <a:buFont typeface="Wingdings" pitchFamily="2" charset="2"/>
              <a:buChar char="Ø"/>
            </a:pPr>
            <a:r>
              <a:rPr dirty="0" lang="en-US" smtClean="0"/>
              <a:t>It is caused by dissemination of bacilli via the blood stream early in the course of the initial infection.</a:t>
            </a:r>
          </a:p>
          <a:p>
            <a:pPr>
              <a:buFont typeface="Wingdings" pitchFamily="2" charset="2"/>
              <a:buChar char="Ø"/>
            </a:pPr>
            <a:r>
              <a:rPr dirty="0" lang="en-US" smtClean="0"/>
              <a:t>In some cases spread to bone appears to result from lymphatic drainage from another infected area such as the pleura or kidney.</a:t>
            </a:r>
          </a:p>
          <a:p>
            <a:pPr>
              <a:buFont typeface="Wingdings" pitchFamily="2" charset="2"/>
              <a:buChar char="Ø"/>
            </a:pPr>
            <a:r>
              <a:rPr dirty="0" lang="en-US" smtClean="0"/>
              <a:t>May smolder for years before being discovered. </a:t>
            </a:r>
            <a:endParaRPr dirty="0" lang="en-US"/>
          </a:p>
        </p:txBody>
      </p:sp>
    </p:spTree>
  </p:cSld>
  <p:clrMapOvr>
    <a:masterClrMapping/>
  </p:clrMapOvr>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282" name=""/>
        <p:cNvGrpSpPr/>
        <p:nvPr/>
      </p:nvGrpSpPr>
      <p:grpSpPr>
        <a:xfrm>
          <a:off x="0" y="0"/>
          <a:ext cx="0" cy="0"/>
          <a:chOff x="0" y="0"/>
          <a:chExt cx="0" cy="0"/>
        </a:xfrm>
      </p:grpSpPr>
      <p:sp>
        <p:nvSpPr>
          <p:cNvPr id="1048720" name="Title 1"/>
          <p:cNvSpPr>
            <a:spLocks noGrp="1"/>
          </p:cNvSpPr>
          <p:nvPr>
            <p:ph type="title"/>
          </p:nvPr>
        </p:nvSpPr>
        <p:spPr/>
        <p:txBody>
          <a:bodyPr/>
          <a:p>
            <a:r>
              <a:rPr dirty="0" lang="en-US" smtClean="0"/>
              <a:t>SKELETAL TUBERCULOSIS</a:t>
            </a:r>
            <a:endParaRPr dirty="0" lang="en-US"/>
          </a:p>
        </p:txBody>
      </p:sp>
      <p:sp>
        <p:nvSpPr>
          <p:cNvPr id="1048721" name="Content Placeholder 2"/>
          <p:cNvSpPr>
            <a:spLocks noGrp="1"/>
          </p:cNvSpPr>
          <p:nvPr>
            <p:ph sz="quarter" idx="1"/>
          </p:nvPr>
        </p:nvSpPr>
        <p:spPr/>
        <p:txBody>
          <a:bodyPr>
            <a:normAutofit/>
          </a:bodyPr>
          <a:p>
            <a:pPr>
              <a:buFont typeface="Wingdings" pitchFamily="2" charset="2"/>
              <a:buChar char="Ø"/>
            </a:pPr>
            <a:r>
              <a:rPr dirty="0" lang="en-US" smtClean="0"/>
              <a:t>Basic lesions almost always is a combination of </a:t>
            </a:r>
            <a:r>
              <a:rPr dirty="0" lang="en-US" err="1" smtClean="0"/>
              <a:t>osteomyelitis</a:t>
            </a:r>
            <a:r>
              <a:rPr dirty="0" lang="en-US" smtClean="0"/>
              <a:t> &amp; </a:t>
            </a:r>
            <a:r>
              <a:rPr dirty="0" lang="en-US" err="1" smtClean="0"/>
              <a:t>athritis</a:t>
            </a:r>
            <a:r>
              <a:rPr dirty="0" lang="en-US" smtClean="0"/>
              <a:t>.</a:t>
            </a:r>
          </a:p>
          <a:p>
            <a:pPr>
              <a:buFont typeface="Wingdings" pitchFamily="2" charset="2"/>
              <a:buChar char="Ø"/>
            </a:pPr>
            <a:r>
              <a:rPr dirty="0" lang="en-US" smtClean="0"/>
              <a:t>In adults, skeletal tuberculosis usually occurs in weight- bearing joints; spine, hip &amp; knees.</a:t>
            </a:r>
          </a:p>
          <a:p>
            <a:pPr>
              <a:buNone/>
            </a:pPr>
            <a:r>
              <a:rPr b="1" dirty="0" lang="en-US" smtClean="0"/>
              <a:t>PATHOPHYSIOLOGY</a:t>
            </a:r>
          </a:p>
          <a:p>
            <a:pPr>
              <a:buFont typeface="Wingdings" pitchFamily="2" charset="2"/>
              <a:buChar char="Ø"/>
            </a:pPr>
            <a:r>
              <a:rPr dirty="0" lang="en-US" smtClean="0"/>
              <a:t>An inflammatory reaction is followed by formation of granulation tissue that begins to erode &amp; destroy cartilage &amp; eventually </a:t>
            </a:r>
            <a:r>
              <a:rPr dirty="0" lang="en-US" err="1" smtClean="0"/>
              <a:t>cancellous</a:t>
            </a:r>
            <a:r>
              <a:rPr dirty="0" lang="en-US" smtClean="0"/>
              <a:t> bone, ultimately leading to demineralization &amp; </a:t>
            </a:r>
            <a:endParaRPr dirty="0" lang="en-US"/>
          </a:p>
        </p:txBody>
      </p:sp>
    </p:spTree>
  </p:cSld>
  <p:clrMapOvr>
    <a:masterClrMapping/>
  </p:clrMapOvr>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283" name=""/>
        <p:cNvGrpSpPr/>
        <p:nvPr/>
      </p:nvGrpSpPr>
      <p:grpSpPr>
        <a:xfrm>
          <a:off x="0" y="0"/>
          <a:ext cx="0" cy="0"/>
          <a:chOff x="0" y="0"/>
          <a:chExt cx="0" cy="0"/>
        </a:xfrm>
      </p:grpSpPr>
      <p:sp>
        <p:nvSpPr>
          <p:cNvPr id="1048722" name="Title 1"/>
          <p:cNvSpPr>
            <a:spLocks noGrp="1"/>
          </p:cNvSpPr>
          <p:nvPr>
            <p:ph type="title"/>
          </p:nvPr>
        </p:nvSpPr>
        <p:spPr/>
        <p:txBody>
          <a:bodyPr/>
          <a:p>
            <a:r>
              <a:rPr dirty="0" lang="en-US" smtClean="0"/>
              <a:t>SKELETAL TUBERCULOSIS</a:t>
            </a:r>
            <a:endParaRPr dirty="0" lang="en-US"/>
          </a:p>
        </p:txBody>
      </p:sp>
      <p:sp>
        <p:nvSpPr>
          <p:cNvPr id="1048723" name="Content Placeholder 2"/>
          <p:cNvSpPr>
            <a:spLocks noGrp="1"/>
          </p:cNvSpPr>
          <p:nvPr>
            <p:ph sz="quarter" idx="1"/>
          </p:nvPr>
        </p:nvSpPr>
        <p:spPr/>
        <p:txBody>
          <a:bodyPr/>
          <a:p>
            <a:pPr>
              <a:buNone/>
            </a:pPr>
            <a:r>
              <a:rPr dirty="0" lang="en-US" smtClean="0"/>
              <a:t>Necrosis. The healing process involves deposition of fibrous tissue.</a:t>
            </a:r>
          </a:p>
          <a:p>
            <a:pPr>
              <a:buNone/>
            </a:pPr>
            <a:r>
              <a:rPr b="1" dirty="0" lang="en-US" smtClean="0"/>
              <a:t>PRESENTATION</a:t>
            </a:r>
          </a:p>
          <a:p>
            <a:pPr indent="-514350" marL="514350">
              <a:buFont typeface="+mj-lt"/>
              <a:buAutoNum type="arabicPeriod"/>
            </a:pPr>
            <a:r>
              <a:rPr dirty="0" lang="en-US" smtClean="0"/>
              <a:t>Multiple </a:t>
            </a:r>
            <a:r>
              <a:rPr dirty="0" lang="en-US" err="1" smtClean="0"/>
              <a:t>osteolytic</a:t>
            </a:r>
            <a:r>
              <a:rPr dirty="0" lang="en-US" smtClean="0"/>
              <a:t> lesions.</a:t>
            </a:r>
          </a:p>
          <a:p>
            <a:pPr indent="-514350" marL="514350">
              <a:buFont typeface="+mj-lt"/>
              <a:buAutoNum type="arabicPeriod"/>
            </a:pPr>
            <a:r>
              <a:rPr dirty="0" lang="en-US" smtClean="0"/>
              <a:t>Pain </a:t>
            </a:r>
          </a:p>
          <a:p>
            <a:pPr indent="-514350" marL="514350">
              <a:buFont typeface="+mj-lt"/>
              <a:buAutoNum type="arabicPeriod"/>
            </a:pPr>
            <a:r>
              <a:rPr dirty="0" lang="en-US" smtClean="0"/>
              <a:t>Slight narrowing of vertebral space.</a:t>
            </a:r>
          </a:p>
          <a:p>
            <a:pPr indent="-514350" marL="514350">
              <a:buFont typeface="+mj-lt"/>
              <a:buAutoNum type="arabicPeriod"/>
            </a:pPr>
            <a:r>
              <a:rPr dirty="0" lang="en-US" smtClean="0"/>
              <a:t>Later vertebral body destruction with collapse &amp; formation of </a:t>
            </a:r>
            <a:r>
              <a:rPr dirty="0" lang="en-US" err="1" smtClean="0"/>
              <a:t>kyphosis</a:t>
            </a:r>
            <a:r>
              <a:rPr dirty="0" lang="en-US" smtClean="0"/>
              <a:t> &amp; scoliosis</a:t>
            </a:r>
            <a:endParaRPr dirty="0" lang="en-US"/>
          </a:p>
        </p:txBody>
      </p:sp>
    </p:spTree>
  </p:cSld>
  <p:clrMapOvr>
    <a:masterClrMapping/>
  </p:clrMapOvr>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284" name=""/>
        <p:cNvGrpSpPr/>
        <p:nvPr/>
      </p:nvGrpSpPr>
      <p:grpSpPr>
        <a:xfrm>
          <a:off x="0" y="0"/>
          <a:ext cx="0" cy="0"/>
          <a:chOff x="0" y="0"/>
          <a:chExt cx="0" cy="0"/>
        </a:xfrm>
      </p:grpSpPr>
      <p:sp>
        <p:nvSpPr>
          <p:cNvPr id="1048724" name="Title 1"/>
          <p:cNvSpPr>
            <a:spLocks noGrp="1"/>
          </p:cNvSpPr>
          <p:nvPr>
            <p:ph type="title"/>
          </p:nvPr>
        </p:nvSpPr>
        <p:spPr/>
        <p:txBody>
          <a:bodyPr/>
          <a:p>
            <a:r>
              <a:rPr dirty="0" lang="en-US" smtClean="0"/>
              <a:t>SKELETAL TUBERCULOSIS</a:t>
            </a:r>
            <a:endParaRPr dirty="0" lang="en-US"/>
          </a:p>
        </p:txBody>
      </p:sp>
      <p:sp>
        <p:nvSpPr>
          <p:cNvPr id="1048725" name="Content Placeholder 2"/>
          <p:cNvSpPr>
            <a:spLocks noGrp="1"/>
          </p:cNvSpPr>
          <p:nvPr>
            <p:ph sz="quarter" idx="1"/>
          </p:nvPr>
        </p:nvSpPr>
        <p:spPr/>
        <p:txBody>
          <a:bodyPr>
            <a:normAutofit fontScale="92500" lnSpcReduction="10000"/>
          </a:bodyPr>
          <a:p>
            <a:pPr>
              <a:buNone/>
            </a:pPr>
            <a:r>
              <a:rPr b="1" dirty="0" lang="en-US" smtClean="0"/>
              <a:t>POTT’S DISEASE (TUBERCULOSIS SPONDULOSIS)</a:t>
            </a:r>
          </a:p>
          <a:p>
            <a:pPr>
              <a:buFont typeface="Wingdings" pitchFamily="2" charset="2"/>
              <a:buChar char="Ø"/>
            </a:pPr>
            <a:r>
              <a:rPr dirty="0" lang="en-US" smtClean="0"/>
              <a:t>This is TB of the spine.</a:t>
            </a:r>
          </a:p>
          <a:p>
            <a:pPr>
              <a:buFont typeface="Wingdings" pitchFamily="2" charset="2"/>
              <a:buChar char="Ø"/>
            </a:pPr>
            <a:r>
              <a:rPr dirty="0" lang="en-US" smtClean="0"/>
              <a:t>Half of the cases of skeletal tuberculosis occur in the spine. </a:t>
            </a:r>
          </a:p>
          <a:p>
            <a:pPr>
              <a:buFont typeface="Wingdings" pitchFamily="2" charset="2"/>
              <a:buChar char="Ø"/>
            </a:pPr>
            <a:r>
              <a:rPr dirty="0" lang="en-US" smtClean="0"/>
              <a:t>Infectious process begins in the anterior part of a vertebral body.</a:t>
            </a:r>
          </a:p>
          <a:p>
            <a:pPr>
              <a:buFont typeface="Wingdings" pitchFamily="2" charset="2"/>
              <a:buChar char="Ø"/>
            </a:pPr>
            <a:r>
              <a:rPr dirty="0" lang="en-US" smtClean="0"/>
              <a:t>The disk space between two involved vertebrae is usually destroyed, producing the characteristic anterior wedging of two involved vertebrae with loss of intervening disk space.</a:t>
            </a:r>
          </a:p>
          <a:p>
            <a:pPr>
              <a:buNone/>
            </a:pPr>
            <a:endParaRPr dirty="0" lang="en-US"/>
          </a:p>
        </p:txBody>
      </p:sp>
    </p:spTree>
  </p:cSld>
  <p:clrMapOvr>
    <a:masterClrMapping/>
  </p:clrMapOvr>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285" name=""/>
        <p:cNvGrpSpPr/>
        <p:nvPr/>
      </p:nvGrpSpPr>
      <p:grpSpPr>
        <a:xfrm>
          <a:off x="0" y="0"/>
          <a:ext cx="0" cy="0"/>
          <a:chOff x="0" y="0"/>
          <a:chExt cx="0" cy="0"/>
        </a:xfrm>
      </p:grpSpPr>
      <p:sp>
        <p:nvSpPr>
          <p:cNvPr id="1048726" name="Title 1"/>
          <p:cNvSpPr>
            <a:spLocks noGrp="1"/>
          </p:cNvSpPr>
          <p:nvPr>
            <p:ph type="title"/>
          </p:nvPr>
        </p:nvSpPr>
        <p:spPr/>
        <p:txBody>
          <a:bodyPr/>
          <a:p>
            <a:r>
              <a:rPr dirty="0" lang="en-US" smtClean="0"/>
              <a:t>SKELETAL TUBERCULOSIS</a:t>
            </a:r>
            <a:endParaRPr dirty="0" lang="en-US"/>
          </a:p>
        </p:txBody>
      </p:sp>
      <p:sp>
        <p:nvSpPr>
          <p:cNvPr id="1048727" name="Content Placeholder 2"/>
          <p:cNvSpPr>
            <a:spLocks noGrp="1"/>
          </p:cNvSpPr>
          <p:nvPr>
            <p:ph sz="quarter" idx="1"/>
          </p:nvPr>
        </p:nvSpPr>
        <p:spPr/>
        <p:txBody>
          <a:bodyPr>
            <a:normAutofit/>
          </a:bodyPr>
          <a:p>
            <a:pPr>
              <a:buFont typeface="Wingdings" pitchFamily="2" charset="2"/>
              <a:buChar char="Ø"/>
            </a:pPr>
            <a:r>
              <a:rPr dirty="0" lang="en-US" smtClean="0"/>
              <a:t>The resulting deformity may produce a characteristic posterior prominence of the spine</a:t>
            </a:r>
          </a:p>
          <a:p>
            <a:pPr>
              <a:buFont typeface="Wingdings" pitchFamily="2" charset="2"/>
              <a:buChar char="Ø"/>
            </a:pPr>
            <a:r>
              <a:rPr dirty="0" lang="en-US" smtClean="0"/>
              <a:t>Thoracic spine is involved most frequently</a:t>
            </a:r>
          </a:p>
          <a:p>
            <a:pPr>
              <a:buFont typeface="Wingdings" pitchFamily="2" charset="2"/>
              <a:buChar char="Ø"/>
            </a:pPr>
            <a:r>
              <a:rPr dirty="0" lang="en-US" smtClean="0"/>
              <a:t>Lumber spine is next, &amp; cervical &amp; sacral spines least often.</a:t>
            </a:r>
          </a:p>
          <a:p>
            <a:pPr>
              <a:buNone/>
            </a:pPr>
            <a:r>
              <a:rPr b="1" dirty="0" lang="en-US" smtClean="0"/>
              <a:t>POTT’S ABSCESS &amp; SINUS FORMATION</a:t>
            </a:r>
          </a:p>
          <a:p>
            <a:pPr>
              <a:buFont typeface="Wingdings" pitchFamily="2" charset="2"/>
              <a:buChar char="Ø"/>
            </a:pPr>
            <a:r>
              <a:rPr dirty="0" lang="en-US" smtClean="0"/>
              <a:t>Pus from a vertebral focus ruptures </a:t>
            </a:r>
            <a:r>
              <a:rPr dirty="0" lang="en-US" err="1" smtClean="0"/>
              <a:t>anteriorly</a:t>
            </a:r>
            <a:r>
              <a:rPr dirty="0" lang="en-US" smtClean="0"/>
              <a:t>, enveloping the spine &amp; producing a </a:t>
            </a:r>
            <a:r>
              <a:rPr dirty="0" lang="en-US" err="1" smtClean="0"/>
              <a:t>paraspinal</a:t>
            </a:r>
            <a:r>
              <a:rPr dirty="0" lang="en-US" smtClean="0"/>
              <a:t> abscess</a:t>
            </a:r>
            <a:endParaRPr dirty="0" lang="en-US"/>
          </a:p>
        </p:txBody>
      </p:sp>
    </p:spTree>
  </p:cSld>
  <p:clrMapOvr>
    <a:masterClrMapping/>
  </p:clrMapOvr>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286" name=""/>
        <p:cNvGrpSpPr/>
        <p:nvPr/>
      </p:nvGrpSpPr>
      <p:grpSpPr>
        <a:xfrm>
          <a:off x="0" y="0"/>
          <a:ext cx="0" cy="0"/>
          <a:chOff x="0" y="0"/>
          <a:chExt cx="0" cy="0"/>
        </a:xfrm>
      </p:grpSpPr>
      <p:sp>
        <p:nvSpPr>
          <p:cNvPr id="1048728" name="Title 1"/>
          <p:cNvSpPr>
            <a:spLocks noGrp="1"/>
          </p:cNvSpPr>
          <p:nvPr>
            <p:ph type="title"/>
          </p:nvPr>
        </p:nvSpPr>
        <p:spPr/>
        <p:txBody>
          <a:bodyPr/>
          <a:p>
            <a:r>
              <a:rPr dirty="0" lang="en-US" smtClean="0"/>
              <a:t>SKELETAL TUBERCULOSIS</a:t>
            </a:r>
            <a:endParaRPr dirty="0" lang="en-US"/>
          </a:p>
        </p:txBody>
      </p:sp>
      <p:sp>
        <p:nvSpPr>
          <p:cNvPr id="1048729" name="Content Placeholder 2"/>
          <p:cNvSpPr>
            <a:spLocks noGrp="1"/>
          </p:cNvSpPr>
          <p:nvPr>
            <p:ph sz="quarter" idx="1"/>
          </p:nvPr>
        </p:nvSpPr>
        <p:spPr/>
        <p:txBody>
          <a:bodyPr>
            <a:normAutofit/>
          </a:bodyPr>
          <a:p>
            <a:pPr>
              <a:buFont typeface="Wingdings" pitchFamily="2" charset="2"/>
              <a:buChar char="Ø"/>
            </a:pPr>
            <a:r>
              <a:rPr dirty="0" lang="en-US" smtClean="0"/>
              <a:t>Since it is confined by tight </a:t>
            </a:r>
            <a:r>
              <a:rPr dirty="0" lang="en-US" err="1" smtClean="0"/>
              <a:t>ligamentous</a:t>
            </a:r>
            <a:r>
              <a:rPr dirty="0" lang="en-US" smtClean="0"/>
              <a:t> investments, it can develop higher pressure, dissect along tissue planes for long distance, &amp; present as a mass in the </a:t>
            </a:r>
            <a:r>
              <a:rPr dirty="0" lang="en-US" err="1" smtClean="0"/>
              <a:t>supraclavicular</a:t>
            </a:r>
            <a:r>
              <a:rPr dirty="0" lang="en-US" smtClean="0"/>
              <a:t> space, above the posterior iliac crest in the </a:t>
            </a:r>
            <a:r>
              <a:rPr dirty="0" lang="en-US" err="1" smtClean="0"/>
              <a:t>petit’s</a:t>
            </a:r>
            <a:r>
              <a:rPr dirty="0" lang="en-US" smtClean="0"/>
              <a:t> triangle the groin, the buttock, or even the </a:t>
            </a:r>
            <a:r>
              <a:rPr dirty="0" lang="en-US" err="1" smtClean="0"/>
              <a:t>popliteal</a:t>
            </a:r>
            <a:r>
              <a:rPr dirty="0" lang="en-US" smtClean="0"/>
              <a:t> </a:t>
            </a:r>
            <a:r>
              <a:rPr dirty="0" lang="en-US" err="1" smtClean="0"/>
              <a:t>fossa</a:t>
            </a:r>
            <a:r>
              <a:rPr dirty="0" lang="en-US" smtClean="0"/>
              <a:t>.</a:t>
            </a:r>
          </a:p>
          <a:p>
            <a:pPr>
              <a:buFont typeface="Wingdings" pitchFamily="2" charset="2"/>
              <a:buChar char="Ø"/>
            </a:pPr>
            <a:r>
              <a:rPr dirty="0" lang="en-US" smtClean="0"/>
              <a:t>Cases of </a:t>
            </a:r>
            <a:r>
              <a:rPr dirty="0" lang="en-US" err="1" smtClean="0"/>
              <a:t>Pott’s</a:t>
            </a:r>
            <a:r>
              <a:rPr dirty="0" lang="en-US" smtClean="0"/>
              <a:t> </a:t>
            </a:r>
            <a:r>
              <a:rPr dirty="0" lang="en-US" err="1" smtClean="0"/>
              <a:t>abcess</a:t>
            </a:r>
            <a:r>
              <a:rPr dirty="0" lang="en-US" smtClean="0"/>
              <a:t> perforating into the bowel have been reported, resulting in a gas-filled </a:t>
            </a:r>
            <a:r>
              <a:rPr dirty="0" lang="en-US" err="1" smtClean="0"/>
              <a:t>psoas</a:t>
            </a:r>
            <a:endParaRPr dirty="0" lang="en-US" smtClean="0"/>
          </a:p>
          <a:p>
            <a:pPr>
              <a:buFont typeface="Wingdings" pitchFamily="2" charset="2"/>
              <a:buChar char="Ø"/>
            </a:pPr>
            <a:endParaRPr dirty="0" lang="en-US"/>
          </a:p>
        </p:txBody>
      </p:sp>
    </p:spTree>
  </p:cSld>
  <p:clrMapOvr>
    <a:masterClrMapping/>
  </p:clrMapOvr>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287" name=""/>
        <p:cNvGrpSpPr/>
        <p:nvPr/>
      </p:nvGrpSpPr>
      <p:grpSpPr>
        <a:xfrm>
          <a:off x="0" y="0"/>
          <a:ext cx="0" cy="0"/>
          <a:chOff x="0" y="0"/>
          <a:chExt cx="0" cy="0"/>
        </a:xfrm>
      </p:grpSpPr>
      <p:sp>
        <p:nvSpPr>
          <p:cNvPr id="1048730" name="Title 1"/>
          <p:cNvSpPr>
            <a:spLocks noGrp="1"/>
          </p:cNvSpPr>
          <p:nvPr>
            <p:ph type="title"/>
          </p:nvPr>
        </p:nvSpPr>
        <p:spPr/>
        <p:txBody>
          <a:bodyPr/>
          <a:p>
            <a:r>
              <a:rPr dirty="0" lang="en-US" smtClean="0"/>
              <a:t>SKELETAL TUBERCULOSIS</a:t>
            </a:r>
            <a:endParaRPr dirty="0" lang="en-US"/>
          </a:p>
        </p:txBody>
      </p:sp>
      <p:sp>
        <p:nvSpPr>
          <p:cNvPr id="1048731" name="Content Placeholder 2"/>
          <p:cNvSpPr>
            <a:spLocks noGrp="1"/>
          </p:cNvSpPr>
          <p:nvPr>
            <p:ph sz="quarter" idx="1"/>
          </p:nvPr>
        </p:nvSpPr>
        <p:spPr/>
        <p:txBody>
          <a:bodyPr>
            <a:normAutofit/>
          </a:bodyPr>
          <a:p>
            <a:pPr>
              <a:buNone/>
            </a:pPr>
            <a:r>
              <a:rPr dirty="0" lang="en-US" smtClean="0"/>
              <a:t>visible on x-ray films.</a:t>
            </a:r>
          </a:p>
          <a:p>
            <a:pPr>
              <a:buFont typeface="Wingdings" pitchFamily="2" charset="2"/>
              <a:buChar char="Ø"/>
            </a:pPr>
            <a:r>
              <a:rPr dirty="0" lang="en-US" smtClean="0"/>
              <a:t>Rupture into adjacent lung has been observed.</a:t>
            </a:r>
          </a:p>
          <a:p>
            <a:pPr>
              <a:buFont typeface="Wingdings" pitchFamily="2" charset="2"/>
              <a:buChar char="Ø"/>
            </a:pPr>
            <a:r>
              <a:rPr dirty="0" lang="en-US" smtClean="0"/>
              <a:t>The abscess can spread infection to other vertebral bodies, sometimes with intervening normal spine.</a:t>
            </a:r>
          </a:p>
          <a:p>
            <a:pPr>
              <a:buNone/>
            </a:pPr>
            <a:r>
              <a:rPr b="1" dirty="0" lang="en-US" smtClean="0"/>
              <a:t>POTT’S PARAPLEGIA</a:t>
            </a:r>
          </a:p>
          <a:p>
            <a:pPr>
              <a:buFont typeface="Wingdings" pitchFamily="2" charset="2"/>
              <a:buChar char="Ø"/>
            </a:pPr>
            <a:r>
              <a:rPr dirty="0" lang="en-US" smtClean="0"/>
              <a:t>Paralysis of lower extremities can develop in several ways. </a:t>
            </a:r>
            <a:endParaRPr dirty="0" lang="en-US"/>
          </a:p>
        </p:txBody>
      </p:sp>
    </p:spTree>
  </p:cSld>
  <p:clrMapOvr>
    <a:masterClrMapping/>
  </p:clrMapOvr>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288" name=""/>
        <p:cNvGrpSpPr/>
        <p:nvPr/>
      </p:nvGrpSpPr>
      <p:grpSpPr>
        <a:xfrm>
          <a:off x="0" y="0"/>
          <a:ext cx="0" cy="0"/>
          <a:chOff x="0" y="0"/>
          <a:chExt cx="0" cy="0"/>
        </a:xfrm>
      </p:grpSpPr>
      <p:sp>
        <p:nvSpPr>
          <p:cNvPr id="1048732" name="Title 1"/>
          <p:cNvSpPr>
            <a:spLocks noGrp="1"/>
          </p:cNvSpPr>
          <p:nvPr>
            <p:ph type="title"/>
          </p:nvPr>
        </p:nvSpPr>
        <p:spPr/>
        <p:txBody>
          <a:bodyPr/>
          <a:p>
            <a:r>
              <a:rPr dirty="0" lang="en-US" smtClean="0"/>
              <a:t>SKELETAL TUBERCULOSIS</a:t>
            </a:r>
            <a:endParaRPr dirty="0" lang="en-US"/>
          </a:p>
        </p:txBody>
      </p:sp>
      <p:sp>
        <p:nvSpPr>
          <p:cNvPr id="1048733" name="Content Placeholder 2"/>
          <p:cNvSpPr>
            <a:spLocks noGrp="1"/>
          </p:cNvSpPr>
          <p:nvPr>
            <p:ph sz="quarter" idx="1"/>
          </p:nvPr>
        </p:nvSpPr>
        <p:spPr/>
        <p:txBody>
          <a:bodyPr>
            <a:normAutofit/>
          </a:bodyPr>
          <a:p>
            <a:pPr>
              <a:buFont typeface="Wingdings" pitchFamily="2" charset="2"/>
              <a:buChar char="Ø"/>
            </a:pPr>
            <a:r>
              <a:rPr dirty="0" lang="en-US" smtClean="0"/>
              <a:t>Pressure in a </a:t>
            </a:r>
            <a:r>
              <a:rPr dirty="0" lang="en-US" err="1" smtClean="0"/>
              <a:t>paraspinal</a:t>
            </a:r>
            <a:r>
              <a:rPr dirty="0" lang="en-US" smtClean="0"/>
              <a:t> abscess can produce ischemic changes in the subjacent cord.</a:t>
            </a:r>
          </a:p>
          <a:p>
            <a:pPr>
              <a:buFont typeface="Wingdings" pitchFamily="2" charset="2"/>
              <a:buChar char="Ø"/>
            </a:pPr>
            <a:r>
              <a:rPr dirty="0" lang="en-US" smtClean="0"/>
              <a:t>In such cases neurologic symptoms are promptly relieved by drainage of the abscess.</a:t>
            </a:r>
          </a:p>
          <a:p>
            <a:pPr>
              <a:buFont typeface="Wingdings" pitchFamily="2" charset="2"/>
              <a:buChar char="Ø"/>
            </a:pPr>
            <a:r>
              <a:rPr dirty="0" lang="en-US" err="1" smtClean="0"/>
              <a:t>Caseous</a:t>
            </a:r>
            <a:r>
              <a:rPr dirty="0" lang="en-US" smtClean="0"/>
              <a:t> or granulating tissue may extrude from the posterior aspect of the vertebral body &amp; impinge on the anterior aspect of the cord.</a:t>
            </a:r>
          </a:p>
          <a:p>
            <a:pPr>
              <a:buFont typeface="Wingdings" pitchFamily="2" charset="2"/>
              <a:buChar char="Ø"/>
            </a:pPr>
            <a:r>
              <a:rPr dirty="0" lang="en-US" smtClean="0"/>
              <a:t>Inflammatory thrombosis of the anterior spine artery can occur. </a:t>
            </a:r>
            <a:endParaRPr dirty="0" lang="en-US"/>
          </a:p>
        </p:txBody>
      </p:sp>
    </p:spTree>
  </p:cSld>
  <p:clrMapOvr>
    <a:masterClrMapping/>
  </p:clrMapOvr>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289" name=""/>
        <p:cNvGrpSpPr/>
        <p:nvPr/>
      </p:nvGrpSpPr>
      <p:grpSpPr>
        <a:xfrm>
          <a:off x="0" y="0"/>
          <a:ext cx="0" cy="0"/>
          <a:chOff x="0" y="0"/>
          <a:chExt cx="0" cy="0"/>
        </a:xfrm>
      </p:grpSpPr>
      <p:sp>
        <p:nvSpPr>
          <p:cNvPr id="1048734" name="Title 1"/>
          <p:cNvSpPr>
            <a:spLocks noGrp="1"/>
          </p:cNvSpPr>
          <p:nvPr>
            <p:ph type="title"/>
          </p:nvPr>
        </p:nvSpPr>
        <p:spPr/>
        <p:txBody>
          <a:bodyPr/>
          <a:p>
            <a:r>
              <a:rPr dirty="0" lang="en-US" smtClean="0"/>
              <a:t>SKELETAL TUBERCULOSIS</a:t>
            </a:r>
            <a:endParaRPr dirty="0" lang="en-US"/>
          </a:p>
        </p:txBody>
      </p:sp>
      <p:sp>
        <p:nvSpPr>
          <p:cNvPr id="1048735" name="Content Placeholder 2"/>
          <p:cNvSpPr>
            <a:spLocks noGrp="1"/>
          </p:cNvSpPr>
          <p:nvPr>
            <p:ph sz="quarter" idx="1"/>
          </p:nvPr>
        </p:nvSpPr>
        <p:spPr/>
        <p:txBody>
          <a:bodyPr/>
          <a:p>
            <a:pPr>
              <a:buFont typeface="Wingdings" pitchFamily="2" charset="2"/>
              <a:buChar char="Ø"/>
            </a:pPr>
            <a:r>
              <a:rPr dirty="0" lang="en-US" smtClean="0"/>
              <a:t>Sudden cord </a:t>
            </a:r>
            <a:r>
              <a:rPr dirty="0" lang="en-US" err="1" smtClean="0"/>
              <a:t>transections</a:t>
            </a:r>
            <a:r>
              <a:rPr dirty="0" lang="en-US" smtClean="0"/>
              <a:t>(injury) may result from serious loss of structural integrity.</a:t>
            </a:r>
          </a:p>
          <a:p>
            <a:pPr>
              <a:buNone/>
            </a:pPr>
            <a:r>
              <a:rPr b="1" dirty="0" lang="en-US" smtClean="0"/>
              <a:t>INVESTIGATIONS</a:t>
            </a:r>
          </a:p>
          <a:p>
            <a:pPr indent="-514350" marL="514350">
              <a:buFont typeface="+mj-lt"/>
              <a:buAutoNum type="arabicPeriod"/>
            </a:pPr>
            <a:r>
              <a:rPr dirty="0" lang="en-US" smtClean="0"/>
              <a:t>Tuberculin test: precise </a:t>
            </a:r>
            <a:r>
              <a:rPr dirty="0" lang="en-US" err="1" smtClean="0"/>
              <a:t>intracutaneous</a:t>
            </a:r>
            <a:r>
              <a:rPr dirty="0" lang="en-US" smtClean="0"/>
              <a:t> injection producing a raised, blanched wheal. The reaction is read in 48-72 hrs, a positive test defined as greater than 10mm of </a:t>
            </a:r>
            <a:r>
              <a:rPr dirty="0" lang="en-US" err="1" smtClean="0"/>
              <a:t>induration</a:t>
            </a:r>
            <a:r>
              <a:rPr dirty="0" lang="en-US" smtClean="0"/>
              <a:t>.</a:t>
            </a:r>
          </a:p>
        </p:txBody>
      </p:sp>
    </p:spTree>
  </p:cSld>
  <p:clrMapOvr>
    <a:masterClrMapping/>
  </p:clrMapOvr>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290" name=""/>
        <p:cNvGrpSpPr/>
        <p:nvPr/>
      </p:nvGrpSpPr>
      <p:grpSpPr>
        <a:xfrm>
          <a:off x="0" y="0"/>
          <a:ext cx="0" cy="0"/>
          <a:chOff x="0" y="0"/>
          <a:chExt cx="0" cy="0"/>
        </a:xfrm>
      </p:grpSpPr>
      <p:sp>
        <p:nvSpPr>
          <p:cNvPr id="1048736" name="Title 1"/>
          <p:cNvSpPr>
            <a:spLocks noGrp="1"/>
          </p:cNvSpPr>
          <p:nvPr>
            <p:ph type="title"/>
          </p:nvPr>
        </p:nvSpPr>
        <p:spPr/>
        <p:txBody>
          <a:bodyPr/>
          <a:p>
            <a:r>
              <a:rPr dirty="0" lang="en-US" smtClean="0"/>
              <a:t>SKELETAL TUBERCULOSIS</a:t>
            </a:r>
            <a:endParaRPr dirty="0" lang="en-US"/>
          </a:p>
        </p:txBody>
      </p:sp>
      <p:sp>
        <p:nvSpPr>
          <p:cNvPr id="1048737" name="Content Placeholder 2"/>
          <p:cNvSpPr>
            <a:spLocks noGrp="1"/>
          </p:cNvSpPr>
          <p:nvPr>
            <p:ph sz="quarter" idx="1"/>
          </p:nvPr>
        </p:nvSpPr>
        <p:spPr/>
        <p:txBody>
          <a:bodyPr/>
          <a:p>
            <a:pPr>
              <a:buNone/>
            </a:pPr>
            <a:r>
              <a:rPr dirty="0" lang="en-US" smtClean="0"/>
              <a:t>2. Tissue or pus culture &amp; specify of micro-organism.</a:t>
            </a:r>
          </a:p>
          <a:p>
            <a:pPr>
              <a:buNone/>
            </a:pPr>
            <a:r>
              <a:rPr dirty="0" lang="en-US" smtClean="0"/>
              <a:t>3. CT spine, MRI, x-ray</a:t>
            </a:r>
          </a:p>
          <a:p>
            <a:pPr>
              <a:buNone/>
            </a:pPr>
            <a:r>
              <a:rPr b="1" dirty="0" lang="en-US" smtClean="0"/>
              <a:t>TREATMENT</a:t>
            </a:r>
          </a:p>
          <a:p>
            <a:pPr indent="-514350" marL="514350">
              <a:buFont typeface="+mj-lt"/>
              <a:buAutoNum type="arabicPeriod"/>
            </a:pPr>
            <a:r>
              <a:rPr dirty="0" lang="en-US" smtClean="0"/>
              <a:t>Bed rest to relief pain</a:t>
            </a:r>
          </a:p>
          <a:p>
            <a:pPr indent="-514350" marL="514350">
              <a:buFont typeface="+mj-lt"/>
              <a:buAutoNum type="arabicPeriod"/>
            </a:pPr>
            <a:r>
              <a:rPr dirty="0" lang="en-US" smtClean="0"/>
              <a:t>Drainage or debridement of large </a:t>
            </a:r>
            <a:r>
              <a:rPr dirty="0" lang="en-US" err="1" smtClean="0"/>
              <a:t>paraspinal</a:t>
            </a:r>
            <a:r>
              <a:rPr dirty="0" lang="en-US" smtClean="0"/>
              <a:t> abscesses if they are causing paraplegia or </a:t>
            </a:r>
            <a:r>
              <a:rPr dirty="0" lang="en-US" err="1" smtClean="0"/>
              <a:t>paraparesis</a:t>
            </a:r>
            <a:endParaRPr dirty="0" lang="en-US"/>
          </a:p>
        </p:txBody>
      </p:sp>
    </p:spTree>
  </p:cSld>
  <p:clrMapOvr>
    <a:masterClrMapping/>
  </p:clrMapOvr>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291" name=""/>
        <p:cNvGrpSpPr/>
        <p:nvPr/>
      </p:nvGrpSpPr>
      <p:grpSpPr>
        <a:xfrm>
          <a:off x="0" y="0"/>
          <a:ext cx="0" cy="0"/>
          <a:chOff x="0" y="0"/>
          <a:chExt cx="0" cy="0"/>
        </a:xfrm>
      </p:grpSpPr>
      <p:sp>
        <p:nvSpPr>
          <p:cNvPr id="1048738" name="Title 1"/>
          <p:cNvSpPr>
            <a:spLocks noGrp="1"/>
          </p:cNvSpPr>
          <p:nvPr>
            <p:ph type="title"/>
          </p:nvPr>
        </p:nvSpPr>
        <p:spPr/>
        <p:txBody>
          <a:bodyPr/>
          <a:p>
            <a:r>
              <a:rPr dirty="0" lang="en-US" smtClean="0"/>
              <a:t>SKELETAL TUBERCULOSIS</a:t>
            </a:r>
            <a:endParaRPr dirty="0" lang="en-US"/>
          </a:p>
        </p:txBody>
      </p:sp>
      <p:sp>
        <p:nvSpPr>
          <p:cNvPr id="1048739" name="Content Placeholder 2"/>
          <p:cNvSpPr>
            <a:spLocks noGrp="1"/>
          </p:cNvSpPr>
          <p:nvPr>
            <p:ph sz="quarter" idx="1"/>
          </p:nvPr>
        </p:nvSpPr>
        <p:spPr/>
        <p:txBody>
          <a:bodyPr/>
          <a:p>
            <a:pPr>
              <a:buNone/>
            </a:pPr>
            <a:r>
              <a:rPr dirty="0" lang="en-US" smtClean="0"/>
              <a:t>3. Prolonged treatment (2 years) with an INH (</a:t>
            </a:r>
            <a:r>
              <a:rPr dirty="0" lang="en-US" err="1" smtClean="0"/>
              <a:t>isoniazid</a:t>
            </a:r>
            <a:r>
              <a:rPr dirty="0" lang="en-US" smtClean="0"/>
              <a:t>)- containing regimen is indicated &amp; many advise including RMP (</a:t>
            </a:r>
            <a:r>
              <a:rPr dirty="0" lang="en-US" err="1" smtClean="0"/>
              <a:t>rifampicin</a:t>
            </a:r>
            <a:r>
              <a:rPr dirty="0" lang="en-US" smtClean="0"/>
              <a:t>) for 9 months.</a:t>
            </a:r>
          </a:p>
          <a:p>
            <a:pPr>
              <a:buNone/>
            </a:pPr>
            <a:r>
              <a:rPr dirty="0" lang="en-US" smtClean="0"/>
              <a:t>4. Advanced neurologic defects &amp; severe anatomic instability of the spine require more radical orthopedic approaches.</a:t>
            </a:r>
            <a:endParaRPr dirty="0" lang="en-US"/>
          </a:p>
        </p:txBody>
      </p:sp>
    </p:spTree>
  </p:cSld>
  <p:clrMapOvr>
    <a:masterClrMapping/>
  </p:clrMapOvr>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292" name=""/>
        <p:cNvGrpSpPr/>
        <p:nvPr/>
      </p:nvGrpSpPr>
      <p:grpSpPr>
        <a:xfrm>
          <a:off x="0" y="0"/>
          <a:ext cx="0" cy="0"/>
          <a:chOff x="0" y="0"/>
          <a:chExt cx="0" cy="0"/>
        </a:xfrm>
      </p:grpSpPr>
      <p:sp>
        <p:nvSpPr>
          <p:cNvPr id="1048740" name="Title 1"/>
          <p:cNvSpPr>
            <a:spLocks noGrp="1"/>
          </p:cNvSpPr>
          <p:nvPr>
            <p:ph type="title"/>
          </p:nvPr>
        </p:nvSpPr>
        <p:spPr/>
        <p:txBody>
          <a:bodyPr/>
          <a:p>
            <a:r>
              <a:rPr dirty="0" lang="en-US" smtClean="0"/>
              <a:t>ATHRITIC HAND</a:t>
            </a:r>
            <a:endParaRPr dirty="0" lang="en-US"/>
          </a:p>
        </p:txBody>
      </p:sp>
      <p:pic>
        <p:nvPicPr>
          <p:cNvPr id="2097160"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2743201" y="1447800"/>
            <a:ext cx="4724400" cy="4648200"/>
          </a:xfrm>
          <a:prstGeom prst="rect"/>
          <a:noFill/>
          <a:ln w="9525">
            <a:noFill/>
            <a:miter lim="800000"/>
            <a:headEnd/>
            <a:tailEnd/>
          </a:ln>
        </p:spPr>
      </p:pic>
    </p:spTree>
  </p:cSld>
  <p:clrMapOvr>
    <a:masterClrMapping/>
  </p:clrMapOvr>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293" name=""/>
        <p:cNvGrpSpPr/>
        <p:nvPr/>
      </p:nvGrpSpPr>
      <p:grpSpPr>
        <a:xfrm>
          <a:off x="0" y="0"/>
          <a:ext cx="0" cy="0"/>
          <a:chOff x="0" y="0"/>
          <a:chExt cx="0" cy="0"/>
        </a:xfrm>
      </p:grpSpPr>
      <p:sp>
        <p:nvSpPr>
          <p:cNvPr id="1048741" name="Title 1"/>
          <p:cNvSpPr>
            <a:spLocks noGrp="1"/>
          </p:cNvSpPr>
          <p:nvPr>
            <p:ph type="title"/>
          </p:nvPr>
        </p:nvSpPr>
        <p:spPr/>
        <p:txBody>
          <a:bodyPr/>
          <a:p>
            <a:r>
              <a:rPr dirty="0" lang="en-US" smtClean="0"/>
              <a:t>ARTHRITIC KNEE</a:t>
            </a:r>
            <a:endParaRPr dirty="0" lang="en-US"/>
          </a:p>
        </p:txBody>
      </p:sp>
      <p:pic>
        <p:nvPicPr>
          <p:cNvPr id="2097161" name="Content Placeholder 3"/>
          <p:cNvPicPr>
            <a:picLocks noGrp="1"/>
          </p:cNvPicPr>
          <p:nvPr>
            <p:ph sz="quarter" idx="1"/>
          </p:nvPr>
        </p:nvPicPr>
        <p:blipFill>
          <a:blip xmlns:r="http://schemas.openxmlformats.org/officeDocument/2006/relationships" r:embed="rId1" cstate="print"/>
          <a:stretch>
            <a:fillRect/>
          </a:stretch>
        </p:blipFill>
        <p:spPr bwMode="auto">
          <a:xfrm>
            <a:off x="4027487" y="3038475"/>
            <a:ext cx="1323975" cy="1619250"/>
          </a:xfrm>
          <a:prstGeom prst="rect"/>
          <a:noFill/>
          <a:ln w="9525">
            <a:noFill/>
            <a:miter lim="800000"/>
            <a:headEnd/>
            <a:tailEnd/>
          </a:ln>
        </p:spPr>
      </p:pic>
    </p:spTree>
  </p:cSld>
  <p:clrMapOvr>
    <a:masterClrMapping/>
  </p:clrMapOvr>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294" name=""/>
        <p:cNvGrpSpPr/>
        <p:nvPr/>
      </p:nvGrpSpPr>
      <p:grpSpPr>
        <a:xfrm>
          <a:off x="0" y="0"/>
          <a:ext cx="0" cy="0"/>
          <a:chOff x="0" y="0"/>
          <a:chExt cx="0" cy="0"/>
        </a:xfrm>
      </p:grpSpPr>
      <p:sp>
        <p:nvSpPr>
          <p:cNvPr id="1048742" name="Title 1"/>
          <p:cNvSpPr>
            <a:spLocks noGrp="1"/>
          </p:cNvSpPr>
          <p:nvPr>
            <p:ph type="title"/>
          </p:nvPr>
        </p:nvSpPr>
        <p:spPr/>
        <p:txBody>
          <a:bodyPr/>
          <a:p>
            <a:r>
              <a:rPr dirty="0" lang="en-US" smtClean="0"/>
              <a:t>ARTHRITIS</a:t>
            </a:r>
            <a:endParaRPr dirty="0" lang="en-US"/>
          </a:p>
        </p:txBody>
      </p:sp>
      <p:sp>
        <p:nvSpPr>
          <p:cNvPr id="1048743" name="Content Placeholder 2"/>
          <p:cNvSpPr>
            <a:spLocks noGrp="1"/>
          </p:cNvSpPr>
          <p:nvPr>
            <p:ph sz="quarter" idx="1"/>
          </p:nvPr>
        </p:nvSpPr>
        <p:spPr/>
        <p:txBody>
          <a:bodyPr>
            <a:normAutofit fontScale="92500" lnSpcReduction="10000"/>
          </a:bodyPr>
          <a:p>
            <a:pPr>
              <a:buFont typeface="Wingdings" pitchFamily="2" charset="2"/>
              <a:buChar char="Ø"/>
            </a:pPr>
            <a:r>
              <a:rPr dirty="0" lang="en-US" smtClean="0"/>
              <a:t> It is the inflammation of a joint, usually accompanied by pain, swelling &amp; changes in structure.</a:t>
            </a:r>
          </a:p>
          <a:p>
            <a:pPr>
              <a:buFont typeface="Wingdings" pitchFamily="2" charset="2"/>
              <a:buChar char="Ø"/>
            </a:pPr>
            <a:r>
              <a:rPr dirty="0" lang="en-US" smtClean="0"/>
              <a:t>Occurs in many forms </a:t>
            </a:r>
            <a:r>
              <a:rPr dirty="0" lang="en-US" err="1" smtClean="0"/>
              <a:t>e.g</a:t>
            </a:r>
            <a:endParaRPr dirty="0" lang="en-US" smtClean="0"/>
          </a:p>
          <a:p>
            <a:pPr indent="-514350" marL="514350">
              <a:buFont typeface="+mj-lt"/>
              <a:buAutoNum type="alphaLcPeriod"/>
            </a:pPr>
            <a:r>
              <a:rPr dirty="0" lang="en-US" smtClean="0"/>
              <a:t>Acute secondary arthritis: arthritis caused by </a:t>
            </a:r>
            <a:r>
              <a:rPr dirty="0" lang="en-US" err="1" smtClean="0"/>
              <a:t>osteitis</a:t>
            </a:r>
            <a:r>
              <a:rPr dirty="0" lang="en-US" smtClean="0"/>
              <a:t>.</a:t>
            </a:r>
          </a:p>
          <a:p>
            <a:pPr indent="-514350" marL="514350">
              <a:buFont typeface="+mj-lt"/>
              <a:buAutoNum type="alphaLcPeriod"/>
            </a:pPr>
            <a:r>
              <a:rPr dirty="0" lang="en-US" smtClean="0"/>
              <a:t>Acute </a:t>
            </a:r>
            <a:r>
              <a:rPr dirty="0" lang="en-US" err="1" smtClean="0"/>
              <a:t>suppurative</a:t>
            </a:r>
            <a:r>
              <a:rPr dirty="0" lang="en-US" smtClean="0"/>
              <a:t> purulent distention of synovial sac: a serious form usually due to bacterial infection.</a:t>
            </a:r>
          </a:p>
          <a:p>
            <a:pPr indent="-514350" marL="514350">
              <a:buFont typeface="+mj-lt"/>
              <a:buAutoNum type="alphaLcPeriod"/>
            </a:pPr>
            <a:r>
              <a:rPr dirty="0" lang="en-US" smtClean="0"/>
              <a:t>Allergic arthritis: arthritis following ingestion of food allergens or  occurring in serum sickness</a:t>
            </a:r>
          </a:p>
          <a:p>
            <a:pPr indent="-514350" marL="514350">
              <a:buFont typeface="+mj-lt"/>
              <a:buAutoNum type="alphaLcPeriod"/>
            </a:pPr>
            <a:r>
              <a:rPr dirty="0" lang="en-US" err="1" smtClean="0"/>
              <a:t>Palindromic</a:t>
            </a:r>
            <a:r>
              <a:rPr dirty="0" lang="en-US" smtClean="0"/>
              <a:t> arthritis: transient recurrent  arthritis, of unknown etiology of the large joints.</a:t>
            </a:r>
          </a:p>
          <a:p>
            <a:pPr>
              <a:buNone/>
            </a:pPr>
            <a:endParaRPr b="1" dirty="0" lang="en-US" smtClean="0"/>
          </a:p>
          <a:p>
            <a:pPr>
              <a:buNone/>
            </a:pPr>
            <a:endParaRPr b="1" dirty="0" lang="en-US" smtClean="0"/>
          </a:p>
          <a:p>
            <a:pPr>
              <a:buNone/>
            </a:pPr>
            <a:endParaRPr dirty="0" lang="en-US" smtClean="0"/>
          </a:p>
          <a:p>
            <a:pPr>
              <a:buFont typeface="Wingdings" pitchFamily="2" charset="2"/>
              <a:buChar char="Ø"/>
            </a:pPr>
            <a:endParaRPr dirty="0" lang="en-US"/>
          </a:p>
        </p:txBody>
      </p:sp>
    </p:spTree>
  </p:cSld>
  <p:clrMapOvr>
    <a:masterClrMapping/>
  </p:clrMapOvr>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295" name=""/>
        <p:cNvGrpSpPr/>
        <p:nvPr/>
      </p:nvGrpSpPr>
      <p:grpSpPr>
        <a:xfrm>
          <a:off x="0" y="0"/>
          <a:ext cx="0" cy="0"/>
          <a:chOff x="0" y="0"/>
          <a:chExt cx="0" cy="0"/>
        </a:xfrm>
      </p:grpSpPr>
      <p:sp>
        <p:nvSpPr>
          <p:cNvPr id="1048744" name="Title 1"/>
          <p:cNvSpPr>
            <a:spLocks noGrp="1"/>
          </p:cNvSpPr>
          <p:nvPr>
            <p:ph type="title"/>
          </p:nvPr>
        </p:nvSpPr>
        <p:spPr/>
        <p:txBody>
          <a:bodyPr/>
          <a:p>
            <a:r>
              <a:rPr dirty="0" lang="en-US" smtClean="0"/>
              <a:t>ARTHRITIS</a:t>
            </a:r>
            <a:endParaRPr dirty="0" lang="en-US"/>
          </a:p>
        </p:txBody>
      </p:sp>
      <p:sp>
        <p:nvSpPr>
          <p:cNvPr id="1048745" name="Content Placeholder 2"/>
          <p:cNvSpPr>
            <a:spLocks noGrp="1"/>
          </p:cNvSpPr>
          <p:nvPr>
            <p:ph sz="quarter" idx="1"/>
          </p:nvPr>
        </p:nvSpPr>
        <p:spPr/>
        <p:txBody>
          <a:bodyPr/>
          <a:p>
            <a:pPr>
              <a:buNone/>
            </a:pPr>
            <a:r>
              <a:rPr b="1" dirty="0" lang="en-US" smtClean="0"/>
              <a:t>ETIOLOGY</a:t>
            </a:r>
          </a:p>
          <a:p>
            <a:pPr indent="-514350" marL="514350">
              <a:buFont typeface="+mj-lt"/>
              <a:buAutoNum type="arabicPeriod"/>
            </a:pPr>
            <a:r>
              <a:rPr dirty="0" lang="en-US" smtClean="0"/>
              <a:t>Infection; gonococcus, </a:t>
            </a:r>
            <a:r>
              <a:rPr dirty="0" lang="en-US" err="1" smtClean="0"/>
              <a:t>tuberculous</a:t>
            </a:r>
            <a:r>
              <a:rPr dirty="0" lang="en-US" smtClean="0"/>
              <a:t>, pneumococcal.</a:t>
            </a:r>
          </a:p>
          <a:p>
            <a:pPr indent="-514350" marL="514350">
              <a:buFont typeface="+mj-lt"/>
              <a:buAutoNum type="arabicPeriod"/>
            </a:pPr>
            <a:r>
              <a:rPr dirty="0" lang="en-US" smtClean="0"/>
              <a:t>Rheumatic fever</a:t>
            </a:r>
          </a:p>
          <a:p>
            <a:pPr indent="-514350" marL="514350">
              <a:buFont typeface="+mj-lt"/>
              <a:buAutoNum type="arabicPeriod"/>
            </a:pPr>
            <a:r>
              <a:rPr dirty="0" lang="en-US" smtClean="0"/>
              <a:t>Ulcerative colitis</a:t>
            </a:r>
          </a:p>
          <a:p>
            <a:pPr indent="-514350" marL="514350">
              <a:buFont typeface="+mj-lt"/>
              <a:buAutoNum type="arabicPeriod"/>
            </a:pPr>
            <a:r>
              <a:rPr dirty="0" lang="en-US" smtClean="0"/>
              <a:t>Trauma</a:t>
            </a:r>
            <a:endParaRPr dirty="0" lang="en-US"/>
          </a:p>
        </p:txBody>
      </p:sp>
    </p:spTree>
  </p:cSld>
  <p:clrMapOvr>
    <a:masterClrMapping/>
  </p:clrMapOvr>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296" name=""/>
        <p:cNvGrpSpPr/>
        <p:nvPr/>
      </p:nvGrpSpPr>
      <p:grpSpPr>
        <a:xfrm>
          <a:off x="0" y="0"/>
          <a:ext cx="0" cy="0"/>
          <a:chOff x="0" y="0"/>
          <a:chExt cx="0" cy="0"/>
        </a:xfrm>
      </p:grpSpPr>
      <p:sp>
        <p:nvSpPr>
          <p:cNvPr id="1048746" name="Title 1"/>
          <p:cNvSpPr>
            <a:spLocks noGrp="1"/>
          </p:cNvSpPr>
          <p:nvPr>
            <p:ph type="title"/>
          </p:nvPr>
        </p:nvSpPr>
        <p:spPr/>
        <p:txBody>
          <a:bodyPr/>
          <a:p>
            <a:r>
              <a:rPr dirty="0" lang="en-US" smtClean="0"/>
              <a:t>ARTHRITIS</a:t>
            </a:r>
            <a:endParaRPr dirty="0" lang="en-US"/>
          </a:p>
        </p:txBody>
      </p:sp>
      <p:sp>
        <p:nvSpPr>
          <p:cNvPr id="1048747" name="Content Placeholder 2"/>
          <p:cNvSpPr>
            <a:spLocks noGrp="1"/>
          </p:cNvSpPr>
          <p:nvPr>
            <p:ph sz="quarter" idx="1"/>
          </p:nvPr>
        </p:nvSpPr>
        <p:spPr/>
        <p:txBody>
          <a:bodyPr/>
          <a:p>
            <a:pPr>
              <a:buNone/>
            </a:pPr>
            <a:r>
              <a:rPr dirty="0" lang="en-US" smtClean="0"/>
              <a:t>5.Degerative joint disease e.g. osteoarthritis.</a:t>
            </a:r>
          </a:p>
          <a:p>
            <a:pPr>
              <a:buNone/>
            </a:pPr>
            <a:r>
              <a:rPr dirty="0" lang="en-US" smtClean="0"/>
              <a:t>6. Metabolic disturbances such as gout.</a:t>
            </a:r>
          </a:p>
          <a:p>
            <a:pPr>
              <a:buNone/>
            </a:pPr>
            <a:r>
              <a:rPr dirty="0" lang="en-US" smtClean="0"/>
              <a:t>7. </a:t>
            </a:r>
            <a:r>
              <a:rPr dirty="0" lang="en-US" err="1" smtClean="0"/>
              <a:t>Neoplasms</a:t>
            </a:r>
            <a:r>
              <a:rPr dirty="0" lang="en-US" smtClean="0"/>
              <a:t> </a:t>
            </a:r>
            <a:r>
              <a:rPr dirty="0" lang="en-US" err="1" smtClean="0"/>
              <a:t>e.g</a:t>
            </a:r>
            <a:r>
              <a:rPr dirty="0" lang="en-US" smtClean="0"/>
              <a:t> </a:t>
            </a:r>
            <a:r>
              <a:rPr dirty="0" lang="en-US" err="1" smtClean="0"/>
              <a:t>synovioma</a:t>
            </a:r>
            <a:r>
              <a:rPr dirty="0" lang="en-US" smtClean="0"/>
              <a:t>.</a:t>
            </a:r>
          </a:p>
          <a:p>
            <a:pPr>
              <a:buNone/>
            </a:pPr>
            <a:r>
              <a:rPr dirty="0" lang="en-US" smtClean="0"/>
              <a:t>8. </a:t>
            </a:r>
            <a:r>
              <a:rPr dirty="0" lang="en-US" err="1" smtClean="0"/>
              <a:t>para</a:t>
            </a:r>
            <a:r>
              <a:rPr dirty="0" lang="en-US" smtClean="0"/>
              <a:t>- or </a:t>
            </a:r>
            <a:r>
              <a:rPr dirty="0" lang="en-US" err="1" smtClean="0"/>
              <a:t>peri-articular</a:t>
            </a:r>
            <a:r>
              <a:rPr dirty="0" lang="en-US" smtClean="0"/>
              <a:t> conditions </a:t>
            </a:r>
            <a:r>
              <a:rPr dirty="0" lang="en-US" err="1" smtClean="0"/>
              <a:t>eg</a:t>
            </a:r>
            <a:r>
              <a:rPr dirty="0" lang="en-US" smtClean="0"/>
              <a:t> </a:t>
            </a:r>
            <a:r>
              <a:rPr dirty="0" lang="en-US" err="1" smtClean="0"/>
              <a:t>fibromyositis</a:t>
            </a:r>
            <a:endParaRPr dirty="0" lang="en-US" smtClean="0"/>
          </a:p>
          <a:p>
            <a:pPr>
              <a:buNone/>
            </a:pPr>
            <a:r>
              <a:rPr dirty="0" lang="en-US" smtClean="0"/>
              <a:t>9. Psoriasis </a:t>
            </a:r>
            <a:endParaRPr dirty="0" lang="en-US"/>
          </a:p>
        </p:txBody>
      </p:sp>
    </p:spTree>
  </p:cSld>
  <p:clrMapOvr>
    <a:masterClrMapping/>
  </p:clrMapOvr>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297" name=""/>
        <p:cNvGrpSpPr/>
        <p:nvPr/>
      </p:nvGrpSpPr>
      <p:grpSpPr>
        <a:xfrm>
          <a:off x="0" y="0"/>
          <a:ext cx="0" cy="0"/>
          <a:chOff x="0" y="0"/>
          <a:chExt cx="0" cy="0"/>
        </a:xfrm>
      </p:grpSpPr>
      <p:sp>
        <p:nvSpPr>
          <p:cNvPr id="1048748" name="Title 1"/>
          <p:cNvSpPr>
            <a:spLocks noGrp="1"/>
          </p:cNvSpPr>
          <p:nvPr>
            <p:ph type="title"/>
          </p:nvPr>
        </p:nvSpPr>
        <p:spPr/>
        <p:txBody>
          <a:bodyPr/>
          <a:p>
            <a:r>
              <a:rPr dirty="0" lang="en-US" smtClean="0"/>
              <a:t>ARTHRITIS</a:t>
            </a:r>
            <a:endParaRPr dirty="0" lang="en-US"/>
          </a:p>
        </p:txBody>
      </p:sp>
      <p:sp>
        <p:nvSpPr>
          <p:cNvPr id="1048749" name="Content Placeholder 2"/>
          <p:cNvSpPr>
            <a:spLocks noGrp="1"/>
          </p:cNvSpPr>
          <p:nvPr>
            <p:ph sz="quarter" idx="1"/>
          </p:nvPr>
        </p:nvSpPr>
        <p:spPr/>
        <p:txBody>
          <a:bodyPr/>
          <a:p>
            <a:pPr>
              <a:buNone/>
            </a:pPr>
            <a:r>
              <a:rPr b="1" dirty="0" lang="en-US" smtClean="0"/>
              <a:t>SIGNS &amp; SYMPTOMS</a:t>
            </a:r>
          </a:p>
          <a:p>
            <a:pPr>
              <a:buNone/>
            </a:pPr>
            <a:r>
              <a:rPr dirty="0" lang="en-US" smtClean="0"/>
              <a:t>Joint inflammation; redness, swelling, pain &amp; reduced mobility</a:t>
            </a:r>
          </a:p>
          <a:p>
            <a:pPr>
              <a:buNone/>
            </a:pPr>
            <a:r>
              <a:rPr b="1" dirty="0" lang="en-US" smtClean="0"/>
              <a:t>TREATMENT</a:t>
            </a:r>
          </a:p>
          <a:p>
            <a:pPr indent="-514350" marL="514350">
              <a:buFont typeface="+mj-lt"/>
              <a:buAutoNum type="arabicPeriod"/>
            </a:pPr>
            <a:r>
              <a:rPr dirty="0" lang="en-US" smtClean="0"/>
              <a:t>Treat underlying cause.</a:t>
            </a:r>
          </a:p>
          <a:p>
            <a:pPr indent="-514350" marL="514350">
              <a:buFont typeface="+mj-lt"/>
              <a:buAutoNum type="arabicPeriod"/>
            </a:pPr>
            <a:r>
              <a:rPr dirty="0" lang="en-US" smtClean="0"/>
              <a:t>Pts often benefit from </a:t>
            </a:r>
            <a:r>
              <a:rPr dirty="0" lang="en-US" err="1" smtClean="0"/>
              <a:t>referal</a:t>
            </a:r>
            <a:r>
              <a:rPr dirty="0" lang="en-US" smtClean="0"/>
              <a:t> to occupational or physiotherapy or both.</a:t>
            </a:r>
          </a:p>
          <a:p>
            <a:pPr indent="-514350" marL="514350">
              <a:buFont typeface="+mj-lt"/>
              <a:buAutoNum type="arabicPeriod"/>
            </a:pPr>
            <a:endParaRPr dirty="0" lang="en-US"/>
          </a:p>
        </p:txBody>
      </p:sp>
    </p:spTree>
  </p:cSld>
  <p:clrMapOvr>
    <a:masterClrMapping/>
  </p:clrMapOvr>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298" name=""/>
        <p:cNvGrpSpPr/>
        <p:nvPr/>
      </p:nvGrpSpPr>
      <p:grpSpPr>
        <a:xfrm>
          <a:off x="0" y="0"/>
          <a:ext cx="0" cy="0"/>
          <a:chOff x="0" y="0"/>
          <a:chExt cx="0" cy="0"/>
        </a:xfrm>
      </p:grpSpPr>
      <p:sp>
        <p:nvSpPr>
          <p:cNvPr id="1048750" name="Title 1"/>
          <p:cNvSpPr>
            <a:spLocks noGrp="1"/>
          </p:cNvSpPr>
          <p:nvPr>
            <p:ph type="title"/>
          </p:nvPr>
        </p:nvSpPr>
        <p:spPr/>
        <p:txBody>
          <a:bodyPr/>
          <a:p>
            <a:r>
              <a:rPr dirty="0" lang="en-US" smtClean="0"/>
              <a:t>OSTEOARTHRITIS (O.A)</a:t>
            </a:r>
            <a:endParaRPr dirty="0" lang="en-US"/>
          </a:p>
        </p:txBody>
      </p:sp>
      <p:sp>
        <p:nvSpPr>
          <p:cNvPr id="1048751" name="Content Placeholder 2"/>
          <p:cNvSpPr>
            <a:spLocks noGrp="1"/>
          </p:cNvSpPr>
          <p:nvPr>
            <p:ph sz="quarter" idx="1"/>
          </p:nvPr>
        </p:nvSpPr>
        <p:spPr/>
        <p:txBody>
          <a:bodyPr>
            <a:normAutofit/>
          </a:bodyPr>
          <a:p>
            <a:pPr>
              <a:buFont typeface="Wingdings" pitchFamily="2" charset="2"/>
              <a:buChar char="Ø"/>
            </a:pPr>
            <a:r>
              <a:rPr dirty="0" lang="en-US" smtClean="0"/>
              <a:t>Also known as joint degenerative disease or </a:t>
            </a:r>
            <a:r>
              <a:rPr dirty="0" lang="en-US" err="1" smtClean="0"/>
              <a:t>osteoarthrosis</a:t>
            </a:r>
            <a:r>
              <a:rPr dirty="0" lang="en-US" smtClean="0"/>
              <a:t>.</a:t>
            </a:r>
          </a:p>
          <a:p>
            <a:pPr>
              <a:buFont typeface="Wingdings" pitchFamily="2" charset="2"/>
              <a:buChar char="Ø"/>
            </a:pPr>
            <a:r>
              <a:rPr dirty="0" lang="en-US" smtClean="0"/>
              <a:t>It is a progressive </a:t>
            </a:r>
            <a:r>
              <a:rPr dirty="0" lang="en-US" err="1" smtClean="0"/>
              <a:t>nonsystemic</a:t>
            </a:r>
            <a:r>
              <a:rPr dirty="0" lang="en-US" smtClean="0"/>
              <a:t>, </a:t>
            </a:r>
            <a:r>
              <a:rPr dirty="0" lang="en-US" err="1" smtClean="0"/>
              <a:t>noninflammatory</a:t>
            </a:r>
            <a:r>
              <a:rPr dirty="0" lang="en-US" smtClean="0"/>
              <a:t> disease that causes a progressive degeneration of synovial joints of weight- bearing long bones.</a:t>
            </a:r>
          </a:p>
          <a:p>
            <a:pPr>
              <a:buFont typeface="Wingdings" pitchFamily="2" charset="2"/>
              <a:buChar char="Ø"/>
            </a:pPr>
            <a:r>
              <a:rPr dirty="0" lang="en-US" smtClean="0"/>
              <a:t>OA has been classified as primary (idiopathic, with no prior event or disease related to the AO) or secondary. Distinction is always not clear between primary &amp; secondary OA.</a:t>
            </a:r>
            <a:endParaRPr dirty="0" lang="en-US"/>
          </a:p>
        </p:txBody>
      </p:sp>
    </p:spTree>
  </p:cSld>
  <p:clrMapOvr>
    <a:masterClrMapping/>
  </p:clrMapOvr>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299" name=""/>
        <p:cNvGrpSpPr/>
        <p:nvPr/>
      </p:nvGrpSpPr>
      <p:grpSpPr>
        <a:xfrm>
          <a:off x="0" y="0"/>
          <a:ext cx="0" cy="0"/>
          <a:chOff x="0" y="0"/>
          <a:chExt cx="0" cy="0"/>
        </a:xfrm>
      </p:grpSpPr>
      <p:sp>
        <p:nvSpPr>
          <p:cNvPr id="1048752" name="Title 1"/>
          <p:cNvSpPr>
            <a:spLocks noGrp="1"/>
          </p:cNvSpPr>
          <p:nvPr>
            <p:ph type="title"/>
          </p:nvPr>
        </p:nvSpPr>
        <p:spPr/>
        <p:txBody>
          <a:bodyPr/>
          <a:p>
            <a:r>
              <a:rPr dirty="0" lang="en-US" smtClean="0"/>
              <a:t>OSTEOARTHRITIS</a:t>
            </a:r>
            <a:endParaRPr dirty="0" lang="en-US"/>
          </a:p>
        </p:txBody>
      </p:sp>
      <p:sp>
        <p:nvSpPr>
          <p:cNvPr id="1048753" name="Content Placeholder 2"/>
          <p:cNvSpPr>
            <a:spLocks noGrp="1"/>
          </p:cNvSpPr>
          <p:nvPr>
            <p:ph sz="quarter" idx="1"/>
          </p:nvPr>
        </p:nvSpPr>
        <p:spPr/>
        <p:txBody>
          <a:bodyPr/>
          <a:p>
            <a:pPr>
              <a:buNone/>
            </a:pPr>
            <a:r>
              <a:rPr b="1" dirty="0" lang="en-US" smtClean="0"/>
              <a:t>RISK FACTORS</a:t>
            </a:r>
          </a:p>
          <a:p>
            <a:pPr indent="-514350" marL="514350">
              <a:buFont typeface="+mj-lt"/>
              <a:buAutoNum type="arabicPeriod"/>
            </a:pPr>
            <a:r>
              <a:rPr dirty="0" lang="en-US" smtClean="0"/>
              <a:t>Increased age </a:t>
            </a:r>
          </a:p>
          <a:p>
            <a:pPr indent="-514350" marL="514350">
              <a:buFont typeface="+mj-lt"/>
              <a:buAutoNum type="arabicPeriod"/>
            </a:pPr>
            <a:r>
              <a:rPr dirty="0" lang="en-US" smtClean="0"/>
              <a:t>Genetic predisposition</a:t>
            </a:r>
          </a:p>
          <a:p>
            <a:pPr indent="-514350" marL="514350">
              <a:buFont typeface="+mj-lt"/>
              <a:buAutoNum type="arabicPeriod"/>
            </a:pPr>
            <a:r>
              <a:rPr dirty="0" lang="en-US" smtClean="0"/>
              <a:t>Gender &amp; hormonal factors</a:t>
            </a:r>
          </a:p>
          <a:p>
            <a:pPr indent="-514350" marL="514350">
              <a:buFont typeface="+mj-lt"/>
              <a:buAutoNum type="arabicPeriod"/>
            </a:pPr>
            <a:r>
              <a:rPr dirty="0" lang="en-US" smtClean="0"/>
              <a:t>Obesity </a:t>
            </a:r>
          </a:p>
          <a:p>
            <a:pPr indent="-514350" marL="514350">
              <a:buFont typeface="+mj-lt"/>
              <a:buAutoNum type="arabicPeriod"/>
            </a:pPr>
            <a:r>
              <a:rPr dirty="0" lang="en-US" smtClean="0"/>
              <a:t>Mechanical factors.</a:t>
            </a:r>
          </a:p>
          <a:p>
            <a:pPr indent="-514350" marL="514350">
              <a:buFont typeface="+mj-lt"/>
              <a:buAutoNum type="arabicPeriod"/>
            </a:pPr>
            <a:r>
              <a:rPr dirty="0" lang="en-US" smtClean="0"/>
              <a:t>Prior inflammatory disease</a:t>
            </a:r>
            <a:endParaRPr dirty="0" lang="en-US"/>
          </a:p>
        </p:txBody>
      </p:sp>
    </p:spTree>
  </p:cSld>
  <p:clrMapOvr>
    <a:masterClrMapping/>
  </p:clrMapOvr>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300" name=""/>
        <p:cNvGrpSpPr/>
        <p:nvPr/>
      </p:nvGrpSpPr>
      <p:grpSpPr>
        <a:xfrm>
          <a:off x="0" y="0"/>
          <a:ext cx="0" cy="0"/>
          <a:chOff x="0" y="0"/>
          <a:chExt cx="0" cy="0"/>
        </a:xfrm>
      </p:grpSpPr>
      <p:sp>
        <p:nvSpPr>
          <p:cNvPr id="1048754" name="Title 1"/>
          <p:cNvSpPr>
            <a:spLocks noGrp="1"/>
          </p:cNvSpPr>
          <p:nvPr>
            <p:ph type="title"/>
          </p:nvPr>
        </p:nvSpPr>
        <p:spPr/>
        <p:txBody>
          <a:bodyPr/>
          <a:p>
            <a:r>
              <a:rPr dirty="0" lang="en-US" smtClean="0"/>
              <a:t>OSTEOARTHRITIS</a:t>
            </a:r>
            <a:endParaRPr dirty="0" lang="en-US"/>
          </a:p>
        </p:txBody>
      </p:sp>
      <p:sp>
        <p:nvSpPr>
          <p:cNvPr id="1048755" name="Content Placeholder 2"/>
          <p:cNvSpPr>
            <a:spLocks noGrp="1"/>
          </p:cNvSpPr>
          <p:nvPr>
            <p:ph sz="quarter" idx="1"/>
          </p:nvPr>
        </p:nvSpPr>
        <p:spPr/>
        <p:txBody>
          <a:bodyPr/>
          <a:p>
            <a:pPr indent="-514350" marL="514350">
              <a:buNone/>
            </a:pPr>
            <a:r>
              <a:rPr b="1" dirty="0" lang="en-US" smtClean="0"/>
              <a:t>CLINICAL MANIFESTATIONS</a:t>
            </a:r>
          </a:p>
          <a:p>
            <a:pPr indent="-514350" marL="514350">
              <a:buFont typeface="+mj-lt"/>
              <a:buAutoNum type="arabicPeriod"/>
            </a:pPr>
            <a:r>
              <a:rPr dirty="0" lang="en-US" smtClean="0"/>
              <a:t>Pain, swelling, tenderness</a:t>
            </a:r>
          </a:p>
          <a:p>
            <a:pPr indent="-514350" marL="514350">
              <a:buFont typeface="+mj-lt"/>
              <a:buAutoNum type="arabicPeriod"/>
            </a:pPr>
            <a:r>
              <a:rPr dirty="0" lang="en-US" err="1" smtClean="0"/>
              <a:t>Crepitus</a:t>
            </a:r>
            <a:r>
              <a:rPr dirty="0" lang="en-US" smtClean="0"/>
              <a:t>: a grating sound or feeling with movement.</a:t>
            </a:r>
          </a:p>
          <a:p>
            <a:pPr indent="-514350" marL="514350">
              <a:buFont typeface="+mj-lt"/>
              <a:buAutoNum type="arabicPeriod"/>
            </a:pPr>
            <a:r>
              <a:rPr dirty="0" lang="en-US" smtClean="0"/>
              <a:t>Instability; stiffness &amp; immobility.</a:t>
            </a:r>
          </a:p>
          <a:p>
            <a:pPr indent="-514350" marL="514350">
              <a:buFont typeface="+mj-lt"/>
              <a:buAutoNum type="arabicPeriod"/>
            </a:pPr>
            <a:r>
              <a:rPr dirty="0" lang="en-US" smtClean="0"/>
              <a:t>Pain increases with motion &amp; weight bearing.</a:t>
            </a:r>
          </a:p>
          <a:p>
            <a:pPr indent="-514350" marL="514350">
              <a:buFont typeface="+mj-lt"/>
              <a:buAutoNum type="arabicPeriod"/>
            </a:pPr>
            <a:r>
              <a:rPr dirty="0" lang="en-US" err="1" smtClean="0"/>
              <a:t>Herberdens</a:t>
            </a:r>
            <a:r>
              <a:rPr dirty="0" lang="en-US" smtClean="0"/>
              <a:t> nodes: bony nodules on the distal finger joints.</a:t>
            </a:r>
            <a:endParaRPr dirty="0" lang="en-US"/>
          </a:p>
        </p:txBody>
      </p:sp>
    </p:spTree>
  </p:cSld>
  <p:clrMapOvr>
    <a:masterClrMapping/>
  </p:clrMapOvr>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301" name=""/>
        <p:cNvGrpSpPr/>
        <p:nvPr/>
      </p:nvGrpSpPr>
      <p:grpSpPr>
        <a:xfrm>
          <a:off x="0" y="0"/>
          <a:ext cx="0" cy="0"/>
          <a:chOff x="0" y="0"/>
          <a:chExt cx="0" cy="0"/>
        </a:xfrm>
      </p:grpSpPr>
      <p:sp>
        <p:nvSpPr>
          <p:cNvPr id="1048756" name="Title 1"/>
          <p:cNvSpPr>
            <a:spLocks noGrp="1"/>
          </p:cNvSpPr>
          <p:nvPr>
            <p:ph type="title"/>
          </p:nvPr>
        </p:nvSpPr>
        <p:spPr/>
        <p:txBody>
          <a:bodyPr/>
          <a:p>
            <a:r>
              <a:rPr dirty="0" lang="en-US" smtClean="0"/>
              <a:t>OSTEOARTHRITIS</a:t>
            </a:r>
            <a:endParaRPr dirty="0" lang="en-US"/>
          </a:p>
        </p:txBody>
      </p:sp>
      <p:sp>
        <p:nvSpPr>
          <p:cNvPr id="1048757" name="Content Placeholder 2"/>
          <p:cNvSpPr>
            <a:spLocks noGrp="1"/>
          </p:cNvSpPr>
          <p:nvPr>
            <p:ph sz="quarter" idx="1"/>
          </p:nvPr>
        </p:nvSpPr>
        <p:spPr/>
        <p:txBody>
          <a:bodyPr>
            <a:normAutofit lnSpcReduction="10000"/>
          </a:bodyPr>
          <a:p>
            <a:pPr>
              <a:buNone/>
            </a:pPr>
            <a:r>
              <a:rPr b="1" dirty="0" lang="en-US" smtClean="0"/>
              <a:t>DIAGNOSTICS</a:t>
            </a:r>
          </a:p>
          <a:p>
            <a:pPr indent="-514350" marL="514350">
              <a:buFont typeface="+mj-lt"/>
              <a:buAutoNum type="arabicPeriod"/>
            </a:pPr>
            <a:r>
              <a:rPr dirty="0" lang="en-US" smtClean="0"/>
              <a:t>Synovial joint analysis</a:t>
            </a:r>
          </a:p>
          <a:p>
            <a:pPr indent="-514350" marL="514350">
              <a:buFont typeface="+mj-lt"/>
              <a:buAutoNum type="arabicPeriod"/>
            </a:pPr>
            <a:r>
              <a:rPr dirty="0" lang="en-US" smtClean="0"/>
              <a:t>Bone scan </a:t>
            </a:r>
          </a:p>
          <a:p>
            <a:pPr indent="-514350" marL="514350">
              <a:buFont typeface="+mj-lt"/>
              <a:buAutoNum type="arabicPeriod"/>
            </a:pPr>
            <a:r>
              <a:rPr dirty="0" lang="en-US" smtClean="0"/>
              <a:t>X-ray films</a:t>
            </a:r>
          </a:p>
          <a:p>
            <a:pPr indent="-514350" marL="514350">
              <a:buNone/>
            </a:pPr>
            <a:r>
              <a:rPr b="1" dirty="0" lang="en-US" smtClean="0"/>
              <a:t>TREATMENT</a:t>
            </a:r>
          </a:p>
          <a:p>
            <a:pPr indent="-514350" marL="514350">
              <a:buFont typeface="+mj-lt"/>
              <a:buAutoNum type="arabicPeriod"/>
            </a:pPr>
            <a:r>
              <a:rPr dirty="0" lang="en-US" smtClean="0"/>
              <a:t>Medication to relief pain, NSAIDS </a:t>
            </a:r>
            <a:r>
              <a:rPr dirty="0" lang="en-US" err="1" smtClean="0"/>
              <a:t>eg</a:t>
            </a:r>
            <a:r>
              <a:rPr dirty="0" lang="en-US" smtClean="0"/>
              <a:t> acetaminophen</a:t>
            </a:r>
          </a:p>
          <a:p>
            <a:pPr indent="-514350" marL="514350">
              <a:buFont typeface="+mj-lt"/>
              <a:buAutoNum type="arabicPeriod"/>
            </a:pPr>
            <a:r>
              <a:rPr dirty="0" lang="en-US" smtClean="0"/>
              <a:t>Activity balanced with adequate rest</a:t>
            </a:r>
          </a:p>
          <a:p>
            <a:pPr indent="-514350" marL="514350">
              <a:buFont typeface="+mj-lt"/>
              <a:buAutoNum type="arabicPeriod"/>
            </a:pPr>
            <a:r>
              <a:rPr dirty="0" lang="en-US" smtClean="0"/>
              <a:t>Weight reduction, if appropriate</a:t>
            </a:r>
            <a:endParaRPr dirty="0" lang="en-US"/>
          </a:p>
        </p:txBody>
      </p:sp>
    </p:spTree>
  </p:cSld>
  <p:clrMapOvr>
    <a:masterClrMapping/>
  </p:clrMapOvr>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302" name=""/>
        <p:cNvGrpSpPr/>
        <p:nvPr/>
      </p:nvGrpSpPr>
      <p:grpSpPr>
        <a:xfrm>
          <a:off x="0" y="0"/>
          <a:ext cx="0" cy="0"/>
          <a:chOff x="0" y="0"/>
          <a:chExt cx="0" cy="0"/>
        </a:xfrm>
      </p:grpSpPr>
      <p:sp>
        <p:nvSpPr>
          <p:cNvPr id="1048758" name="Title 1"/>
          <p:cNvSpPr>
            <a:spLocks noGrp="1"/>
          </p:cNvSpPr>
          <p:nvPr>
            <p:ph type="title"/>
          </p:nvPr>
        </p:nvSpPr>
        <p:spPr/>
        <p:txBody>
          <a:bodyPr/>
          <a:p>
            <a:r>
              <a:rPr dirty="0" lang="en-US" smtClean="0"/>
              <a:t>OSTEOARTHRITIS</a:t>
            </a:r>
            <a:endParaRPr dirty="0" lang="en-US"/>
          </a:p>
        </p:txBody>
      </p:sp>
      <p:sp>
        <p:nvSpPr>
          <p:cNvPr id="1048759" name="Content Placeholder 2"/>
          <p:cNvSpPr>
            <a:spLocks noGrp="1"/>
          </p:cNvSpPr>
          <p:nvPr>
            <p:ph sz="quarter" idx="1"/>
          </p:nvPr>
        </p:nvSpPr>
        <p:spPr/>
        <p:txBody>
          <a:bodyPr/>
          <a:p>
            <a:pPr>
              <a:buNone/>
            </a:pPr>
            <a:r>
              <a:rPr dirty="0" lang="en-US" smtClean="0"/>
              <a:t>4. Physical therapy &amp; exercise</a:t>
            </a:r>
          </a:p>
          <a:p>
            <a:pPr>
              <a:buNone/>
            </a:pPr>
            <a:r>
              <a:rPr dirty="0" lang="en-US" smtClean="0"/>
              <a:t>5. Joint rest &amp; avoidance of joint overuse.</a:t>
            </a:r>
          </a:p>
          <a:p>
            <a:pPr>
              <a:buNone/>
            </a:pPr>
            <a:r>
              <a:rPr dirty="0" lang="en-US" smtClean="0"/>
              <a:t>6. Use of orthotic device to support inflamed joints ( splints, braces).</a:t>
            </a:r>
          </a:p>
          <a:p>
            <a:pPr>
              <a:buNone/>
            </a:pPr>
            <a:r>
              <a:rPr b="1" dirty="0" lang="en-US" smtClean="0"/>
              <a:t>NURSING MANAGEMENT</a:t>
            </a:r>
          </a:p>
          <a:p>
            <a:pPr indent="-514350" marL="514350">
              <a:buFont typeface="+mj-lt"/>
              <a:buAutoNum type="arabicPeriod"/>
            </a:pPr>
            <a:r>
              <a:rPr dirty="0" lang="en-US" smtClean="0"/>
              <a:t>Acute inflamed joint should be immobilized with splint or brace.</a:t>
            </a:r>
            <a:endParaRPr dirty="0" lang="en-US"/>
          </a:p>
        </p:txBody>
      </p:sp>
    </p:spTree>
  </p:cSld>
  <p:clrMapOvr>
    <a:masterClrMapping/>
  </p:clrMapOvr>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303" name=""/>
        <p:cNvGrpSpPr/>
        <p:nvPr/>
      </p:nvGrpSpPr>
      <p:grpSpPr>
        <a:xfrm>
          <a:off x="0" y="0"/>
          <a:ext cx="0" cy="0"/>
          <a:chOff x="0" y="0"/>
          <a:chExt cx="0" cy="0"/>
        </a:xfrm>
      </p:grpSpPr>
      <p:sp>
        <p:nvSpPr>
          <p:cNvPr id="1048760" name="Title 1"/>
          <p:cNvSpPr>
            <a:spLocks noGrp="1"/>
          </p:cNvSpPr>
          <p:nvPr>
            <p:ph type="title"/>
          </p:nvPr>
        </p:nvSpPr>
        <p:spPr/>
        <p:txBody>
          <a:bodyPr/>
          <a:p>
            <a:r>
              <a:rPr dirty="0" lang="en-US" smtClean="0"/>
              <a:t>OSTEOARTHRITIS</a:t>
            </a:r>
            <a:endParaRPr dirty="0" lang="en-US"/>
          </a:p>
        </p:txBody>
      </p:sp>
      <p:sp>
        <p:nvSpPr>
          <p:cNvPr id="1048761" name="Content Placeholder 2"/>
          <p:cNvSpPr>
            <a:spLocks noGrp="1"/>
          </p:cNvSpPr>
          <p:nvPr>
            <p:ph sz="quarter" idx="1"/>
          </p:nvPr>
        </p:nvSpPr>
        <p:spPr/>
        <p:txBody>
          <a:bodyPr/>
          <a:p>
            <a:pPr>
              <a:buNone/>
            </a:pPr>
            <a:r>
              <a:rPr dirty="0" lang="en-US" smtClean="0"/>
              <a:t>2. Plan ADLs to prevent stress on involved joints &amp; promote rest.</a:t>
            </a:r>
          </a:p>
          <a:p>
            <a:pPr>
              <a:buNone/>
            </a:pPr>
            <a:r>
              <a:rPr dirty="0" lang="en-US" smtClean="0"/>
              <a:t>3. Heat compresses to relief pain &amp; cold compresses for inflamed joints</a:t>
            </a:r>
          </a:p>
          <a:p>
            <a:pPr>
              <a:buNone/>
            </a:pPr>
            <a:r>
              <a:rPr dirty="0" lang="en-US" smtClean="0"/>
              <a:t>4. Maintenance of regular exercise </a:t>
            </a:r>
            <a:endParaRPr dirty="0" lang="en-US"/>
          </a:p>
        </p:txBody>
      </p:sp>
    </p:spTree>
  </p:cSld>
  <p:clrMapOvr>
    <a:masterClrMapping/>
  </p:clrMapOvr>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304" name=""/>
        <p:cNvGrpSpPr/>
        <p:nvPr/>
      </p:nvGrpSpPr>
      <p:grpSpPr>
        <a:xfrm>
          <a:off x="0" y="0"/>
          <a:ext cx="0" cy="0"/>
          <a:chOff x="0" y="0"/>
          <a:chExt cx="0" cy="0"/>
        </a:xfrm>
      </p:grpSpPr>
      <p:sp>
        <p:nvSpPr>
          <p:cNvPr id="1048762" name="Title 1"/>
          <p:cNvSpPr>
            <a:spLocks noGrp="1"/>
          </p:cNvSpPr>
          <p:nvPr>
            <p:ph type="title"/>
          </p:nvPr>
        </p:nvSpPr>
        <p:spPr/>
        <p:txBody>
          <a:bodyPr/>
          <a:p>
            <a:r>
              <a:rPr dirty="0" lang="en-US" smtClean="0"/>
              <a:t>assignment</a:t>
            </a:r>
            <a:endParaRPr dirty="0" lang="en-US"/>
          </a:p>
        </p:txBody>
      </p:sp>
      <p:sp>
        <p:nvSpPr>
          <p:cNvPr id="1048763" name="Content Placeholder 2"/>
          <p:cNvSpPr>
            <a:spLocks noGrp="1"/>
          </p:cNvSpPr>
          <p:nvPr>
            <p:ph sz="quarter" idx="1"/>
          </p:nvPr>
        </p:nvSpPr>
        <p:spPr/>
        <p:txBody>
          <a:bodyPr/>
          <a:p>
            <a:r>
              <a:rPr dirty="0" lang="en-US" smtClean="0"/>
              <a:t>Read and make short notes on</a:t>
            </a:r>
          </a:p>
          <a:p>
            <a:r>
              <a:rPr dirty="0" lang="en-US" smtClean="0"/>
              <a:t>Rheumatoid  arthritis</a:t>
            </a:r>
          </a:p>
          <a:p>
            <a:r>
              <a:rPr dirty="0" lang="en-US" smtClean="0"/>
              <a:t>Gout arthritis</a:t>
            </a:r>
            <a:endParaRPr dirty="0"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305" name=""/>
        <p:cNvGrpSpPr/>
        <p:nvPr/>
      </p:nvGrpSpPr>
      <p:grpSpPr>
        <a:xfrm>
          <a:off x="0" y="0"/>
          <a:ext cx="0" cy="0"/>
          <a:chOff x="0" y="0"/>
          <a:chExt cx="0" cy="0"/>
        </a:xfrm>
      </p:grpSpPr>
      <p:sp>
        <p:nvSpPr>
          <p:cNvPr id="1048764" name="Title 1"/>
          <p:cNvSpPr>
            <a:spLocks noGrp="1"/>
          </p:cNvSpPr>
          <p:nvPr>
            <p:ph type="title"/>
          </p:nvPr>
        </p:nvSpPr>
        <p:spPr/>
        <p:txBody>
          <a:bodyPr/>
          <a:p>
            <a:r>
              <a:rPr dirty="0" lang="en-US" smtClean="0"/>
              <a:t>SCOLIOSIS</a:t>
            </a:r>
            <a:endParaRPr dirty="0" lang="en-US"/>
          </a:p>
        </p:txBody>
      </p:sp>
      <p:sp>
        <p:nvSpPr>
          <p:cNvPr id="1048765" name="Content Placeholder 2"/>
          <p:cNvSpPr>
            <a:spLocks noGrp="1"/>
          </p:cNvSpPr>
          <p:nvPr>
            <p:ph sz="quarter" idx="1"/>
          </p:nvPr>
        </p:nvSpPr>
        <p:spPr/>
        <p:txBody>
          <a:bodyPr>
            <a:normAutofit/>
          </a:bodyPr>
          <a:p>
            <a:pPr>
              <a:buNone/>
            </a:pPr>
            <a:r>
              <a:rPr dirty="0" lang="en-US" smtClean="0"/>
              <a:t>Is a lateral S-shaped curvature of the thoracic &amp; lumbar spine.</a:t>
            </a:r>
          </a:p>
          <a:p>
            <a:pPr>
              <a:buNone/>
            </a:pPr>
            <a:r>
              <a:rPr dirty="0" lang="en-US" smtClean="0"/>
              <a:t>If allowed to progress without treatment, it will severely affect the shape of the thoracic cavity &amp; impair ventilation.</a:t>
            </a:r>
          </a:p>
          <a:p>
            <a:pPr>
              <a:buNone/>
            </a:pPr>
            <a:r>
              <a:rPr dirty="0" lang="en-US" smtClean="0"/>
              <a:t>Could be structural or postural (non-structural).</a:t>
            </a:r>
          </a:p>
          <a:p>
            <a:pPr>
              <a:buNone/>
            </a:pPr>
            <a:r>
              <a:rPr dirty="0" lang="en-US" smtClean="0"/>
              <a:t>Structural: classifications are idiopathic, congenital, neuromuscular &amp; </a:t>
            </a:r>
            <a:r>
              <a:rPr dirty="0" lang="en-US" err="1" smtClean="0"/>
              <a:t>syndromic</a:t>
            </a:r>
            <a:r>
              <a:rPr dirty="0" lang="en-US" smtClean="0"/>
              <a:t> or miscellaneous (infection).</a:t>
            </a:r>
            <a:endParaRPr dirty="0" lang="en-US"/>
          </a:p>
        </p:txBody>
      </p:sp>
    </p:spTree>
  </p:cSld>
  <p:clrMapOvr>
    <a:masterClrMapping/>
  </p:clrMapOvr>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306" name=""/>
        <p:cNvGrpSpPr/>
        <p:nvPr/>
      </p:nvGrpSpPr>
      <p:grpSpPr>
        <a:xfrm>
          <a:off x="0" y="0"/>
          <a:ext cx="0" cy="0"/>
          <a:chOff x="0" y="0"/>
          <a:chExt cx="0" cy="0"/>
        </a:xfrm>
      </p:grpSpPr>
      <p:sp>
        <p:nvSpPr>
          <p:cNvPr id="1048766" name="Title 1"/>
          <p:cNvSpPr>
            <a:spLocks noGrp="1"/>
          </p:cNvSpPr>
          <p:nvPr>
            <p:ph type="title"/>
          </p:nvPr>
        </p:nvSpPr>
        <p:spPr/>
        <p:txBody>
          <a:bodyPr/>
          <a:p>
            <a:r>
              <a:rPr dirty="0" lang="en-US" smtClean="0"/>
              <a:t>SCOLIOSIS</a:t>
            </a:r>
            <a:endParaRPr dirty="0" lang="en-US"/>
          </a:p>
        </p:txBody>
      </p:sp>
      <p:pic>
        <p:nvPicPr>
          <p:cNvPr id="2097162" name="Content Placeholder 3" descr="http://ts4.mm.bing.net/th?id=H.5032719118172251&amp;pid=1.1">
            <a:hlinkClick r:id="rId1"/>
          </p:cNvPr>
          <p:cNvPicPr>
            <a:picLocks noGrp="1"/>
          </p:cNvPicPr>
          <p:nvPr>
            <p:ph sz="quarter" idx="1"/>
          </p:nvPr>
        </p:nvPicPr>
        <p:blipFill>
          <a:blip xmlns:r="http://schemas.openxmlformats.org/officeDocument/2006/relationships" r:embed="rId2" cstate="print"/>
          <a:srcRect/>
          <a:stretch>
            <a:fillRect/>
          </a:stretch>
        </p:blipFill>
        <p:spPr bwMode="auto">
          <a:xfrm>
            <a:off x="1295401" y="1600200"/>
            <a:ext cx="6781800" cy="4419600"/>
          </a:xfrm>
          <a:prstGeom prst="rect"/>
          <a:noFill/>
          <a:ln w="9525">
            <a:noFill/>
            <a:miter lim="800000"/>
            <a:headEnd/>
            <a:tailEnd/>
          </a:ln>
        </p:spPr>
      </p:pic>
    </p:spTree>
  </p:cSld>
  <p:clrMapOvr>
    <a:masterClrMapping/>
  </p:clrMapOvr>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307" name=""/>
        <p:cNvGrpSpPr/>
        <p:nvPr/>
      </p:nvGrpSpPr>
      <p:grpSpPr>
        <a:xfrm>
          <a:off x="0" y="0"/>
          <a:ext cx="0" cy="0"/>
          <a:chOff x="0" y="0"/>
          <a:chExt cx="0" cy="0"/>
        </a:xfrm>
      </p:grpSpPr>
      <p:sp>
        <p:nvSpPr>
          <p:cNvPr id="1048767" name="Title 1"/>
          <p:cNvSpPr>
            <a:spLocks noGrp="1"/>
          </p:cNvSpPr>
          <p:nvPr>
            <p:ph type="title"/>
          </p:nvPr>
        </p:nvSpPr>
        <p:spPr/>
        <p:txBody>
          <a:bodyPr/>
          <a:p>
            <a:endParaRPr lang="en-US"/>
          </a:p>
        </p:txBody>
      </p:sp>
      <p:sp>
        <p:nvSpPr>
          <p:cNvPr id="1048768" name="Content Placeholder 2"/>
          <p:cNvSpPr>
            <a:spLocks noGrp="1"/>
          </p:cNvSpPr>
          <p:nvPr>
            <p:ph sz="quarter" idx="1"/>
          </p:nvPr>
        </p:nvSpPr>
        <p:spPr/>
        <p:txBody>
          <a:bodyPr/>
          <a:p>
            <a:pPr>
              <a:buNone/>
            </a:pPr>
            <a:r>
              <a:rPr b="1" dirty="0" lang="en-US" smtClean="0"/>
              <a:t>CLINICAL MANIFESTATIONS</a:t>
            </a:r>
          </a:p>
          <a:p>
            <a:pPr indent="-514350" marL="514350">
              <a:buFont typeface="+mj-lt"/>
              <a:buAutoNum type="alphaLcParenR"/>
            </a:pPr>
            <a:r>
              <a:rPr dirty="0" lang="en-US" smtClean="0"/>
              <a:t>Uneven hips &amp; shoulders</a:t>
            </a:r>
          </a:p>
          <a:p>
            <a:pPr indent="-514350" marL="514350">
              <a:buFont typeface="+mj-lt"/>
              <a:buAutoNum type="alphaLcParenR"/>
            </a:pPr>
            <a:r>
              <a:rPr dirty="0" lang="en-US" smtClean="0"/>
              <a:t>Visible curvature of the spinal column; head &amp; hip are not in alignment.</a:t>
            </a:r>
          </a:p>
          <a:p>
            <a:pPr indent="-514350" marL="514350">
              <a:buFont typeface="+mj-lt"/>
              <a:buAutoNum type="alphaLcParenR"/>
            </a:pPr>
            <a:r>
              <a:rPr dirty="0" lang="en-US" smtClean="0"/>
              <a:t>When a child bends forward from the waist, there is visible asymmetry of the shoulders.</a:t>
            </a:r>
          </a:p>
          <a:p>
            <a:pPr indent="-514350" marL="514350">
              <a:buFont typeface="+mj-lt"/>
              <a:buAutoNum type="alphaLcParenR"/>
            </a:pPr>
            <a:r>
              <a:rPr dirty="0" lang="en-US" smtClean="0"/>
              <a:t>Waistline is uneven. One hip is more prominent.</a:t>
            </a:r>
            <a:endParaRPr dirty="0" lang="en-US"/>
          </a:p>
        </p:txBody>
      </p:sp>
    </p:spTree>
  </p:cSld>
  <p:clrMapOvr>
    <a:masterClrMapping/>
  </p:clrMapOvr>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311" name=""/>
        <p:cNvGrpSpPr/>
        <p:nvPr/>
      </p:nvGrpSpPr>
      <p:grpSpPr>
        <a:xfrm>
          <a:off x="0" y="0"/>
          <a:ext cx="0" cy="0"/>
          <a:chOff x="0" y="0"/>
          <a:chExt cx="0" cy="0"/>
        </a:xfrm>
      </p:grpSpPr>
      <p:sp>
        <p:nvSpPr>
          <p:cNvPr id="1048777" name="Title 1"/>
          <p:cNvSpPr>
            <a:spLocks noGrp="1"/>
          </p:cNvSpPr>
          <p:nvPr>
            <p:ph type="title"/>
          </p:nvPr>
        </p:nvSpPr>
        <p:spPr/>
        <p:txBody>
          <a:bodyPr/>
          <a:p>
            <a:endParaRPr lang="en-US"/>
          </a:p>
        </p:txBody>
      </p:sp>
      <p:sp>
        <p:nvSpPr>
          <p:cNvPr id="1048778" name="Content Placeholder 2"/>
          <p:cNvSpPr>
            <a:spLocks noGrp="1"/>
          </p:cNvSpPr>
          <p:nvPr>
            <p:ph sz="quarter" idx="1"/>
          </p:nvPr>
        </p:nvSpPr>
        <p:spPr/>
        <p:txBody>
          <a:bodyPr/>
          <a:p>
            <a:pPr>
              <a:buNone/>
            </a:pPr>
            <a:r>
              <a:rPr b="1" dirty="0" lang="en-US" smtClean="0"/>
              <a:t>DIAGNOSTICS</a:t>
            </a:r>
          </a:p>
          <a:p>
            <a:pPr indent="-514350" marL="514350">
              <a:buFont typeface="+mj-lt"/>
              <a:buAutoNum type="arabicPeriod"/>
            </a:pPr>
            <a:r>
              <a:rPr dirty="0" lang="en-US" smtClean="0"/>
              <a:t>Clinical manifestations</a:t>
            </a:r>
          </a:p>
          <a:p>
            <a:pPr indent="-514350" marL="514350">
              <a:buFont typeface="+mj-lt"/>
              <a:buAutoNum type="arabicPeriod"/>
            </a:pPr>
            <a:r>
              <a:rPr dirty="0" lang="en-US" smtClean="0"/>
              <a:t>X-ray film- AP &amp; lateral spine</a:t>
            </a:r>
          </a:p>
          <a:p>
            <a:pPr indent="-514350" marL="514350">
              <a:buFont typeface="+mj-lt"/>
              <a:buAutoNum type="arabicPeriod"/>
            </a:pPr>
            <a:r>
              <a:rPr dirty="0" lang="en-US" smtClean="0"/>
              <a:t>MRI – especially for those with neurological deficit.</a:t>
            </a:r>
          </a:p>
          <a:p>
            <a:pPr indent="-514350" marL="514350">
              <a:buFont typeface="+mj-lt"/>
              <a:buAutoNum type="arabicPeriod"/>
            </a:pPr>
            <a:r>
              <a:rPr dirty="0" lang="en-US" smtClean="0"/>
              <a:t>Straight-leg-raising test is performed by the nurse on the pt on a supine position &amp; will complain of sciatica or leg pain</a:t>
            </a:r>
            <a:endParaRPr dirty="0" lang="en-US"/>
          </a:p>
        </p:txBody>
      </p:sp>
    </p:spTree>
  </p:cSld>
  <p:clrMapOvr>
    <a:masterClrMapping/>
  </p:clrMapOvr>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312" name=""/>
        <p:cNvGrpSpPr/>
        <p:nvPr/>
      </p:nvGrpSpPr>
      <p:grpSpPr>
        <a:xfrm>
          <a:off x="0" y="0"/>
          <a:ext cx="0" cy="0"/>
          <a:chOff x="0" y="0"/>
          <a:chExt cx="0" cy="0"/>
        </a:xfrm>
      </p:grpSpPr>
      <p:sp>
        <p:nvSpPr>
          <p:cNvPr id="1048779" name="Title 1"/>
          <p:cNvSpPr>
            <a:spLocks noGrp="1"/>
          </p:cNvSpPr>
          <p:nvPr>
            <p:ph type="title"/>
          </p:nvPr>
        </p:nvSpPr>
        <p:spPr>
          <a:xfrm>
            <a:off x="457200" y="274638"/>
            <a:ext cx="8229600" cy="182562"/>
          </a:xfrm>
        </p:spPr>
        <p:txBody>
          <a:bodyPr>
            <a:normAutofit fontScale="90000"/>
          </a:bodyPr>
          <a:p>
            <a:endParaRPr dirty="0" lang="en-US"/>
          </a:p>
        </p:txBody>
      </p:sp>
      <p:sp>
        <p:nvSpPr>
          <p:cNvPr id="1048780" name="Content Placeholder 2"/>
          <p:cNvSpPr>
            <a:spLocks noGrp="1"/>
          </p:cNvSpPr>
          <p:nvPr>
            <p:ph sz="quarter" idx="1"/>
          </p:nvPr>
        </p:nvSpPr>
        <p:spPr>
          <a:xfrm>
            <a:off x="457200" y="533400"/>
            <a:ext cx="8229600" cy="5592763"/>
          </a:xfrm>
        </p:spPr>
        <p:txBody>
          <a:bodyPr/>
          <a:p>
            <a:pPr>
              <a:buNone/>
            </a:pPr>
            <a:r>
              <a:rPr b="1" dirty="0" lang="en-US" smtClean="0"/>
              <a:t>TREATMENT</a:t>
            </a:r>
          </a:p>
          <a:p>
            <a:pPr indent="-514350" marL="514350">
              <a:buFont typeface="+mj-lt"/>
              <a:buAutoNum type="arabicPeriod"/>
            </a:pPr>
            <a:r>
              <a:rPr dirty="0" lang="en-US" smtClean="0"/>
              <a:t>Observation &amp; monitoring for curvature less than 20 degrees.</a:t>
            </a:r>
          </a:p>
          <a:p>
            <a:pPr indent="-514350" marL="514350">
              <a:buFont typeface="+mj-lt"/>
              <a:buAutoNum type="arabicPeriod"/>
            </a:pPr>
            <a:r>
              <a:rPr dirty="0" lang="en-US" smtClean="0"/>
              <a:t>Brace if curvature shows progression 20-40 degrees. Maintain the size of deformity.</a:t>
            </a:r>
          </a:p>
          <a:p>
            <a:pPr indent="-514350" marL="514350">
              <a:buFont typeface="+mj-lt"/>
              <a:buAutoNum type="arabicPeriod"/>
            </a:pPr>
            <a:r>
              <a:rPr dirty="0" lang="en-US" smtClean="0"/>
              <a:t>Surgery if the curvature is 40-50 degrees. Spinal fusion &amp; placement of a rod to prevent destruction of the fused segment. The rod may be left in place permanently unless it becomes displaced or causes discomfort.</a:t>
            </a:r>
            <a:endParaRPr dirty="0" lang="en-US"/>
          </a:p>
        </p:txBody>
      </p:sp>
    </p:spTree>
  </p:cSld>
  <p:clrMapOvr>
    <a:masterClrMapping/>
  </p:clrMapOvr>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313" name=""/>
        <p:cNvGrpSpPr/>
        <p:nvPr/>
      </p:nvGrpSpPr>
      <p:grpSpPr>
        <a:xfrm>
          <a:off x="0" y="0"/>
          <a:ext cx="0" cy="0"/>
          <a:chOff x="0" y="0"/>
          <a:chExt cx="0" cy="0"/>
        </a:xfrm>
      </p:grpSpPr>
      <p:sp>
        <p:nvSpPr>
          <p:cNvPr id="1048781" name="Title 1"/>
          <p:cNvSpPr>
            <a:spLocks noGrp="1"/>
          </p:cNvSpPr>
          <p:nvPr>
            <p:ph type="title"/>
          </p:nvPr>
        </p:nvSpPr>
        <p:spPr>
          <a:xfrm>
            <a:off x="457200" y="274638"/>
            <a:ext cx="8229600" cy="182562"/>
          </a:xfrm>
        </p:spPr>
        <p:txBody>
          <a:bodyPr>
            <a:normAutofit fontScale="90000"/>
          </a:bodyPr>
          <a:p>
            <a:endParaRPr dirty="0" lang="en-US"/>
          </a:p>
        </p:txBody>
      </p:sp>
      <p:sp>
        <p:nvSpPr>
          <p:cNvPr id="1048782" name="Content Placeholder 2"/>
          <p:cNvSpPr>
            <a:spLocks noGrp="1"/>
          </p:cNvSpPr>
          <p:nvPr>
            <p:ph sz="quarter" idx="1"/>
          </p:nvPr>
        </p:nvSpPr>
        <p:spPr>
          <a:xfrm>
            <a:off x="457200" y="533400"/>
            <a:ext cx="8229600" cy="5592763"/>
          </a:xfrm>
        </p:spPr>
        <p:txBody>
          <a:bodyPr/>
          <a:p>
            <a:pPr>
              <a:buNone/>
            </a:pPr>
            <a:r>
              <a:rPr b="1" dirty="0" lang="en-US" smtClean="0"/>
              <a:t>NURSING INTERVENTION</a:t>
            </a:r>
          </a:p>
          <a:p>
            <a:pPr indent="-514350" marL="514350">
              <a:buFont typeface="+mj-lt"/>
              <a:buAutoNum type="arabicPeriod"/>
            </a:pPr>
            <a:r>
              <a:rPr dirty="0" lang="en-US" smtClean="0"/>
              <a:t>Promote health programs in school to identify condition early.</a:t>
            </a:r>
          </a:p>
          <a:p>
            <a:pPr indent="-514350" marL="514350">
              <a:buFont typeface="+mj-lt"/>
              <a:buAutoNum type="arabicPeriod"/>
            </a:pPr>
            <a:r>
              <a:rPr dirty="0" lang="en-US" smtClean="0"/>
              <a:t>Assist pt &amp; parents to properly use braces.</a:t>
            </a:r>
          </a:p>
          <a:p>
            <a:pPr indent="-514350" marL="514350">
              <a:buFont typeface="+mj-lt"/>
              <a:buAutoNum type="alphaLcParenR"/>
            </a:pPr>
            <a:r>
              <a:rPr dirty="0" lang="en-US" smtClean="0"/>
              <a:t>Make sure brace is properly fitted &amp; does not </a:t>
            </a:r>
            <a:r>
              <a:rPr dirty="0" lang="en-US" err="1" smtClean="0"/>
              <a:t>inadventently</a:t>
            </a:r>
            <a:r>
              <a:rPr dirty="0" lang="en-US" smtClean="0"/>
              <a:t> rub bony prominences.</a:t>
            </a:r>
          </a:p>
          <a:p>
            <a:pPr indent="-514350" marL="514350">
              <a:buFont typeface="+mj-lt"/>
              <a:buAutoNum type="alphaLcParenR"/>
            </a:pPr>
            <a:r>
              <a:rPr dirty="0" lang="en-US" smtClean="0"/>
              <a:t>May put light T-shirt under brace for comfort.</a:t>
            </a:r>
          </a:p>
          <a:p>
            <a:pPr indent="-514350" marL="514350">
              <a:buFont typeface="+mj-lt"/>
              <a:buAutoNum type="alphaLcParenR"/>
            </a:pPr>
            <a:r>
              <a:rPr dirty="0" lang="en-US" smtClean="0"/>
              <a:t>Initially, the brace is worn 20-23 hrs/day till skeleton mature.</a:t>
            </a:r>
            <a:endParaRPr dirty="0" lang="en-US"/>
          </a:p>
        </p:txBody>
      </p:sp>
    </p:spTree>
  </p:cSld>
  <p:clrMapOvr>
    <a:masterClrMapping/>
  </p:clrMapOvr>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314" name=""/>
        <p:cNvGrpSpPr/>
        <p:nvPr/>
      </p:nvGrpSpPr>
      <p:grpSpPr>
        <a:xfrm>
          <a:off x="0" y="0"/>
          <a:ext cx="0" cy="0"/>
          <a:chOff x="0" y="0"/>
          <a:chExt cx="0" cy="0"/>
        </a:xfrm>
      </p:grpSpPr>
      <p:sp>
        <p:nvSpPr>
          <p:cNvPr id="1048783" name="Title 1"/>
          <p:cNvSpPr>
            <a:spLocks noGrp="1"/>
          </p:cNvSpPr>
          <p:nvPr>
            <p:ph type="title"/>
          </p:nvPr>
        </p:nvSpPr>
        <p:spPr>
          <a:xfrm>
            <a:off x="457200" y="274638"/>
            <a:ext cx="8229600" cy="106362"/>
          </a:xfrm>
        </p:spPr>
        <p:txBody>
          <a:bodyPr>
            <a:normAutofit fontScale="90000"/>
          </a:bodyPr>
          <a:p>
            <a:endParaRPr dirty="0" lang="en-US"/>
          </a:p>
        </p:txBody>
      </p:sp>
      <p:sp>
        <p:nvSpPr>
          <p:cNvPr id="1048784" name="Content Placeholder 2"/>
          <p:cNvSpPr>
            <a:spLocks noGrp="1"/>
          </p:cNvSpPr>
          <p:nvPr>
            <p:ph sz="quarter" idx="1"/>
          </p:nvPr>
        </p:nvSpPr>
        <p:spPr>
          <a:xfrm>
            <a:off x="457200" y="457200"/>
            <a:ext cx="8229600" cy="5668963"/>
          </a:xfrm>
        </p:spPr>
        <p:txBody>
          <a:bodyPr/>
          <a:p>
            <a:pPr>
              <a:buNone/>
            </a:pPr>
            <a:r>
              <a:rPr dirty="0" lang="en-US" smtClean="0"/>
              <a:t>d) Brace is regularly adjusted to promote correction.</a:t>
            </a:r>
          </a:p>
          <a:p>
            <a:pPr>
              <a:buNone/>
            </a:pPr>
            <a:r>
              <a:rPr dirty="0" lang="en-US" smtClean="0"/>
              <a:t>e) If progress is good, child is weaned from the brace during the daytime &amp; wears it only at night.</a:t>
            </a:r>
          </a:p>
          <a:p>
            <a:pPr>
              <a:buNone/>
            </a:pPr>
            <a:r>
              <a:rPr dirty="0" lang="en-US" smtClean="0"/>
              <a:t>f) Supplemental exercises.</a:t>
            </a:r>
          </a:p>
          <a:p>
            <a:pPr>
              <a:buNone/>
            </a:pPr>
            <a:r>
              <a:rPr dirty="0" lang="en-US" smtClean="0"/>
              <a:t>3. Support normal growth &amp; development &amp; to develop a positive self-image.</a:t>
            </a:r>
          </a:p>
          <a:p>
            <a:pPr>
              <a:buNone/>
            </a:pPr>
            <a:r>
              <a:rPr dirty="0" lang="en-US" smtClean="0"/>
              <a:t>a) Encourage peer socialization.</a:t>
            </a:r>
            <a:endParaRPr dirty="0" lang="en-US"/>
          </a:p>
        </p:txBody>
      </p:sp>
    </p:spTree>
  </p:cSld>
  <p:clrMapOvr>
    <a:masterClrMapping/>
  </p:clrMapOvr>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315" name=""/>
        <p:cNvGrpSpPr/>
        <p:nvPr/>
      </p:nvGrpSpPr>
      <p:grpSpPr>
        <a:xfrm>
          <a:off x="0" y="0"/>
          <a:ext cx="0" cy="0"/>
          <a:chOff x="0" y="0"/>
          <a:chExt cx="0" cy="0"/>
        </a:xfrm>
      </p:grpSpPr>
      <p:sp>
        <p:nvSpPr>
          <p:cNvPr id="1048785" name="Title 1"/>
          <p:cNvSpPr>
            <a:spLocks noGrp="1"/>
          </p:cNvSpPr>
          <p:nvPr>
            <p:ph type="title"/>
          </p:nvPr>
        </p:nvSpPr>
        <p:spPr>
          <a:xfrm>
            <a:off x="457200" y="274638"/>
            <a:ext cx="8229600" cy="182562"/>
          </a:xfrm>
        </p:spPr>
        <p:txBody>
          <a:bodyPr>
            <a:normAutofit fontScale="90000"/>
          </a:bodyPr>
          <a:p>
            <a:endParaRPr dirty="0" lang="en-US"/>
          </a:p>
        </p:txBody>
      </p:sp>
      <p:sp>
        <p:nvSpPr>
          <p:cNvPr id="1048786" name="Content Placeholder 2"/>
          <p:cNvSpPr>
            <a:spLocks noGrp="1"/>
          </p:cNvSpPr>
          <p:nvPr>
            <p:ph sz="quarter" idx="1"/>
          </p:nvPr>
        </p:nvSpPr>
        <p:spPr>
          <a:xfrm>
            <a:off x="457200" y="609600"/>
            <a:ext cx="8229600" cy="5516563"/>
          </a:xfrm>
        </p:spPr>
        <p:txBody>
          <a:bodyPr/>
          <a:p>
            <a:pPr>
              <a:buNone/>
            </a:pPr>
            <a:r>
              <a:rPr dirty="0" lang="en-US" smtClean="0"/>
              <a:t>b) Encourage independence </a:t>
            </a:r>
          </a:p>
          <a:p>
            <a:pPr>
              <a:buNone/>
            </a:pPr>
            <a:r>
              <a:rPr dirty="0" lang="en-US" smtClean="0"/>
              <a:t>c) Encourage child to participate in &amp; be independent in scheduling of activities &amp; other aspects of care.</a:t>
            </a:r>
          </a:p>
          <a:p>
            <a:pPr>
              <a:buNone/>
            </a:pPr>
            <a:r>
              <a:rPr dirty="0" lang="en-US" smtClean="0"/>
              <a:t>d) Emphasize positive long-term outcome.</a:t>
            </a:r>
          </a:p>
          <a:p>
            <a:pPr>
              <a:buNone/>
            </a:pPr>
            <a:r>
              <a:rPr dirty="0" lang="en-US" smtClean="0"/>
              <a:t>4. Maintain spinal alignment after surgical correction. (care of pt after </a:t>
            </a:r>
            <a:r>
              <a:rPr dirty="0" lang="en-US" err="1" smtClean="0"/>
              <a:t>laminectomy</a:t>
            </a:r>
            <a:r>
              <a:rPr dirty="0" lang="en-US" smtClean="0"/>
              <a:t> &amp; fusion).</a:t>
            </a:r>
          </a:p>
          <a:p>
            <a:pPr>
              <a:buNone/>
            </a:pPr>
            <a:r>
              <a:rPr dirty="0" lang="en-US" smtClean="0"/>
              <a:t>5. Maintain homeostasis &amp; assess for complications after surgical correction.</a:t>
            </a:r>
            <a:endParaRPr dirty="0" lang="en-US"/>
          </a:p>
        </p:txBody>
      </p:sp>
    </p:spTree>
  </p:cSld>
  <p:clrMapOvr>
    <a:masterClrMapping/>
  </p:clrMapOvr>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316" name=""/>
        <p:cNvGrpSpPr/>
        <p:nvPr/>
      </p:nvGrpSpPr>
      <p:grpSpPr>
        <a:xfrm>
          <a:off x="0" y="0"/>
          <a:ext cx="0" cy="0"/>
          <a:chOff x="0" y="0"/>
          <a:chExt cx="0" cy="0"/>
        </a:xfrm>
      </p:grpSpPr>
      <p:sp>
        <p:nvSpPr>
          <p:cNvPr id="1048787" name="Title 1"/>
          <p:cNvSpPr>
            <a:spLocks noGrp="1"/>
          </p:cNvSpPr>
          <p:nvPr>
            <p:ph type="title"/>
          </p:nvPr>
        </p:nvSpPr>
        <p:spPr/>
        <p:txBody>
          <a:bodyPr/>
          <a:p>
            <a:r>
              <a:rPr dirty="0" lang="en-US" smtClean="0"/>
              <a:t>ANKYLOSING SPONDYLITIS</a:t>
            </a:r>
            <a:endParaRPr dirty="0" lang="en-US"/>
          </a:p>
        </p:txBody>
      </p:sp>
      <p:pic>
        <p:nvPicPr>
          <p:cNvPr id="2097163"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1143000" y="1676400"/>
            <a:ext cx="6781799" cy="4419600"/>
          </a:xfrm>
          <a:prstGeom prst="rect"/>
          <a:noFill/>
          <a:ln w="9525">
            <a:noFill/>
            <a:miter lim="800000"/>
            <a:headEnd/>
            <a:tailEnd/>
          </a:ln>
        </p:spPr>
      </p:pic>
    </p:spTree>
  </p:cSld>
  <p:clrMapOvr>
    <a:masterClrMapping/>
  </p:clrMapOvr>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317" name=""/>
        <p:cNvGrpSpPr/>
        <p:nvPr/>
      </p:nvGrpSpPr>
      <p:grpSpPr>
        <a:xfrm>
          <a:off x="0" y="0"/>
          <a:ext cx="0" cy="0"/>
          <a:chOff x="0" y="0"/>
          <a:chExt cx="0" cy="0"/>
        </a:xfrm>
      </p:grpSpPr>
      <p:sp>
        <p:nvSpPr>
          <p:cNvPr id="1048788" name="Title 1"/>
          <p:cNvSpPr>
            <a:spLocks noGrp="1"/>
          </p:cNvSpPr>
          <p:nvPr>
            <p:ph type="title"/>
          </p:nvPr>
        </p:nvSpPr>
        <p:spPr/>
        <p:txBody>
          <a:bodyPr/>
          <a:p>
            <a:r>
              <a:rPr dirty="0" lang="en-US" smtClean="0"/>
              <a:t>ANKYLOSING SPONDYLITIS</a:t>
            </a:r>
            <a:endParaRPr dirty="0" lang="en-US"/>
          </a:p>
        </p:txBody>
      </p:sp>
      <p:sp>
        <p:nvSpPr>
          <p:cNvPr id="1048789" name="Content Placeholder 2"/>
          <p:cNvSpPr>
            <a:spLocks noGrp="1"/>
          </p:cNvSpPr>
          <p:nvPr>
            <p:ph sz="quarter" idx="1"/>
          </p:nvPr>
        </p:nvSpPr>
        <p:spPr/>
        <p:txBody>
          <a:bodyPr/>
          <a:p>
            <a:pPr>
              <a:buFont typeface="Wingdings" pitchFamily="2" charset="2"/>
              <a:buChar char="Ø"/>
            </a:pPr>
            <a:r>
              <a:rPr dirty="0" lang="en-US" err="1" smtClean="0"/>
              <a:t>Ankylosis</a:t>
            </a:r>
            <a:r>
              <a:rPr dirty="0" lang="en-US" smtClean="0"/>
              <a:t> is fixation or immobility of a joint. </a:t>
            </a:r>
          </a:p>
          <a:p>
            <a:pPr>
              <a:buFont typeface="Wingdings" pitchFamily="2" charset="2"/>
              <a:buChar char="Ø"/>
            </a:pPr>
            <a:r>
              <a:rPr dirty="0" lang="en-US" err="1" smtClean="0"/>
              <a:t>Ankylosing</a:t>
            </a:r>
            <a:r>
              <a:rPr dirty="0" lang="en-US" smtClean="0"/>
              <a:t> </a:t>
            </a:r>
            <a:r>
              <a:rPr dirty="0" lang="en-US" err="1" smtClean="0"/>
              <a:t>spondylitis</a:t>
            </a:r>
            <a:r>
              <a:rPr dirty="0" lang="en-US" smtClean="0"/>
              <a:t> affects the cartilaginous joints of the spine &amp; surrounding tissues. Occasionally, the large synovial joints, such as hips, knees or shoulders, maybe involved.</a:t>
            </a:r>
          </a:p>
          <a:p>
            <a:pPr>
              <a:buFont typeface="Wingdings" pitchFamily="2" charset="2"/>
              <a:buChar char="Ø"/>
            </a:pPr>
            <a:r>
              <a:rPr dirty="0" lang="en-US" smtClean="0"/>
              <a:t>It is usually diagnosed in the second or third decade of life.</a:t>
            </a:r>
          </a:p>
          <a:p>
            <a:pPr>
              <a:buNone/>
            </a:pPr>
            <a:endParaRPr dirty="0" lang="en-US"/>
          </a:p>
        </p:txBody>
      </p:sp>
    </p:spTree>
  </p:cSld>
  <p:clrMapOvr>
    <a:masterClrMapping/>
  </p:clrMapOvr>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318" name=""/>
        <p:cNvGrpSpPr/>
        <p:nvPr/>
      </p:nvGrpSpPr>
      <p:grpSpPr>
        <a:xfrm>
          <a:off x="0" y="0"/>
          <a:ext cx="0" cy="0"/>
          <a:chOff x="0" y="0"/>
          <a:chExt cx="0" cy="0"/>
        </a:xfrm>
      </p:grpSpPr>
      <p:sp>
        <p:nvSpPr>
          <p:cNvPr id="1048790" name="Title 1"/>
          <p:cNvSpPr>
            <a:spLocks noGrp="1"/>
          </p:cNvSpPr>
          <p:nvPr>
            <p:ph type="title"/>
          </p:nvPr>
        </p:nvSpPr>
        <p:spPr/>
        <p:txBody>
          <a:bodyPr/>
          <a:p>
            <a:r>
              <a:rPr dirty="0" lang="en-US" smtClean="0"/>
              <a:t>ANKYLOSING SPONDYLITIS</a:t>
            </a:r>
            <a:endParaRPr dirty="0" lang="en-US"/>
          </a:p>
        </p:txBody>
      </p:sp>
      <p:sp>
        <p:nvSpPr>
          <p:cNvPr id="1048791" name="Content Placeholder 2"/>
          <p:cNvSpPr>
            <a:spLocks noGrp="1"/>
          </p:cNvSpPr>
          <p:nvPr>
            <p:ph sz="quarter" idx="1"/>
          </p:nvPr>
        </p:nvSpPr>
        <p:spPr/>
        <p:txBody>
          <a:bodyPr/>
          <a:p>
            <a:pPr>
              <a:buFont typeface="Wingdings" pitchFamily="2" charset="2"/>
              <a:buChar char="Ø"/>
            </a:pPr>
            <a:r>
              <a:rPr dirty="0" lang="en-US" smtClean="0"/>
              <a:t>The disease is not usually as severe in females as in males, in whom the disease is more prevalent &amp; likely to have significant systemic involvement.</a:t>
            </a:r>
          </a:p>
          <a:p>
            <a:pPr>
              <a:buNone/>
            </a:pPr>
            <a:r>
              <a:rPr b="1" dirty="0" lang="en-US" smtClean="0"/>
              <a:t>CLINICAL MANIFESTATION</a:t>
            </a:r>
          </a:p>
          <a:p>
            <a:pPr indent="-514350" marL="514350">
              <a:buFont typeface="+mj-lt"/>
              <a:buAutoNum type="arabicPeriod"/>
            </a:pPr>
            <a:r>
              <a:rPr dirty="0" lang="en-US" smtClean="0"/>
              <a:t>Low back pain which improves with exercise.</a:t>
            </a:r>
          </a:p>
          <a:p>
            <a:pPr indent="-514350" marL="514350">
              <a:buFont typeface="+mj-lt"/>
              <a:buAutoNum type="arabicPeriod"/>
            </a:pPr>
            <a:r>
              <a:rPr dirty="0" lang="en-US" smtClean="0"/>
              <a:t>Early morning stiffness or stiffness after immobility.</a:t>
            </a:r>
            <a:endParaRPr dirty="0" lang="en-US"/>
          </a:p>
        </p:txBody>
      </p:sp>
    </p:spTree>
  </p:cSld>
  <p:clrMapOvr>
    <a:masterClrMapping/>
  </p:clrMapOvr>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319" name=""/>
        <p:cNvGrpSpPr/>
        <p:nvPr/>
      </p:nvGrpSpPr>
      <p:grpSpPr>
        <a:xfrm>
          <a:off x="0" y="0"/>
          <a:ext cx="0" cy="0"/>
          <a:chOff x="0" y="0"/>
          <a:chExt cx="0" cy="0"/>
        </a:xfrm>
      </p:grpSpPr>
      <p:sp>
        <p:nvSpPr>
          <p:cNvPr id="1048792" name="Title 1"/>
          <p:cNvSpPr>
            <a:spLocks noGrp="1"/>
          </p:cNvSpPr>
          <p:nvPr>
            <p:ph type="title"/>
          </p:nvPr>
        </p:nvSpPr>
        <p:spPr/>
        <p:txBody>
          <a:bodyPr/>
          <a:p>
            <a:r>
              <a:rPr dirty="0" lang="en-US" smtClean="0"/>
              <a:t>ANKYLOSING SPONDYLITIS</a:t>
            </a:r>
            <a:endParaRPr dirty="0" lang="en-US"/>
          </a:p>
        </p:txBody>
      </p:sp>
      <p:sp>
        <p:nvSpPr>
          <p:cNvPr id="1048793" name="Content Placeholder 2"/>
          <p:cNvSpPr>
            <a:spLocks noGrp="1"/>
          </p:cNvSpPr>
          <p:nvPr>
            <p:ph sz="quarter" idx="1"/>
          </p:nvPr>
        </p:nvSpPr>
        <p:spPr/>
        <p:txBody>
          <a:bodyPr/>
          <a:p>
            <a:pPr>
              <a:buNone/>
            </a:pPr>
            <a:r>
              <a:rPr dirty="0" lang="en-US" smtClean="0"/>
              <a:t>3. </a:t>
            </a:r>
            <a:r>
              <a:rPr dirty="0" lang="en-US" err="1" smtClean="0"/>
              <a:t>Enthesitis</a:t>
            </a:r>
            <a:r>
              <a:rPr dirty="0" lang="en-US" smtClean="0"/>
              <a:t> (inflammation at points of insertion of ligaments &amp; tendons) &amp; occurs as heel, plantar or chest pain.</a:t>
            </a:r>
          </a:p>
          <a:p>
            <a:pPr>
              <a:buNone/>
            </a:pPr>
            <a:r>
              <a:rPr b="1" dirty="0" lang="en-US" smtClean="0"/>
              <a:t>DIAGNOSTICS</a:t>
            </a:r>
          </a:p>
          <a:p>
            <a:pPr>
              <a:buNone/>
            </a:pPr>
            <a:r>
              <a:rPr dirty="0" lang="en-US" smtClean="0"/>
              <a:t>Diagnosis is too often delayed by 8-10 yrs because of increased prevalence of back pain in community.</a:t>
            </a:r>
          </a:p>
          <a:p>
            <a:pPr>
              <a:buNone/>
            </a:pPr>
            <a:endParaRPr dirty="0" lang="en-US"/>
          </a:p>
        </p:txBody>
      </p:sp>
    </p:spTree>
  </p:cSld>
  <p:clrMapOvr>
    <a:masterClrMapping/>
  </p:clrMapOvr>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320" name=""/>
        <p:cNvGrpSpPr/>
        <p:nvPr/>
      </p:nvGrpSpPr>
      <p:grpSpPr>
        <a:xfrm>
          <a:off x="0" y="0"/>
          <a:ext cx="0" cy="0"/>
          <a:chOff x="0" y="0"/>
          <a:chExt cx="0" cy="0"/>
        </a:xfrm>
      </p:grpSpPr>
      <p:sp>
        <p:nvSpPr>
          <p:cNvPr id="1048794" name="Title 1"/>
          <p:cNvSpPr>
            <a:spLocks noGrp="1"/>
          </p:cNvSpPr>
          <p:nvPr>
            <p:ph type="title"/>
          </p:nvPr>
        </p:nvSpPr>
        <p:spPr/>
        <p:txBody>
          <a:bodyPr/>
          <a:p>
            <a:r>
              <a:rPr dirty="0" lang="en-US" smtClean="0"/>
              <a:t>ANKYLOSING SPONDYLITIS</a:t>
            </a:r>
            <a:endParaRPr dirty="0" lang="en-US"/>
          </a:p>
        </p:txBody>
      </p:sp>
      <p:sp>
        <p:nvSpPr>
          <p:cNvPr id="1048795" name="Content Placeholder 2"/>
          <p:cNvSpPr>
            <a:spLocks noGrp="1"/>
          </p:cNvSpPr>
          <p:nvPr>
            <p:ph sz="quarter" idx="1"/>
          </p:nvPr>
        </p:nvSpPr>
        <p:spPr/>
        <p:txBody>
          <a:bodyPr>
            <a:normAutofit lnSpcReduction="10000"/>
          </a:bodyPr>
          <a:p>
            <a:pPr indent="-514350" marL="514350">
              <a:buFont typeface="+mj-lt"/>
              <a:buAutoNum type="arabicPeriod"/>
            </a:pPr>
            <a:r>
              <a:rPr dirty="0" lang="en-US" smtClean="0"/>
              <a:t>ESR &amp; CRP not always elevated, radiographs will be normal in early disease.</a:t>
            </a:r>
          </a:p>
          <a:p>
            <a:pPr indent="-514350" marL="514350">
              <a:buFont typeface="+mj-lt"/>
              <a:buAutoNum type="arabicPeriod"/>
            </a:pPr>
            <a:r>
              <a:rPr dirty="0" lang="en-US" smtClean="0"/>
              <a:t>CT-scan: shows erosive changes</a:t>
            </a:r>
          </a:p>
          <a:p>
            <a:pPr indent="-514350" marL="514350">
              <a:buFont typeface="+mj-lt"/>
              <a:buAutoNum type="arabicPeriod"/>
            </a:pPr>
            <a:r>
              <a:rPr dirty="0" lang="en-US" smtClean="0"/>
              <a:t>MRI enhanced: most sensitive technique to detect joint &amp; lumbar-spine inflammation.</a:t>
            </a:r>
          </a:p>
          <a:p>
            <a:pPr indent="-514350" marL="514350">
              <a:buNone/>
            </a:pPr>
            <a:r>
              <a:rPr b="1" dirty="0" lang="en-US" smtClean="0"/>
              <a:t>TREATMENT</a:t>
            </a:r>
          </a:p>
          <a:p>
            <a:pPr indent="-514350" marL="514350">
              <a:buNone/>
            </a:pPr>
            <a:r>
              <a:rPr dirty="0" lang="en-US" smtClean="0"/>
              <a:t>Regular exercise to maintain ROM by physiotherapy.</a:t>
            </a:r>
          </a:p>
          <a:p>
            <a:pPr indent="-514350" marL="514350">
              <a:buNone/>
            </a:pPr>
            <a:r>
              <a:rPr dirty="0" lang="en-US" smtClean="0"/>
              <a:t>Regular follow-up</a:t>
            </a:r>
          </a:p>
          <a:p>
            <a:pPr indent="-514350" marL="514350">
              <a:buNone/>
            </a:pPr>
            <a:r>
              <a:rPr dirty="0" lang="en-US" smtClean="0"/>
              <a:t>Increased doses of NSAIDS.</a:t>
            </a:r>
            <a:endParaRPr dirty="0" lang="en-US"/>
          </a:p>
        </p:txBody>
      </p:sp>
    </p:spTree>
  </p:cSld>
  <p:clrMapOvr>
    <a:masterClrMapping/>
  </p:clrMapOvr>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321" name=""/>
        <p:cNvGrpSpPr/>
        <p:nvPr/>
      </p:nvGrpSpPr>
      <p:grpSpPr>
        <a:xfrm>
          <a:off x="0" y="0"/>
          <a:ext cx="0" cy="0"/>
          <a:chOff x="0" y="0"/>
          <a:chExt cx="0" cy="0"/>
        </a:xfrm>
      </p:grpSpPr>
      <p:sp>
        <p:nvSpPr>
          <p:cNvPr id="1048796" name="Title 1"/>
          <p:cNvSpPr>
            <a:spLocks noGrp="1"/>
          </p:cNvSpPr>
          <p:nvPr>
            <p:ph type="title"/>
          </p:nvPr>
        </p:nvSpPr>
        <p:spPr/>
        <p:txBody>
          <a:bodyPr/>
          <a:p>
            <a:r>
              <a:rPr dirty="0" lang="en-US" smtClean="0"/>
              <a:t>OSTEOMYELITIS</a:t>
            </a:r>
            <a:endParaRPr dirty="0" lang="en-US"/>
          </a:p>
        </p:txBody>
      </p:sp>
      <p:pic>
        <p:nvPicPr>
          <p:cNvPr id="2097164" name="Content Placeholder 3" descr="http://www.sciencephoto.com/image/260055/350wm/M2300010-Osteomyelitis_ulcer-SPL.jpg">
            <a:hlinkClick r:id="rId1" tgtFrame="_blank"/>
          </p:cNvPr>
          <p:cNvPicPr>
            <a:picLocks noGrp="1"/>
          </p:cNvPicPr>
          <p:nvPr>
            <p:ph sz="quarter" idx="1"/>
          </p:nvPr>
        </p:nvPicPr>
        <p:blipFill>
          <a:blip xmlns:r="http://schemas.openxmlformats.org/officeDocument/2006/relationships" r:embed="rId2" cstate="print"/>
          <a:srcRect/>
          <a:stretch>
            <a:fillRect/>
          </a:stretch>
        </p:blipFill>
        <p:spPr bwMode="auto">
          <a:xfrm>
            <a:off x="1905000" y="1640680"/>
            <a:ext cx="5181600" cy="4760119"/>
          </a:xfrm>
          <a:prstGeom prst="rect"/>
          <a:noFill/>
          <a:ln w="9525">
            <a:noFill/>
            <a:miter lim="800000"/>
            <a:headEnd/>
            <a:tailEnd/>
          </a:ln>
        </p:spPr>
      </p:pic>
    </p:spTree>
  </p:cSld>
  <p:clrMapOvr>
    <a:masterClrMapping/>
  </p:clrMapOvr>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322" name=""/>
        <p:cNvGrpSpPr/>
        <p:nvPr/>
      </p:nvGrpSpPr>
      <p:grpSpPr>
        <a:xfrm>
          <a:off x="0" y="0"/>
          <a:ext cx="0" cy="0"/>
          <a:chOff x="0" y="0"/>
          <a:chExt cx="0" cy="0"/>
        </a:xfrm>
      </p:grpSpPr>
      <p:sp>
        <p:nvSpPr>
          <p:cNvPr id="1048797" name="Title 1"/>
          <p:cNvSpPr>
            <a:spLocks noGrp="1"/>
          </p:cNvSpPr>
          <p:nvPr>
            <p:ph type="title"/>
          </p:nvPr>
        </p:nvSpPr>
        <p:spPr/>
        <p:txBody>
          <a:bodyPr/>
          <a:p>
            <a:r>
              <a:rPr dirty="0" lang="en-US" smtClean="0"/>
              <a:t>OSTEOMYELITIS</a:t>
            </a:r>
            <a:endParaRPr dirty="0" lang="en-US"/>
          </a:p>
        </p:txBody>
      </p:sp>
      <p:sp>
        <p:nvSpPr>
          <p:cNvPr id="1048798" name="Content Placeholder 2"/>
          <p:cNvSpPr>
            <a:spLocks noGrp="1"/>
          </p:cNvSpPr>
          <p:nvPr>
            <p:ph sz="quarter" idx="1"/>
          </p:nvPr>
        </p:nvSpPr>
        <p:spPr/>
        <p:txBody>
          <a:bodyPr/>
          <a:p>
            <a:pPr>
              <a:buFont typeface="Wingdings" pitchFamily="2" charset="2"/>
              <a:buChar char="Ø"/>
            </a:pPr>
            <a:r>
              <a:rPr dirty="0" lang="en-US" smtClean="0"/>
              <a:t>An infection of the bone, bone marrow &amp; surrounding soft tissue.</a:t>
            </a:r>
          </a:p>
          <a:p>
            <a:pPr>
              <a:buFont typeface="Wingdings" pitchFamily="2" charset="2"/>
              <a:buChar char="Ø"/>
            </a:pPr>
            <a:r>
              <a:rPr dirty="0" lang="en-US" smtClean="0"/>
              <a:t>Causation organisms are staph. </a:t>
            </a:r>
            <a:r>
              <a:rPr dirty="0" lang="en-US" err="1" smtClean="0"/>
              <a:t>Aureus</a:t>
            </a:r>
            <a:r>
              <a:rPr dirty="0" lang="en-US" smtClean="0"/>
              <a:t> (70-80 %), Proteus, </a:t>
            </a:r>
            <a:r>
              <a:rPr dirty="0" lang="en-US" err="1" smtClean="0"/>
              <a:t>psuedomonas</a:t>
            </a:r>
            <a:r>
              <a:rPr dirty="0" lang="en-US" smtClean="0"/>
              <a:t> </a:t>
            </a:r>
            <a:r>
              <a:rPr lang="en-US" smtClean="0"/>
              <a:t>&amp; E. </a:t>
            </a:r>
            <a:r>
              <a:rPr dirty="0" lang="en-US" smtClean="0"/>
              <a:t>Coli.</a:t>
            </a:r>
            <a:endParaRPr dirty="0" lang="en-US"/>
          </a:p>
        </p:txBody>
      </p:sp>
    </p:spTree>
  </p:cSld>
  <p:clrMapOvr>
    <a:masterClrMapping/>
  </p:clrMapOvr>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323" name=""/>
        <p:cNvGrpSpPr/>
        <p:nvPr/>
      </p:nvGrpSpPr>
      <p:grpSpPr>
        <a:xfrm>
          <a:off x="0" y="0"/>
          <a:ext cx="0" cy="0"/>
          <a:chOff x="0" y="0"/>
          <a:chExt cx="0" cy="0"/>
        </a:xfrm>
      </p:grpSpPr>
      <p:sp>
        <p:nvSpPr>
          <p:cNvPr id="1048799" name="Title 1"/>
          <p:cNvSpPr>
            <a:spLocks noGrp="1"/>
          </p:cNvSpPr>
          <p:nvPr>
            <p:ph type="title"/>
          </p:nvPr>
        </p:nvSpPr>
        <p:spPr/>
        <p:txBody>
          <a:bodyPr/>
          <a:p>
            <a:r>
              <a:rPr dirty="0" lang="en-US" smtClean="0"/>
              <a:t>OSTEOMYELITIS</a:t>
            </a:r>
            <a:endParaRPr dirty="0" lang="en-US"/>
          </a:p>
        </p:txBody>
      </p:sp>
      <p:sp>
        <p:nvSpPr>
          <p:cNvPr id="1048800" name="Content Placeholder 2"/>
          <p:cNvSpPr>
            <a:spLocks noGrp="1"/>
          </p:cNvSpPr>
          <p:nvPr>
            <p:ph sz="quarter" idx="1"/>
          </p:nvPr>
        </p:nvSpPr>
        <p:spPr/>
        <p:txBody>
          <a:bodyPr/>
          <a:p>
            <a:pPr>
              <a:buNone/>
            </a:pPr>
            <a:r>
              <a:rPr b="1" dirty="0" lang="en-US" smtClean="0"/>
              <a:t>RISK FACTORS.</a:t>
            </a:r>
          </a:p>
          <a:p>
            <a:pPr indent="-514350" marL="514350">
              <a:buFont typeface="+mj-lt"/>
              <a:buAutoNum type="arabicPeriod"/>
            </a:pPr>
            <a:r>
              <a:rPr dirty="0" lang="en-US" smtClean="0"/>
              <a:t>Indirect entry of organism</a:t>
            </a:r>
          </a:p>
          <a:p>
            <a:pPr indent="-514350" marL="514350">
              <a:buFont typeface="+mj-lt"/>
              <a:buAutoNum type="alphaLcParenR"/>
            </a:pPr>
            <a:r>
              <a:rPr dirty="0" lang="en-US" err="1" smtClean="0"/>
              <a:t>Hematogenic</a:t>
            </a:r>
            <a:endParaRPr dirty="0" lang="en-US" smtClean="0"/>
          </a:p>
          <a:p>
            <a:pPr indent="-514350" marL="514350">
              <a:buFont typeface="+mj-lt"/>
              <a:buAutoNum type="alphaLcParenR"/>
            </a:pPr>
            <a:r>
              <a:rPr dirty="0" lang="en-US" smtClean="0"/>
              <a:t>Injury &amp; infection of adjacent soft tissue.</a:t>
            </a:r>
          </a:p>
          <a:p>
            <a:pPr indent="-514350" marL="514350">
              <a:buAutoNum type="arabicPeriod" startAt="2"/>
            </a:pPr>
            <a:r>
              <a:rPr dirty="0" lang="en-US" smtClean="0"/>
              <a:t>Direct injury to bone:</a:t>
            </a:r>
          </a:p>
          <a:p>
            <a:pPr indent="-514350" marL="514350">
              <a:buFont typeface="+mj-lt"/>
              <a:buAutoNum type="alphaLcParenR"/>
            </a:pPr>
            <a:r>
              <a:rPr dirty="0" lang="en-US" smtClean="0"/>
              <a:t>Trauma </a:t>
            </a:r>
          </a:p>
          <a:p>
            <a:pPr indent="-514350" marL="514350">
              <a:buFont typeface="+mj-lt"/>
              <a:buAutoNum type="alphaLcParenR"/>
            </a:pPr>
            <a:r>
              <a:rPr dirty="0" lang="en-US" smtClean="0"/>
              <a:t>Surgical procedures.</a:t>
            </a:r>
            <a:endParaRPr dirty="0" lang="en-US"/>
          </a:p>
        </p:txBody>
      </p:sp>
    </p:spTree>
  </p:cSld>
  <p:clrMapOvr>
    <a:masterClrMapping/>
  </p:clrMapOvr>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324" name=""/>
        <p:cNvGrpSpPr/>
        <p:nvPr/>
      </p:nvGrpSpPr>
      <p:grpSpPr>
        <a:xfrm>
          <a:off x="0" y="0"/>
          <a:ext cx="0" cy="0"/>
          <a:chOff x="0" y="0"/>
          <a:chExt cx="0" cy="0"/>
        </a:xfrm>
      </p:grpSpPr>
      <p:sp>
        <p:nvSpPr>
          <p:cNvPr id="1048801" name="Title 1"/>
          <p:cNvSpPr>
            <a:spLocks noGrp="1"/>
          </p:cNvSpPr>
          <p:nvPr>
            <p:ph type="title"/>
          </p:nvPr>
        </p:nvSpPr>
        <p:spPr/>
        <p:txBody>
          <a:bodyPr/>
          <a:p>
            <a:r>
              <a:rPr dirty="0" lang="en-US" smtClean="0"/>
              <a:t>OSTEOMYELITIS</a:t>
            </a:r>
            <a:endParaRPr dirty="0" lang="en-US"/>
          </a:p>
        </p:txBody>
      </p:sp>
      <p:sp>
        <p:nvSpPr>
          <p:cNvPr id="1048802" name="Content Placeholder 2"/>
          <p:cNvSpPr>
            <a:spLocks noGrp="1"/>
          </p:cNvSpPr>
          <p:nvPr>
            <p:ph sz="quarter" idx="1"/>
          </p:nvPr>
        </p:nvSpPr>
        <p:spPr/>
        <p:txBody>
          <a:bodyPr/>
          <a:p>
            <a:pPr>
              <a:buNone/>
            </a:pPr>
            <a:r>
              <a:rPr b="1" dirty="0" lang="en-US" smtClean="0"/>
              <a:t>PATHOPHYSIOLOGY</a:t>
            </a:r>
          </a:p>
          <a:p>
            <a:pPr>
              <a:buNone/>
            </a:pPr>
            <a:r>
              <a:rPr dirty="0" lang="en-US" smtClean="0"/>
              <a:t>Inflammatory response occurs initially, with increased </a:t>
            </a:r>
            <a:r>
              <a:rPr dirty="0" lang="en-US" err="1" smtClean="0"/>
              <a:t>vascularization</a:t>
            </a:r>
            <a:r>
              <a:rPr dirty="0" lang="en-US" smtClean="0"/>
              <a:t> &amp; edema. After 2 or 3 days, thrombosis of the blood vessels occurs resulting in ischemia with bone necrosis. The infection extends into the medullary cavity &amp; under the </a:t>
            </a:r>
            <a:r>
              <a:rPr dirty="0" lang="en-US" err="1" smtClean="0"/>
              <a:t>periosteum</a:t>
            </a:r>
            <a:r>
              <a:rPr dirty="0" lang="en-US" smtClean="0"/>
              <a:t> &amp; may spread into adjacent soft tissues &amp; joints. Without prompt</a:t>
            </a:r>
            <a:endParaRPr dirty="0" lang="en-US"/>
          </a:p>
        </p:txBody>
      </p:sp>
    </p:spTree>
  </p:cSld>
  <p:clrMapOvr>
    <a:masterClrMapping/>
  </p:clrMapOvr>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325" name=""/>
        <p:cNvGrpSpPr/>
        <p:nvPr/>
      </p:nvGrpSpPr>
      <p:grpSpPr>
        <a:xfrm>
          <a:off x="0" y="0"/>
          <a:ext cx="0" cy="0"/>
          <a:chOff x="0" y="0"/>
          <a:chExt cx="0" cy="0"/>
        </a:xfrm>
      </p:grpSpPr>
      <p:sp>
        <p:nvSpPr>
          <p:cNvPr id="1048803" name="Title 1"/>
          <p:cNvSpPr>
            <a:spLocks noGrp="1"/>
          </p:cNvSpPr>
          <p:nvPr>
            <p:ph type="title"/>
          </p:nvPr>
        </p:nvSpPr>
        <p:spPr/>
        <p:txBody>
          <a:bodyPr/>
          <a:p>
            <a:r>
              <a:rPr dirty="0" lang="en-US" smtClean="0"/>
              <a:t>OSTEOMYELITIS</a:t>
            </a:r>
            <a:endParaRPr dirty="0" lang="en-US"/>
          </a:p>
        </p:txBody>
      </p:sp>
      <p:sp>
        <p:nvSpPr>
          <p:cNvPr id="1048804" name="Content Placeholder 2"/>
          <p:cNvSpPr>
            <a:spLocks noGrp="1"/>
          </p:cNvSpPr>
          <p:nvPr>
            <p:ph sz="quarter" idx="1"/>
          </p:nvPr>
        </p:nvSpPr>
        <p:spPr/>
        <p:txBody>
          <a:bodyPr/>
          <a:p>
            <a:pPr>
              <a:buNone/>
            </a:pPr>
            <a:r>
              <a:rPr dirty="0" lang="en-US" smtClean="0"/>
              <a:t>   treatment bone abscesses form which contains dead bone tissue (</a:t>
            </a:r>
            <a:r>
              <a:rPr b="1" dirty="0" lang="en-US" err="1" smtClean="0"/>
              <a:t>sequestrum</a:t>
            </a:r>
            <a:r>
              <a:rPr dirty="0" lang="en-US" smtClean="0"/>
              <a:t>) that does not easily </a:t>
            </a:r>
            <a:r>
              <a:rPr dirty="0" lang="en-US" err="1" smtClean="0"/>
              <a:t>liquify</a:t>
            </a:r>
            <a:r>
              <a:rPr dirty="0" lang="en-US" smtClean="0"/>
              <a:t> &amp; drain. New bone growth (</a:t>
            </a:r>
            <a:r>
              <a:rPr b="1" dirty="0" lang="en-US" err="1" smtClean="0"/>
              <a:t>involucrum</a:t>
            </a:r>
            <a:r>
              <a:rPr dirty="0" lang="en-US" smtClean="0"/>
              <a:t>) forms &amp; surrounds the </a:t>
            </a:r>
            <a:r>
              <a:rPr dirty="0" lang="en-US" err="1" smtClean="0"/>
              <a:t>sequestrum</a:t>
            </a:r>
            <a:r>
              <a:rPr dirty="0" lang="en-US" smtClean="0"/>
              <a:t>. Although healing appears to take place, </a:t>
            </a:r>
            <a:r>
              <a:rPr dirty="0" lang="en-US" err="1" smtClean="0"/>
              <a:t>achronically</a:t>
            </a:r>
            <a:r>
              <a:rPr dirty="0" lang="en-US" smtClean="0"/>
              <a:t> infected </a:t>
            </a:r>
            <a:r>
              <a:rPr dirty="0" lang="en-US" err="1" smtClean="0"/>
              <a:t>sequestrum</a:t>
            </a:r>
            <a:r>
              <a:rPr dirty="0" lang="en-US" smtClean="0"/>
              <a:t> remains &amp; produces recurring abscesses throughout the </a:t>
            </a:r>
            <a:r>
              <a:rPr dirty="0" lang="en-US" err="1" smtClean="0"/>
              <a:t>the</a:t>
            </a:r>
            <a:r>
              <a:rPr dirty="0" lang="en-US" smtClean="0"/>
              <a:t> pt’s life. This is referred to as chronic </a:t>
            </a:r>
            <a:r>
              <a:rPr dirty="0" lang="en-US" err="1" smtClean="0"/>
              <a:t>osteomyelitis</a:t>
            </a:r>
            <a:r>
              <a:rPr dirty="0" lang="en-US" smtClean="0"/>
              <a:t>. </a:t>
            </a:r>
            <a:endParaRPr dirty="0" lang="en-US"/>
          </a:p>
        </p:txBody>
      </p:sp>
    </p:spTree>
  </p:cSld>
  <p:clrMapOvr>
    <a:masterClrMapping/>
  </p:clrMapOvr>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326" name=""/>
        <p:cNvGrpSpPr/>
        <p:nvPr/>
      </p:nvGrpSpPr>
      <p:grpSpPr>
        <a:xfrm>
          <a:off x="0" y="0"/>
          <a:ext cx="0" cy="0"/>
          <a:chOff x="0" y="0"/>
          <a:chExt cx="0" cy="0"/>
        </a:xfrm>
      </p:grpSpPr>
      <p:sp>
        <p:nvSpPr>
          <p:cNvPr id="1048805" name="Title 1"/>
          <p:cNvSpPr>
            <a:spLocks noGrp="1"/>
          </p:cNvSpPr>
          <p:nvPr>
            <p:ph type="title"/>
          </p:nvPr>
        </p:nvSpPr>
        <p:spPr/>
        <p:txBody>
          <a:bodyPr/>
          <a:p>
            <a:r>
              <a:rPr dirty="0" lang="en-US" smtClean="0"/>
              <a:t>OSTEOMYELITIS</a:t>
            </a:r>
            <a:endParaRPr dirty="0" lang="en-US"/>
          </a:p>
        </p:txBody>
      </p:sp>
      <p:sp>
        <p:nvSpPr>
          <p:cNvPr id="1048806" name="Content Placeholder 2"/>
          <p:cNvSpPr>
            <a:spLocks noGrp="1"/>
          </p:cNvSpPr>
          <p:nvPr>
            <p:ph sz="quarter" idx="1"/>
          </p:nvPr>
        </p:nvSpPr>
        <p:spPr/>
        <p:txBody>
          <a:bodyPr/>
          <a:p>
            <a:pPr>
              <a:buNone/>
            </a:pPr>
            <a:r>
              <a:rPr b="1" dirty="0" lang="en-US" smtClean="0"/>
              <a:t>CLASSIFICATION</a:t>
            </a:r>
            <a:endParaRPr dirty="0" lang="en-US" smtClean="0"/>
          </a:p>
          <a:p>
            <a:pPr>
              <a:buNone/>
            </a:pPr>
            <a:r>
              <a:rPr b="1" dirty="0" i="1" lang="en-US" smtClean="0"/>
              <a:t>Acute </a:t>
            </a:r>
            <a:r>
              <a:rPr b="1" dirty="0" i="1" lang="en-US" err="1" smtClean="0"/>
              <a:t>osteomyelitis</a:t>
            </a:r>
            <a:r>
              <a:rPr b="1" dirty="0" i="1" lang="en-US" smtClean="0"/>
              <a:t>:</a:t>
            </a:r>
            <a:r>
              <a:rPr dirty="0" lang="en-US" smtClean="0"/>
              <a:t> sudden onset, may heal in 2 to 3 weeks or progress to chronic status.</a:t>
            </a:r>
          </a:p>
          <a:p>
            <a:pPr>
              <a:buNone/>
            </a:pPr>
            <a:r>
              <a:rPr b="1" dirty="0" i="1" lang="en-US" smtClean="0"/>
              <a:t>Chronic </a:t>
            </a:r>
            <a:r>
              <a:rPr b="1" dirty="0" i="1" lang="en-US" err="1" smtClean="0"/>
              <a:t>osteomyelitis</a:t>
            </a:r>
            <a:r>
              <a:rPr b="1" dirty="0" i="1" lang="en-US" smtClean="0"/>
              <a:t>: </a:t>
            </a:r>
            <a:r>
              <a:rPr dirty="0" lang="en-US" smtClean="0"/>
              <a:t>a continuous, persistent problem or exacerbation of previous problem.</a:t>
            </a:r>
            <a:endParaRPr b="1" dirty="0" i="1" lang="en-US"/>
          </a:p>
        </p:txBody>
      </p:sp>
    </p:spTree>
  </p:cSld>
  <p:clrMapOvr>
    <a:masterClrMapping/>
  </p:clrMapOvr>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327" name=""/>
        <p:cNvGrpSpPr/>
        <p:nvPr/>
      </p:nvGrpSpPr>
      <p:grpSpPr>
        <a:xfrm>
          <a:off x="0" y="0"/>
          <a:ext cx="0" cy="0"/>
          <a:chOff x="0" y="0"/>
          <a:chExt cx="0" cy="0"/>
        </a:xfrm>
      </p:grpSpPr>
      <p:sp>
        <p:nvSpPr>
          <p:cNvPr id="1048807" name="Title 1"/>
          <p:cNvSpPr>
            <a:spLocks noGrp="1"/>
          </p:cNvSpPr>
          <p:nvPr>
            <p:ph type="title"/>
          </p:nvPr>
        </p:nvSpPr>
        <p:spPr/>
        <p:txBody>
          <a:bodyPr/>
          <a:p>
            <a:r>
              <a:rPr dirty="0" lang="en-US" smtClean="0"/>
              <a:t>OSTEOMYELITIS</a:t>
            </a:r>
            <a:endParaRPr dirty="0" lang="en-US"/>
          </a:p>
        </p:txBody>
      </p:sp>
      <p:sp>
        <p:nvSpPr>
          <p:cNvPr id="1048808" name="Content Placeholder 2"/>
          <p:cNvSpPr>
            <a:spLocks noGrp="1"/>
          </p:cNvSpPr>
          <p:nvPr>
            <p:ph sz="quarter" idx="1"/>
          </p:nvPr>
        </p:nvSpPr>
        <p:spPr/>
        <p:txBody>
          <a:bodyPr>
            <a:normAutofit/>
          </a:bodyPr>
          <a:p>
            <a:pPr>
              <a:buNone/>
            </a:pPr>
            <a:r>
              <a:rPr b="1" dirty="0" lang="en-US" smtClean="0"/>
              <a:t>CLINICAL MANIFESTATION</a:t>
            </a:r>
          </a:p>
          <a:p>
            <a:pPr indent="-514350" marL="514350">
              <a:buAutoNum type="arabicPeriod"/>
            </a:pPr>
            <a:r>
              <a:rPr dirty="0" lang="en-US" smtClean="0"/>
              <a:t>Acute </a:t>
            </a:r>
          </a:p>
          <a:p>
            <a:pPr indent="-514350" marL="514350">
              <a:buFont typeface="+mj-lt"/>
              <a:buAutoNum type="alphaLcParenR"/>
            </a:pPr>
            <a:r>
              <a:rPr dirty="0" lang="en-US" smtClean="0"/>
              <a:t>Tenderness, swelling &amp; warmth in affected area.</a:t>
            </a:r>
          </a:p>
          <a:p>
            <a:pPr indent="-514350" marL="514350">
              <a:buFont typeface="+mj-lt"/>
              <a:buAutoNum type="alphaLcParenR"/>
            </a:pPr>
            <a:r>
              <a:rPr dirty="0" lang="en-US" smtClean="0"/>
              <a:t>Drainage from infected site.</a:t>
            </a:r>
          </a:p>
          <a:p>
            <a:pPr indent="-514350" marL="514350">
              <a:buFont typeface="+mj-lt"/>
              <a:buAutoNum type="alphaLcParenR"/>
            </a:pPr>
            <a:r>
              <a:rPr dirty="0" lang="en-US" smtClean="0"/>
              <a:t>Fever, chills</a:t>
            </a:r>
          </a:p>
          <a:p>
            <a:pPr indent="-514350" marL="514350">
              <a:buFont typeface="+mj-lt"/>
              <a:buAutoNum type="alphaLcParenR"/>
            </a:pPr>
            <a:r>
              <a:rPr dirty="0" lang="en-US" smtClean="0"/>
              <a:t>Constant pain in affected area.</a:t>
            </a:r>
          </a:p>
          <a:p>
            <a:pPr indent="-514350" marL="514350">
              <a:buFont typeface="+mj-lt"/>
              <a:buAutoNum type="alphaLcParenR"/>
            </a:pPr>
            <a:r>
              <a:rPr dirty="0" lang="en-US" smtClean="0"/>
              <a:t>Circulatory impairment</a:t>
            </a:r>
            <a:endParaRPr dirty="0" lang="en-US"/>
          </a:p>
        </p:txBody>
      </p:sp>
    </p:spTree>
  </p:cSld>
  <p:clrMapOvr>
    <a:masterClrMapping/>
  </p:clrMapOvr>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328" name=""/>
        <p:cNvGrpSpPr/>
        <p:nvPr/>
      </p:nvGrpSpPr>
      <p:grpSpPr>
        <a:xfrm>
          <a:off x="0" y="0"/>
          <a:ext cx="0" cy="0"/>
          <a:chOff x="0" y="0"/>
          <a:chExt cx="0" cy="0"/>
        </a:xfrm>
      </p:grpSpPr>
      <p:sp>
        <p:nvSpPr>
          <p:cNvPr id="1048809" name="Title 1"/>
          <p:cNvSpPr>
            <a:spLocks noGrp="1"/>
          </p:cNvSpPr>
          <p:nvPr>
            <p:ph type="title"/>
          </p:nvPr>
        </p:nvSpPr>
        <p:spPr/>
        <p:txBody>
          <a:bodyPr/>
          <a:p>
            <a:r>
              <a:rPr dirty="0" lang="en-US" smtClean="0"/>
              <a:t>OSTEOMYELITIS</a:t>
            </a:r>
            <a:endParaRPr dirty="0" lang="en-US"/>
          </a:p>
        </p:txBody>
      </p:sp>
      <p:sp>
        <p:nvSpPr>
          <p:cNvPr id="1048810" name="Content Placeholder 2"/>
          <p:cNvSpPr>
            <a:spLocks noGrp="1"/>
          </p:cNvSpPr>
          <p:nvPr>
            <p:ph sz="quarter" idx="1"/>
          </p:nvPr>
        </p:nvSpPr>
        <p:spPr/>
        <p:txBody>
          <a:bodyPr/>
          <a:p>
            <a:pPr indent="-514350" marL="514350">
              <a:buAutoNum type="arabicPeriod" startAt="2"/>
            </a:pPr>
            <a:r>
              <a:rPr dirty="0" lang="en-US" smtClean="0"/>
              <a:t>Chronic </a:t>
            </a:r>
          </a:p>
          <a:p>
            <a:pPr indent="-514350" marL="514350">
              <a:buFont typeface="+mj-lt"/>
              <a:buAutoNum type="alphaLcParenR"/>
            </a:pPr>
            <a:r>
              <a:rPr dirty="0" lang="en-US" smtClean="0"/>
              <a:t>Drainage from wound or sinus tract</a:t>
            </a:r>
          </a:p>
          <a:p>
            <a:pPr indent="-514350" marL="514350">
              <a:buFont typeface="+mj-lt"/>
              <a:buAutoNum type="alphaLcParenR"/>
            </a:pPr>
            <a:r>
              <a:rPr dirty="0" lang="en-US" smtClean="0"/>
              <a:t>Recurrent episodes of bone pain </a:t>
            </a:r>
          </a:p>
          <a:p>
            <a:pPr indent="-514350" marL="514350">
              <a:buFont typeface="+mj-lt"/>
              <a:buAutoNum type="alphaLcParenR"/>
            </a:pPr>
            <a:r>
              <a:rPr dirty="0" lang="en-US" smtClean="0"/>
              <a:t>Low grade fever</a:t>
            </a:r>
          </a:p>
          <a:p>
            <a:pPr indent="-514350" marL="514350">
              <a:buFont typeface="+mj-lt"/>
              <a:buAutoNum type="alphaLcParenR"/>
            </a:pPr>
            <a:r>
              <a:rPr dirty="0" lang="en-US" smtClean="0"/>
              <a:t>Remission &amp; exacerbation of problem.</a:t>
            </a:r>
            <a:endParaRPr dirty="0" lang="en-US"/>
          </a:p>
        </p:txBody>
      </p:sp>
    </p:spTree>
  </p:cSld>
  <p:clrMapOvr>
    <a:masterClrMapping/>
  </p:clrMapOvr>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329" name=""/>
        <p:cNvGrpSpPr/>
        <p:nvPr/>
      </p:nvGrpSpPr>
      <p:grpSpPr>
        <a:xfrm>
          <a:off x="0" y="0"/>
          <a:ext cx="0" cy="0"/>
          <a:chOff x="0" y="0"/>
          <a:chExt cx="0" cy="0"/>
        </a:xfrm>
      </p:grpSpPr>
      <p:sp>
        <p:nvSpPr>
          <p:cNvPr id="1048811" name="Title 1"/>
          <p:cNvSpPr>
            <a:spLocks noGrp="1"/>
          </p:cNvSpPr>
          <p:nvPr>
            <p:ph type="title"/>
          </p:nvPr>
        </p:nvSpPr>
        <p:spPr/>
        <p:txBody>
          <a:bodyPr/>
          <a:p>
            <a:r>
              <a:rPr dirty="0" lang="en-US" smtClean="0"/>
              <a:t>OSTEOMYELITIS</a:t>
            </a:r>
            <a:endParaRPr dirty="0" lang="en-US"/>
          </a:p>
        </p:txBody>
      </p:sp>
      <p:sp>
        <p:nvSpPr>
          <p:cNvPr id="1048812" name="Content Placeholder 2"/>
          <p:cNvSpPr>
            <a:spLocks noGrp="1"/>
          </p:cNvSpPr>
          <p:nvPr>
            <p:ph sz="quarter" idx="1"/>
          </p:nvPr>
        </p:nvSpPr>
        <p:spPr/>
        <p:txBody>
          <a:bodyPr/>
          <a:p>
            <a:pPr>
              <a:buNone/>
            </a:pPr>
            <a:r>
              <a:rPr b="1" dirty="0" lang="en-US" smtClean="0"/>
              <a:t>DIAGNOSTICS</a:t>
            </a:r>
            <a:endParaRPr dirty="0" lang="en-US" smtClean="0"/>
          </a:p>
          <a:p>
            <a:pPr indent="-514350" marL="514350">
              <a:buFont typeface="+mj-lt"/>
              <a:buAutoNum type="arabicPeriod"/>
            </a:pPr>
            <a:r>
              <a:rPr dirty="0" lang="en-US" smtClean="0"/>
              <a:t>Wound culture, blood culture to identify appropriate antibiotic therapy.</a:t>
            </a:r>
          </a:p>
          <a:p>
            <a:pPr indent="-514350" marL="514350">
              <a:buFont typeface="+mj-lt"/>
              <a:buAutoNum type="arabicPeriod"/>
            </a:pPr>
            <a:r>
              <a:rPr dirty="0" lang="en-US" smtClean="0"/>
              <a:t>Radionuclide bone scan , MRI for early definitive diagnosis.</a:t>
            </a:r>
          </a:p>
          <a:p>
            <a:pPr indent="-514350" marL="514350">
              <a:buFont typeface="+mj-lt"/>
              <a:buAutoNum type="arabicPeriod"/>
            </a:pPr>
            <a:r>
              <a:rPr dirty="0" lang="en-US" smtClean="0"/>
              <a:t>X-ray plate only shows soft tissue swelling till after 2 weeks.</a:t>
            </a:r>
          </a:p>
          <a:p>
            <a:pPr indent="-514350" marL="514350">
              <a:buFont typeface="+mj-lt"/>
              <a:buAutoNum type="arabicPeriod"/>
            </a:pPr>
            <a:r>
              <a:rPr dirty="0" lang="en-US" smtClean="0"/>
              <a:t>Bone or soft tissue biopsy.</a:t>
            </a:r>
            <a:endParaRPr dirty="0" lang="en-US"/>
          </a:p>
        </p:txBody>
      </p:sp>
    </p:spTree>
  </p:cSld>
  <p:clrMapOvr>
    <a:masterClrMapping/>
  </p:clrMapOvr>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330" name=""/>
        <p:cNvGrpSpPr/>
        <p:nvPr/>
      </p:nvGrpSpPr>
      <p:grpSpPr>
        <a:xfrm>
          <a:off x="0" y="0"/>
          <a:ext cx="0" cy="0"/>
          <a:chOff x="0" y="0"/>
          <a:chExt cx="0" cy="0"/>
        </a:xfrm>
      </p:grpSpPr>
      <p:sp>
        <p:nvSpPr>
          <p:cNvPr id="1048813" name="Title 1"/>
          <p:cNvSpPr>
            <a:spLocks noGrp="1"/>
          </p:cNvSpPr>
          <p:nvPr>
            <p:ph type="title"/>
          </p:nvPr>
        </p:nvSpPr>
        <p:spPr/>
        <p:txBody>
          <a:bodyPr/>
          <a:p>
            <a:r>
              <a:rPr dirty="0" lang="en-US" smtClean="0"/>
              <a:t>OSTEOMYELITIS</a:t>
            </a:r>
            <a:endParaRPr dirty="0" lang="en-US"/>
          </a:p>
        </p:txBody>
      </p:sp>
      <p:sp>
        <p:nvSpPr>
          <p:cNvPr id="1048814" name="Content Placeholder 2"/>
          <p:cNvSpPr>
            <a:spLocks noGrp="1"/>
          </p:cNvSpPr>
          <p:nvPr>
            <p:ph sz="quarter" idx="1"/>
          </p:nvPr>
        </p:nvSpPr>
        <p:spPr/>
        <p:txBody>
          <a:bodyPr/>
          <a:p>
            <a:pPr>
              <a:buNone/>
            </a:pPr>
            <a:r>
              <a:rPr b="1" dirty="0" lang="en-US" smtClean="0"/>
              <a:t>TREATMENT</a:t>
            </a:r>
          </a:p>
          <a:p>
            <a:pPr indent="-514350" marL="514350">
              <a:buFont typeface="+mj-lt"/>
              <a:buAutoNum type="arabicPeriod"/>
            </a:pPr>
            <a:r>
              <a:rPr dirty="0" lang="en-US" smtClean="0"/>
              <a:t>Intensive IV antibiotics therapy 3 to 6 weeks. </a:t>
            </a:r>
          </a:p>
          <a:p>
            <a:pPr indent="-514350" marL="514350">
              <a:buFont typeface="+mj-lt"/>
              <a:buAutoNum type="arabicPeriod"/>
            </a:pPr>
            <a:r>
              <a:rPr dirty="0" lang="en-US" smtClean="0"/>
              <a:t>Immobilization of the affected area.</a:t>
            </a:r>
          </a:p>
          <a:p>
            <a:pPr indent="-514350" marL="514350">
              <a:buFont typeface="+mj-lt"/>
              <a:buAutoNum type="arabicPeriod"/>
            </a:pPr>
            <a:r>
              <a:rPr dirty="0" lang="en-US" smtClean="0"/>
              <a:t>Surgical debridement may be necessary with antibiotic beads impregnated </a:t>
            </a:r>
            <a:r>
              <a:rPr dirty="0" lang="en-US" err="1" smtClean="0"/>
              <a:t>i.e</a:t>
            </a:r>
            <a:r>
              <a:rPr dirty="0" lang="en-US" smtClean="0"/>
              <a:t> </a:t>
            </a:r>
            <a:r>
              <a:rPr dirty="0" lang="en-US" err="1" smtClean="0"/>
              <a:t>sequestrectomy</a:t>
            </a:r>
            <a:r>
              <a:rPr dirty="0" lang="en-US" smtClean="0"/>
              <a:t> (removal of enough </a:t>
            </a:r>
            <a:r>
              <a:rPr dirty="0" lang="en-US" err="1" smtClean="0"/>
              <a:t>involucrum</a:t>
            </a:r>
            <a:r>
              <a:rPr dirty="0" lang="en-US" smtClean="0"/>
              <a:t> to enable removal of </a:t>
            </a:r>
            <a:r>
              <a:rPr dirty="0" lang="en-US" err="1" smtClean="0"/>
              <a:t>sequestrum</a:t>
            </a:r>
            <a:r>
              <a:rPr dirty="0" lang="en-US" smtClean="0"/>
              <a:t>)</a:t>
            </a:r>
            <a:endParaRPr dirty="0" lang="en-US"/>
          </a:p>
        </p:txBody>
      </p:sp>
    </p:spTree>
  </p:cSld>
  <p:clrMapOvr>
    <a:masterClrMapping/>
  </p:clrMapOvr>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331" name=""/>
        <p:cNvGrpSpPr/>
        <p:nvPr/>
      </p:nvGrpSpPr>
      <p:grpSpPr>
        <a:xfrm>
          <a:off x="0" y="0"/>
          <a:ext cx="0" cy="0"/>
          <a:chOff x="0" y="0"/>
          <a:chExt cx="0" cy="0"/>
        </a:xfrm>
      </p:grpSpPr>
      <p:sp>
        <p:nvSpPr>
          <p:cNvPr id="1048815" name="Title 1"/>
          <p:cNvSpPr>
            <a:spLocks noGrp="1"/>
          </p:cNvSpPr>
          <p:nvPr>
            <p:ph type="title"/>
          </p:nvPr>
        </p:nvSpPr>
        <p:spPr/>
        <p:txBody>
          <a:bodyPr/>
          <a:p>
            <a:r>
              <a:rPr dirty="0" lang="en-US" smtClean="0"/>
              <a:t>OSTEOMYELITIS</a:t>
            </a:r>
            <a:endParaRPr dirty="0" lang="en-US"/>
          </a:p>
        </p:txBody>
      </p:sp>
      <p:sp>
        <p:nvSpPr>
          <p:cNvPr id="1048816" name="Content Placeholder 2"/>
          <p:cNvSpPr>
            <a:spLocks noGrp="1"/>
          </p:cNvSpPr>
          <p:nvPr>
            <p:ph sz="quarter" idx="1"/>
          </p:nvPr>
        </p:nvSpPr>
        <p:spPr/>
        <p:txBody>
          <a:bodyPr>
            <a:normAutofit/>
          </a:bodyPr>
          <a:p>
            <a:pPr>
              <a:buNone/>
            </a:pPr>
            <a:r>
              <a:rPr b="1" dirty="0" lang="en-US" smtClean="0"/>
              <a:t>NURSING INTERVENTION</a:t>
            </a:r>
          </a:p>
          <a:p>
            <a:pPr indent="-514350" marL="514350">
              <a:buFont typeface="+mj-lt"/>
              <a:buAutoNum type="arabicPeriod"/>
            </a:pPr>
            <a:r>
              <a:rPr dirty="0" lang="en-US" smtClean="0"/>
              <a:t>Administration of antibiotics, analgesics</a:t>
            </a:r>
          </a:p>
          <a:p>
            <a:pPr indent="-514350" marL="514350">
              <a:buFont typeface="+mj-lt"/>
              <a:buAutoNum type="arabicPeriod"/>
            </a:pPr>
            <a:r>
              <a:rPr dirty="0" lang="en-US" smtClean="0"/>
              <a:t>Prevent contractures especially of the affected extremity.</a:t>
            </a:r>
          </a:p>
          <a:p>
            <a:pPr indent="-514350" marL="514350">
              <a:buFont typeface="+mj-lt"/>
              <a:buAutoNum type="arabicPeriod"/>
            </a:pPr>
            <a:r>
              <a:rPr dirty="0" lang="en-US" smtClean="0"/>
              <a:t>Care of open wounds &amp; some pts </a:t>
            </a:r>
            <a:r>
              <a:rPr lang="en-US" smtClean="0"/>
              <a:t>are isolated</a:t>
            </a:r>
            <a:endParaRPr dirty="0" lang="en-US" smtClean="0"/>
          </a:p>
          <a:p>
            <a:pPr indent="-514350" marL="514350">
              <a:buFont typeface="+mj-lt"/>
              <a:buAutoNum type="arabicPeriod"/>
            </a:pPr>
            <a:r>
              <a:rPr dirty="0" lang="en-US" smtClean="0"/>
              <a:t>Education on drug compliance because they are going to take antibiotics for a long time, infection control measures &amp; keeping follow-up appointments.</a:t>
            </a:r>
          </a:p>
          <a:p>
            <a:pPr indent="-514350" marL="514350">
              <a:buFont typeface="+mj-lt"/>
              <a:buAutoNum type="arabicPeriod"/>
            </a:pPr>
            <a:endParaRPr dirty="0" lang="en-US"/>
          </a:p>
        </p:txBody>
      </p:sp>
    </p:spTree>
  </p:cSld>
  <p:clrMapOvr>
    <a:masterClrMapping/>
  </p:clrMapOvr>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332" name=""/>
        <p:cNvGrpSpPr/>
        <p:nvPr/>
      </p:nvGrpSpPr>
      <p:grpSpPr>
        <a:xfrm>
          <a:off x="0" y="0"/>
          <a:ext cx="0" cy="0"/>
          <a:chOff x="0" y="0"/>
          <a:chExt cx="0" cy="0"/>
        </a:xfrm>
      </p:grpSpPr>
      <p:sp>
        <p:nvSpPr>
          <p:cNvPr id="1048817" name="Title 1"/>
          <p:cNvSpPr>
            <a:spLocks noGrp="1"/>
          </p:cNvSpPr>
          <p:nvPr>
            <p:ph type="title"/>
          </p:nvPr>
        </p:nvSpPr>
        <p:spPr/>
        <p:txBody>
          <a:bodyPr/>
          <a:p>
            <a:r>
              <a:rPr dirty="0" lang="en-US" smtClean="0"/>
              <a:t>OSTEOMYELITIS</a:t>
            </a:r>
            <a:endParaRPr dirty="0" lang="en-US"/>
          </a:p>
        </p:txBody>
      </p:sp>
      <p:sp>
        <p:nvSpPr>
          <p:cNvPr id="1048818" name="Content Placeholder 2"/>
          <p:cNvSpPr>
            <a:spLocks noGrp="1"/>
          </p:cNvSpPr>
          <p:nvPr>
            <p:ph sz="quarter" idx="1"/>
          </p:nvPr>
        </p:nvSpPr>
        <p:spPr/>
        <p:txBody>
          <a:bodyPr>
            <a:normAutofit/>
          </a:bodyPr>
          <a:p>
            <a:pPr>
              <a:buNone/>
            </a:pPr>
            <a:r>
              <a:rPr b="1" dirty="0" lang="en-US" smtClean="0"/>
              <a:t>PREVENTION</a:t>
            </a:r>
          </a:p>
          <a:p>
            <a:pPr indent="-514350" marL="514350">
              <a:buFont typeface="+mj-lt"/>
              <a:buAutoNum type="arabicPeriod"/>
            </a:pPr>
            <a:r>
              <a:rPr dirty="0" lang="en-US" smtClean="0"/>
              <a:t>Treatment of focal infections diminishes </a:t>
            </a:r>
            <a:r>
              <a:rPr dirty="0" lang="en-US" err="1" smtClean="0"/>
              <a:t>hematogenous</a:t>
            </a:r>
            <a:r>
              <a:rPr dirty="0" lang="en-US" smtClean="0"/>
              <a:t> spread.</a:t>
            </a:r>
          </a:p>
          <a:p>
            <a:pPr indent="-514350" marL="514350">
              <a:buFont typeface="+mj-lt"/>
              <a:buAutoNum type="arabicPeriod"/>
            </a:pPr>
            <a:r>
              <a:rPr dirty="0" lang="en-US" smtClean="0"/>
              <a:t>Post pone elective orthopedic surgery if pt has recurrent infection </a:t>
            </a:r>
            <a:r>
              <a:rPr dirty="0" lang="en-US" err="1" smtClean="0"/>
              <a:t>e.g</a:t>
            </a:r>
            <a:r>
              <a:rPr dirty="0" lang="en-US" smtClean="0"/>
              <a:t> UTI, sore throat or history of a recent infection.</a:t>
            </a:r>
          </a:p>
          <a:p>
            <a:pPr indent="-514350" marL="514350">
              <a:buFont typeface="+mj-lt"/>
              <a:buAutoNum type="arabicPeriod"/>
            </a:pPr>
            <a:r>
              <a:rPr dirty="0" lang="en-US" smtClean="0"/>
              <a:t>Prophylactic antibiotics with invasive procedures on pts with joint replacement surgery.</a:t>
            </a:r>
            <a:endParaRPr dirty="0" lang="en-US"/>
          </a:p>
        </p:txBody>
      </p:sp>
    </p:spTree>
  </p:cSld>
  <p:clrMapOvr>
    <a:masterClrMapping/>
  </p:clrMapOvr>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333" name=""/>
        <p:cNvGrpSpPr/>
        <p:nvPr/>
      </p:nvGrpSpPr>
      <p:grpSpPr>
        <a:xfrm>
          <a:off x="0" y="0"/>
          <a:ext cx="0" cy="0"/>
          <a:chOff x="0" y="0"/>
          <a:chExt cx="0" cy="0"/>
        </a:xfrm>
      </p:grpSpPr>
      <p:sp>
        <p:nvSpPr>
          <p:cNvPr id="1048819" name="Title 1"/>
          <p:cNvSpPr>
            <a:spLocks noGrp="1"/>
          </p:cNvSpPr>
          <p:nvPr>
            <p:ph type="title"/>
          </p:nvPr>
        </p:nvSpPr>
        <p:spPr/>
        <p:txBody>
          <a:bodyPr/>
          <a:p>
            <a:r>
              <a:rPr dirty="0" lang="en-US" smtClean="0"/>
              <a:t>OSTEOMYELITIS</a:t>
            </a:r>
            <a:endParaRPr dirty="0" lang="en-US"/>
          </a:p>
        </p:txBody>
      </p:sp>
      <p:sp>
        <p:nvSpPr>
          <p:cNvPr id="1048820" name="Content Placeholder 2"/>
          <p:cNvSpPr>
            <a:spLocks noGrp="1"/>
          </p:cNvSpPr>
          <p:nvPr>
            <p:ph sz="quarter" idx="1"/>
          </p:nvPr>
        </p:nvSpPr>
        <p:spPr/>
        <p:txBody>
          <a:bodyPr/>
          <a:p>
            <a:pPr indent="-514350" marL="514350">
              <a:buAutoNum type="arabicPeriod" startAt="4"/>
            </a:pPr>
            <a:r>
              <a:rPr dirty="0" lang="en-US" smtClean="0"/>
              <a:t>Asepsis during orthopedic surgery.</a:t>
            </a:r>
          </a:p>
          <a:p>
            <a:pPr indent="-514350" marL="514350">
              <a:buAutoNum type="arabicPeriod" startAt="4"/>
            </a:pPr>
            <a:r>
              <a:rPr dirty="0" lang="en-US" smtClean="0"/>
              <a:t>Aseptic post </a:t>
            </a:r>
            <a:r>
              <a:rPr lang="en-US" smtClean="0"/>
              <a:t>op wound care.</a:t>
            </a:r>
            <a:endParaRPr dirty="0" lang="en-US"/>
          </a:p>
        </p:txBody>
      </p:sp>
    </p:spTree>
  </p:cSld>
  <p:clrMapOvr>
    <a:masterClrMapping/>
  </p:clrMapOvr>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334" name=""/>
        <p:cNvGrpSpPr/>
        <p:nvPr/>
      </p:nvGrpSpPr>
      <p:grpSpPr>
        <a:xfrm>
          <a:off x="0" y="0"/>
          <a:ext cx="0" cy="0"/>
          <a:chOff x="0" y="0"/>
          <a:chExt cx="0" cy="0"/>
        </a:xfrm>
      </p:grpSpPr>
      <p:sp>
        <p:nvSpPr>
          <p:cNvPr id="1048821" name="Title 1"/>
          <p:cNvSpPr>
            <a:spLocks noGrp="1"/>
          </p:cNvSpPr>
          <p:nvPr>
            <p:ph type="title"/>
          </p:nvPr>
        </p:nvSpPr>
        <p:spPr/>
        <p:txBody>
          <a:bodyPr/>
          <a:p>
            <a:r>
              <a:rPr dirty="0" lang="en-US" smtClean="0"/>
              <a:t>CONTUSION</a:t>
            </a:r>
            <a:endParaRPr dirty="0" lang="en-US"/>
          </a:p>
        </p:txBody>
      </p:sp>
      <p:sp>
        <p:nvSpPr>
          <p:cNvPr id="1048822" name="Content Placeholder 2"/>
          <p:cNvSpPr>
            <a:spLocks noGrp="1"/>
          </p:cNvSpPr>
          <p:nvPr>
            <p:ph sz="quarter" idx="1"/>
          </p:nvPr>
        </p:nvSpPr>
        <p:spPr/>
        <p:txBody>
          <a:bodyPr>
            <a:normAutofit/>
          </a:bodyPr>
          <a:p>
            <a:pPr>
              <a:buFont typeface="Wingdings" pitchFamily="2" charset="2"/>
              <a:buChar char="Ø"/>
            </a:pPr>
            <a:r>
              <a:rPr dirty="0" lang="en-US" smtClean="0"/>
              <a:t>Is a soft tissue injury produced by blunt force </a:t>
            </a:r>
            <a:r>
              <a:rPr dirty="0" lang="en-US" err="1" smtClean="0"/>
              <a:t>e.g</a:t>
            </a:r>
            <a:r>
              <a:rPr dirty="0" lang="en-US" smtClean="0"/>
              <a:t> a blow, kick or fall. Many small blood vessels rupture &amp; bleed into soft tissues (</a:t>
            </a:r>
            <a:r>
              <a:rPr dirty="0" lang="en-US" err="1" smtClean="0"/>
              <a:t>ecchymosis</a:t>
            </a:r>
            <a:r>
              <a:rPr dirty="0" lang="en-US" smtClean="0"/>
              <a:t>/ bruising). A hematoma develops when the bleeding  is sufficient to cause an appreciable collection of blood.</a:t>
            </a:r>
          </a:p>
          <a:p>
            <a:pPr>
              <a:buFont typeface="Wingdings" pitchFamily="2" charset="2"/>
              <a:buChar char="Ø"/>
            </a:pPr>
            <a:r>
              <a:rPr dirty="0" lang="en-US" smtClean="0"/>
              <a:t>Local symptoms (pain, swelling &amp; discoloration) are controlled with intermittent application of cold.</a:t>
            </a:r>
          </a:p>
          <a:p>
            <a:pPr>
              <a:buFont typeface="Wingdings" pitchFamily="2" charset="2"/>
              <a:buChar char="Ø"/>
            </a:pPr>
            <a:r>
              <a:rPr dirty="0" lang="en-US" smtClean="0"/>
              <a:t>Most contusions resolve in 1-2 weeks.</a:t>
            </a:r>
            <a:endParaRPr dirty="0" lang="en-US"/>
          </a:p>
        </p:txBody>
      </p:sp>
    </p:spTree>
  </p:cSld>
  <p:clrMapOvr>
    <a:masterClrMapping/>
  </p:clrMapOvr>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335" name=""/>
        <p:cNvGrpSpPr/>
        <p:nvPr/>
      </p:nvGrpSpPr>
      <p:grpSpPr>
        <a:xfrm>
          <a:off x="0" y="0"/>
          <a:ext cx="0" cy="0"/>
          <a:chOff x="0" y="0"/>
          <a:chExt cx="0" cy="0"/>
        </a:xfrm>
      </p:grpSpPr>
      <p:sp>
        <p:nvSpPr>
          <p:cNvPr id="1048823" name="Title 1"/>
          <p:cNvSpPr>
            <a:spLocks noGrp="1"/>
          </p:cNvSpPr>
          <p:nvPr>
            <p:ph type="title"/>
          </p:nvPr>
        </p:nvSpPr>
        <p:spPr/>
        <p:txBody>
          <a:bodyPr/>
          <a:p>
            <a:r>
              <a:rPr dirty="0" lang="en-US" smtClean="0"/>
              <a:t>STRAIN</a:t>
            </a:r>
            <a:endParaRPr dirty="0" lang="en-US"/>
          </a:p>
        </p:txBody>
      </p:sp>
      <p:sp>
        <p:nvSpPr>
          <p:cNvPr id="1048824" name="Content Placeholder 2"/>
          <p:cNvSpPr>
            <a:spLocks noGrp="1"/>
          </p:cNvSpPr>
          <p:nvPr>
            <p:ph sz="quarter" idx="1"/>
          </p:nvPr>
        </p:nvSpPr>
        <p:spPr/>
        <p:txBody>
          <a:bodyPr/>
          <a:p>
            <a:pPr>
              <a:buFont typeface="Wingdings" pitchFamily="2" charset="2"/>
              <a:buChar char="Ø"/>
            </a:pPr>
            <a:r>
              <a:rPr dirty="0" lang="en-US" smtClean="0"/>
              <a:t>Is a “muscle pull” from over use, overstretching, or excessive stress.</a:t>
            </a:r>
          </a:p>
          <a:p>
            <a:pPr>
              <a:buFont typeface="Wingdings" pitchFamily="2" charset="2"/>
              <a:buChar char="Ø"/>
            </a:pPr>
            <a:r>
              <a:rPr dirty="0" lang="en-US" smtClean="0"/>
              <a:t> Strains are microscopic, incomplete muscle tears with some bleeding into the tissue.</a:t>
            </a:r>
          </a:p>
          <a:p>
            <a:pPr>
              <a:buFont typeface="Wingdings" pitchFamily="2" charset="2"/>
              <a:buChar char="Ø"/>
            </a:pPr>
            <a:r>
              <a:rPr dirty="0" lang="en-US" smtClean="0"/>
              <a:t>Patient experiences soreness or sudden pain with local tenderness upon muscle use &amp; isometric contraction</a:t>
            </a:r>
            <a:endParaRPr dirty="0" lang="en-US"/>
          </a:p>
        </p:txBody>
      </p:sp>
    </p:spTree>
  </p:cSld>
  <p:clrMapOvr>
    <a:masterClrMapping/>
  </p:clrMapOvr>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336" name=""/>
        <p:cNvGrpSpPr/>
        <p:nvPr/>
      </p:nvGrpSpPr>
      <p:grpSpPr>
        <a:xfrm>
          <a:off x="0" y="0"/>
          <a:ext cx="0" cy="0"/>
          <a:chOff x="0" y="0"/>
          <a:chExt cx="0" cy="0"/>
        </a:xfrm>
      </p:grpSpPr>
      <p:sp>
        <p:nvSpPr>
          <p:cNvPr id="1048825" name="Title 1"/>
          <p:cNvSpPr>
            <a:spLocks noGrp="1"/>
          </p:cNvSpPr>
          <p:nvPr>
            <p:ph type="title"/>
          </p:nvPr>
        </p:nvSpPr>
        <p:spPr/>
        <p:txBody>
          <a:bodyPr/>
          <a:p>
            <a:r>
              <a:rPr dirty="0" lang="en-US" smtClean="0"/>
              <a:t>SPRAIN</a:t>
            </a:r>
            <a:endParaRPr dirty="0" lang="en-US"/>
          </a:p>
        </p:txBody>
      </p:sp>
      <p:pic>
        <p:nvPicPr>
          <p:cNvPr id="2097165" name="Content Placeholder 3" descr="http://www.healingfeet.com/blog/wp-content/uploads/2012/06/Inversion-vs-eversion-ankle-sprain-illustration.jpg"/>
          <p:cNvPicPr>
            <a:picLocks noGrp="1"/>
          </p:cNvPicPr>
          <p:nvPr>
            <p:ph sz="quarter" idx="1"/>
          </p:nvPr>
        </p:nvPicPr>
        <p:blipFill>
          <a:blip xmlns:r="http://schemas.openxmlformats.org/officeDocument/2006/relationships" r:embed="rId1" cstate="print"/>
          <a:srcRect/>
          <a:stretch>
            <a:fillRect/>
          </a:stretch>
        </p:blipFill>
        <p:spPr bwMode="auto">
          <a:xfrm>
            <a:off x="914400" y="1524000"/>
            <a:ext cx="7239000" cy="4548981"/>
          </a:xfrm>
          <a:prstGeom prst="rect"/>
          <a:noFill/>
          <a:ln w="9525">
            <a:noFill/>
            <a:miter lim="800000"/>
            <a:headEnd/>
            <a:tailEnd/>
          </a:ln>
        </p:spPr>
      </p:pic>
    </p:spTree>
  </p:cSld>
  <p:clrMapOvr>
    <a:masterClrMapping/>
  </p:clrMapOvr>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337" name=""/>
        <p:cNvGrpSpPr/>
        <p:nvPr/>
      </p:nvGrpSpPr>
      <p:grpSpPr>
        <a:xfrm>
          <a:off x="0" y="0"/>
          <a:ext cx="0" cy="0"/>
          <a:chOff x="0" y="0"/>
          <a:chExt cx="0" cy="0"/>
        </a:xfrm>
      </p:grpSpPr>
      <p:sp>
        <p:nvSpPr>
          <p:cNvPr id="1048826" name="Title 1"/>
          <p:cNvSpPr>
            <a:spLocks noGrp="1"/>
          </p:cNvSpPr>
          <p:nvPr>
            <p:ph type="title"/>
          </p:nvPr>
        </p:nvSpPr>
        <p:spPr/>
        <p:txBody>
          <a:bodyPr/>
          <a:p>
            <a:r>
              <a:rPr dirty="0" lang="en-US" smtClean="0"/>
              <a:t>SPRAIN</a:t>
            </a:r>
            <a:endParaRPr dirty="0" lang="en-US"/>
          </a:p>
        </p:txBody>
      </p:sp>
      <p:sp>
        <p:nvSpPr>
          <p:cNvPr id="1048827" name="Content Placeholder 2"/>
          <p:cNvSpPr>
            <a:spLocks noGrp="1"/>
          </p:cNvSpPr>
          <p:nvPr>
            <p:ph sz="quarter" idx="1"/>
          </p:nvPr>
        </p:nvSpPr>
        <p:spPr/>
        <p:txBody>
          <a:bodyPr>
            <a:normAutofit fontScale="92500" lnSpcReduction="10000"/>
          </a:bodyPr>
          <a:p>
            <a:pPr>
              <a:buFont typeface="Wingdings" pitchFamily="2" charset="2"/>
              <a:buChar char="Ø"/>
            </a:pPr>
            <a:r>
              <a:rPr dirty="0" lang="en-US" smtClean="0"/>
              <a:t>Is an injury to ligaments surrounding a joint, caused by a wrenching or twisting motion.</a:t>
            </a:r>
          </a:p>
          <a:p>
            <a:pPr>
              <a:buFont typeface="Wingdings" pitchFamily="2" charset="2"/>
              <a:buChar char="Ø"/>
            </a:pPr>
            <a:r>
              <a:rPr dirty="0" lang="en-US" smtClean="0"/>
              <a:t>The function of a ligament is to maintain stability while permitting mobility.</a:t>
            </a:r>
          </a:p>
          <a:p>
            <a:pPr>
              <a:buFont typeface="Wingdings" pitchFamily="2" charset="2"/>
              <a:buChar char="Ø"/>
            </a:pPr>
            <a:r>
              <a:rPr dirty="0" lang="en-US" smtClean="0"/>
              <a:t>A torn ligament loses stabilizing ability.</a:t>
            </a:r>
          </a:p>
          <a:p>
            <a:pPr>
              <a:buFont typeface="Wingdings" pitchFamily="2" charset="2"/>
              <a:buChar char="Ø"/>
            </a:pPr>
            <a:r>
              <a:rPr dirty="0" lang="en-US" smtClean="0"/>
              <a:t>Blood vessels rupture &amp; edema occurs, the joint is tender &amp; movement becomes painful.</a:t>
            </a:r>
          </a:p>
          <a:p>
            <a:pPr>
              <a:buFont typeface="Wingdings" pitchFamily="2" charset="2"/>
              <a:buChar char="Ø"/>
            </a:pPr>
            <a:r>
              <a:rPr dirty="0" lang="en-US" smtClean="0"/>
              <a:t>The degree of disability &amp; pain increases during the first 2-3 hrs after the injury because of the associated swelling &amp; bleeding.</a:t>
            </a:r>
            <a:endParaRPr dirty="0" lang="en-US"/>
          </a:p>
        </p:txBody>
      </p:sp>
    </p:spTree>
  </p:cSld>
  <p:clrMapOvr>
    <a:masterClrMapping/>
  </p:clrMapOvr>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338" name=""/>
        <p:cNvGrpSpPr/>
        <p:nvPr/>
      </p:nvGrpSpPr>
      <p:grpSpPr>
        <a:xfrm>
          <a:off x="0" y="0"/>
          <a:ext cx="0" cy="0"/>
          <a:chOff x="0" y="0"/>
          <a:chExt cx="0" cy="0"/>
        </a:xfrm>
      </p:grpSpPr>
      <p:sp>
        <p:nvSpPr>
          <p:cNvPr id="1048828" name="Title 1"/>
          <p:cNvSpPr>
            <a:spLocks noGrp="1"/>
          </p:cNvSpPr>
          <p:nvPr>
            <p:ph type="title"/>
          </p:nvPr>
        </p:nvSpPr>
        <p:spPr/>
        <p:txBody>
          <a:bodyPr/>
          <a:p>
            <a:r>
              <a:rPr dirty="0" lang="en-US" smtClean="0"/>
              <a:t>SPRAIN</a:t>
            </a:r>
            <a:endParaRPr dirty="0" lang="en-US"/>
          </a:p>
        </p:txBody>
      </p:sp>
      <p:sp>
        <p:nvSpPr>
          <p:cNvPr id="1048829" name="Content Placeholder 2"/>
          <p:cNvSpPr>
            <a:spLocks noGrp="1"/>
          </p:cNvSpPr>
          <p:nvPr>
            <p:ph sz="quarter" idx="1"/>
          </p:nvPr>
        </p:nvSpPr>
        <p:spPr/>
        <p:txBody>
          <a:bodyPr/>
          <a:p>
            <a:pPr>
              <a:buFont typeface="Wingdings" pitchFamily="2" charset="2"/>
              <a:buChar char="Ø"/>
            </a:pPr>
            <a:r>
              <a:rPr dirty="0" lang="en-US" smtClean="0"/>
              <a:t>The patient should have an x-ray to evaluate for bone injury.</a:t>
            </a:r>
          </a:p>
          <a:p>
            <a:pPr>
              <a:buFont typeface="Wingdings" pitchFamily="2" charset="2"/>
              <a:buChar char="Ø"/>
            </a:pPr>
            <a:r>
              <a:rPr dirty="0" lang="en-US" smtClean="0"/>
              <a:t>Avulsion fracture (a bone fragment is pulled away by a ligament or tendon) may be associated with a sprain.</a:t>
            </a:r>
          </a:p>
          <a:p>
            <a:pPr>
              <a:buFont typeface="Wingdings" pitchFamily="2" charset="2"/>
              <a:buChar char="Ø"/>
            </a:pPr>
            <a:endParaRPr dirty="0" lang="en-US"/>
          </a:p>
        </p:txBody>
      </p:sp>
    </p:spTree>
  </p:cSld>
  <p:clrMapOvr>
    <a:masterClrMapping/>
  </p:clrMapOvr>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339" name=""/>
        <p:cNvGrpSpPr/>
        <p:nvPr/>
      </p:nvGrpSpPr>
      <p:grpSpPr>
        <a:xfrm>
          <a:off x="0" y="0"/>
          <a:ext cx="0" cy="0"/>
          <a:chOff x="0" y="0"/>
          <a:chExt cx="0" cy="0"/>
        </a:xfrm>
      </p:grpSpPr>
      <p:sp>
        <p:nvSpPr>
          <p:cNvPr id="1048830" name="Title 1"/>
          <p:cNvSpPr>
            <a:spLocks noGrp="1"/>
          </p:cNvSpPr>
          <p:nvPr>
            <p:ph type="title"/>
          </p:nvPr>
        </p:nvSpPr>
        <p:spPr/>
        <p:txBody>
          <a:bodyPr>
            <a:normAutofit fontScale="90000"/>
          </a:bodyPr>
          <a:p>
            <a:r>
              <a:rPr dirty="0" lang="en-US" smtClean="0"/>
              <a:t>TREATMENT (CONTUSION, STRAIN &amp; SPRAIN)</a:t>
            </a:r>
            <a:endParaRPr dirty="0" lang="en-US"/>
          </a:p>
        </p:txBody>
      </p:sp>
      <p:sp>
        <p:nvSpPr>
          <p:cNvPr id="1048831" name="Content Placeholder 2"/>
          <p:cNvSpPr>
            <a:spLocks noGrp="1"/>
          </p:cNvSpPr>
          <p:nvPr>
            <p:ph sz="quarter" idx="1"/>
          </p:nvPr>
        </p:nvSpPr>
        <p:spPr/>
        <p:txBody>
          <a:bodyPr>
            <a:normAutofit/>
          </a:bodyPr>
          <a:p>
            <a:r>
              <a:rPr dirty="0" lang="en-US" smtClean="0"/>
              <a:t>Resting (prevent further injury &amp; promote healing) &amp; elevating the affected part (control swelling)</a:t>
            </a:r>
          </a:p>
          <a:p>
            <a:r>
              <a:rPr dirty="0" lang="en-US" smtClean="0"/>
              <a:t>Apply cold (ice) (produces vasoconstriction which reduces bleeding &amp; edema)</a:t>
            </a:r>
          </a:p>
          <a:p>
            <a:pPr>
              <a:buNone/>
            </a:pPr>
            <a:r>
              <a:rPr b="1" dirty="0" lang="en-US" smtClean="0"/>
              <a:t>Note: </a:t>
            </a:r>
            <a:r>
              <a:rPr dirty="0" lang="en-US" err="1" smtClean="0"/>
              <a:t>acronyme</a:t>
            </a:r>
            <a:r>
              <a:rPr dirty="0" lang="en-US" smtClean="0"/>
              <a:t> RICE- Rest, Ice, Compression, Elevation.</a:t>
            </a:r>
          </a:p>
          <a:p>
            <a:r>
              <a:rPr dirty="0" lang="en-US" smtClean="0"/>
              <a:t>Monitor neurovascular status (circulation, motion, sensation).</a:t>
            </a:r>
            <a:endParaRPr dirty="0" lang="en-US"/>
          </a:p>
        </p:txBody>
      </p:sp>
    </p:spTree>
  </p:cSld>
  <p:clrMapOvr>
    <a:masterClrMapping/>
  </p:clrMapOvr>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340" name=""/>
        <p:cNvGrpSpPr/>
        <p:nvPr/>
      </p:nvGrpSpPr>
      <p:grpSpPr>
        <a:xfrm>
          <a:off x="0" y="0"/>
          <a:ext cx="0" cy="0"/>
          <a:chOff x="0" y="0"/>
          <a:chExt cx="0" cy="0"/>
        </a:xfrm>
      </p:grpSpPr>
      <p:sp>
        <p:nvSpPr>
          <p:cNvPr id="1048832" name="Title 1"/>
          <p:cNvSpPr>
            <a:spLocks noGrp="1"/>
          </p:cNvSpPr>
          <p:nvPr>
            <p:ph type="title"/>
          </p:nvPr>
        </p:nvSpPr>
        <p:spPr/>
        <p:txBody>
          <a:bodyPr/>
          <a:p>
            <a:r>
              <a:rPr dirty="0" lang="en-US" smtClean="0"/>
              <a:t>TREAMENT</a:t>
            </a:r>
            <a:endParaRPr dirty="0" lang="en-US"/>
          </a:p>
        </p:txBody>
      </p:sp>
      <p:sp>
        <p:nvSpPr>
          <p:cNvPr id="1048833" name="Content Placeholder 2"/>
          <p:cNvSpPr>
            <a:spLocks noGrp="1"/>
          </p:cNvSpPr>
          <p:nvPr>
            <p:ph sz="quarter" idx="1"/>
          </p:nvPr>
        </p:nvSpPr>
        <p:spPr/>
        <p:txBody>
          <a:bodyPr/>
          <a:p>
            <a:r>
              <a:rPr dirty="0" lang="en-US" smtClean="0"/>
              <a:t>After the first 48 hrs of acute inflammation stage heat may be applied to promote </a:t>
            </a:r>
            <a:r>
              <a:rPr dirty="0" lang="en-US" err="1" smtClean="0"/>
              <a:t>vasodilation</a:t>
            </a:r>
            <a:r>
              <a:rPr dirty="0" lang="en-US" smtClean="0"/>
              <a:t>, absorption &amp; repair.</a:t>
            </a:r>
          </a:p>
          <a:p>
            <a:r>
              <a:rPr dirty="0" lang="en-US" smtClean="0"/>
              <a:t>Exercise after 2 or more days depending on the severity of injury.</a:t>
            </a:r>
            <a:endParaRPr dirty="0" lang="en-US"/>
          </a:p>
        </p:txBody>
      </p:sp>
    </p:spTree>
  </p:cSld>
  <p:clrMapOvr>
    <a:masterClrMapping/>
  </p:clrMapOvr>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341" name=""/>
        <p:cNvGrpSpPr/>
        <p:nvPr/>
      </p:nvGrpSpPr>
      <p:grpSpPr>
        <a:xfrm>
          <a:off x="0" y="0"/>
          <a:ext cx="0" cy="0"/>
          <a:chOff x="0" y="0"/>
          <a:chExt cx="0" cy="0"/>
        </a:xfrm>
      </p:grpSpPr>
      <p:sp>
        <p:nvSpPr>
          <p:cNvPr id="1048834" name="Title 1"/>
          <p:cNvSpPr>
            <a:spLocks noGrp="1"/>
          </p:cNvSpPr>
          <p:nvPr>
            <p:ph type="title"/>
          </p:nvPr>
        </p:nvSpPr>
        <p:spPr/>
        <p:txBody>
          <a:bodyPr/>
          <a:p>
            <a:r>
              <a:rPr dirty="0" lang="en-US" smtClean="0"/>
              <a:t>JOINT DISLOCATION</a:t>
            </a:r>
            <a:endParaRPr dirty="0" lang="en-US"/>
          </a:p>
        </p:txBody>
      </p:sp>
      <p:sp>
        <p:nvSpPr>
          <p:cNvPr id="1048835" name="Content Placeholder 2"/>
          <p:cNvSpPr>
            <a:spLocks noGrp="1"/>
          </p:cNvSpPr>
          <p:nvPr>
            <p:ph sz="quarter" idx="1"/>
          </p:nvPr>
        </p:nvSpPr>
        <p:spPr/>
        <p:txBody>
          <a:bodyPr>
            <a:normAutofit fontScale="92500"/>
          </a:bodyPr>
          <a:p>
            <a:pPr>
              <a:buFont typeface="Wingdings" pitchFamily="2" charset="2"/>
              <a:buChar char="Ø"/>
            </a:pPr>
            <a:r>
              <a:rPr dirty="0" lang="en-US" smtClean="0"/>
              <a:t>Is a condition in which the articulate surfaces of bones forming the joint are no longer in anatomic contact.</a:t>
            </a:r>
          </a:p>
          <a:p>
            <a:pPr>
              <a:buFont typeface="Wingdings" pitchFamily="2" charset="2"/>
              <a:buChar char="Ø"/>
            </a:pPr>
            <a:r>
              <a:rPr dirty="0" lang="en-US" smtClean="0"/>
              <a:t>The bones are literally “out of joint”.</a:t>
            </a:r>
          </a:p>
          <a:p>
            <a:pPr>
              <a:buFont typeface="Wingdings" pitchFamily="2" charset="2"/>
              <a:buChar char="Ø"/>
            </a:pPr>
            <a:r>
              <a:rPr dirty="0" lang="en-US" smtClean="0"/>
              <a:t>A </a:t>
            </a:r>
            <a:r>
              <a:rPr b="1" dirty="0" lang="en-US" err="1" smtClean="0"/>
              <a:t>subluxation</a:t>
            </a:r>
            <a:r>
              <a:rPr b="1" dirty="0" lang="en-US" smtClean="0"/>
              <a:t> </a:t>
            </a:r>
            <a:r>
              <a:rPr dirty="0" lang="en-US" smtClean="0"/>
              <a:t>is a partial dislocation of the articulating surfaces.</a:t>
            </a:r>
          </a:p>
          <a:p>
            <a:pPr>
              <a:buFont typeface="Wingdings" pitchFamily="2" charset="2"/>
              <a:buChar char="Ø"/>
            </a:pPr>
            <a:r>
              <a:rPr dirty="0" lang="en-US" smtClean="0"/>
              <a:t>Traumatic dislocations are orthopedic emergency. Otherwise vascular necrosis &amp; nerve palsy may occur.</a:t>
            </a:r>
          </a:p>
          <a:p>
            <a:pPr>
              <a:buFont typeface="Wingdings" pitchFamily="2" charset="2"/>
              <a:buChar char="Ø"/>
            </a:pPr>
            <a:r>
              <a:rPr dirty="0" lang="en-US" smtClean="0"/>
              <a:t>Dislocations may be congenital (hip), spontaneous or pathological or traumatic.</a:t>
            </a:r>
            <a:endParaRPr dirty="0" lang="en-US"/>
          </a:p>
        </p:txBody>
      </p:sp>
    </p:spTree>
  </p:cSld>
  <p:clrMapOvr>
    <a:masterClrMapping/>
  </p:clrMapOvr>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342" name=""/>
        <p:cNvGrpSpPr/>
        <p:nvPr/>
      </p:nvGrpSpPr>
      <p:grpSpPr>
        <a:xfrm>
          <a:off x="0" y="0"/>
          <a:ext cx="0" cy="0"/>
          <a:chOff x="0" y="0"/>
          <a:chExt cx="0" cy="0"/>
        </a:xfrm>
      </p:grpSpPr>
      <p:sp>
        <p:nvSpPr>
          <p:cNvPr id="1048836" name="Title 1"/>
          <p:cNvSpPr>
            <a:spLocks noGrp="1"/>
          </p:cNvSpPr>
          <p:nvPr>
            <p:ph type="title"/>
          </p:nvPr>
        </p:nvSpPr>
        <p:spPr/>
        <p:txBody>
          <a:bodyPr/>
          <a:p>
            <a:r>
              <a:rPr dirty="0" lang="en-US" smtClean="0"/>
              <a:t>JOINT DISLOCATION</a:t>
            </a:r>
            <a:endParaRPr dirty="0" lang="en-US"/>
          </a:p>
        </p:txBody>
      </p:sp>
      <p:sp>
        <p:nvSpPr>
          <p:cNvPr id="1048837" name="Content Placeholder 2"/>
          <p:cNvSpPr>
            <a:spLocks noGrp="1"/>
          </p:cNvSpPr>
          <p:nvPr>
            <p:ph sz="quarter" idx="1"/>
          </p:nvPr>
        </p:nvSpPr>
        <p:spPr/>
        <p:txBody>
          <a:bodyPr/>
          <a:p>
            <a:pPr>
              <a:buNone/>
            </a:pPr>
            <a:r>
              <a:rPr b="1" dirty="0" lang="en-US" smtClean="0"/>
              <a:t>SIGNS &amp; SYMPTOMS OF A TRAUMATIC DISLOCATION</a:t>
            </a:r>
          </a:p>
          <a:p>
            <a:pPr indent="-514350" marL="514350">
              <a:buFont typeface="+mj-lt"/>
              <a:buAutoNum type="arabicPeriod"/>
            </a:pPr>
            <a:r>
              <a:rPr dirty="0" lang="en-US" smtClean="0"/>
              <a:t>Pain</a:t>
            </a:r>
          </a:p>
          <a:p>
            <a:pPr indent="-514350" marL="514350">
              <a:buFont typeface="+mj-lt"/>
              <a:buAutoNum type="arabicPeriod"/>
            </a:pPr>
            <a:r>
              <a:rPr dirty="0" lang="en-US" smtClean="0"/>
              <a:t>Change in contour of the joint</a:t>
            </a:r>
          </a:p>
          <a:p>
            <a:pPr indent="-514350" marL="514350">
              <a:buFont typeface="+mj-lt"/>
              <a:buAutoNum type="arabicPeriod"/>
            </a:pPr>
            <a:r>
              <a:rPr dirty="0" lang="en-US" smtClean="0"/>
              <a:t>Change in the length of extremity</a:t>
            </a:r>
          </a:p>
          <a:p>
            <a:pPr indent="-514350" marL="514350">
              <a:buFont typeface="+mj-lt"/>
              <a:buAutoNum type="arabicPeriod"/>
            </a:pPr>
            <a:r>
              <a:rPr dirty="0" lang="en-US" smtClean="0"/>
              <a:t>Loss of normal mobility</a:t>
            </a:r>
          </a:p>
          <a:p>
            <a:pPr indent="-514350" marL="514350">
              <a:buFont typeface="+mj-lt"/>
              <a:buAutoNum type="arabicPeriod"/>
            </a:pPr>
            <a:r>
              <a:rPr dirty="0" lang="en-US" smtClean="0"/>
              <a:t>Change in axis of the dislocated bones.</a:t>
            </a:r>
          </a:p>
          <a:p>
            <a:pPr indent="-514350" marL="514350">
              <a:buFont typeface="+mj-lt"/>
              <a:buAutoNum type="arabicPeriod"/>
            </a:pPr>
            <a:endParaRPr dirty="0" lang="en-US"/>
          </a:p>
        </p:txBody>
      </p:sp>
    </p:spTree>
  </p:cSld>
  <p:clrMapOvr>
    <a:masterClrMapping/>
  </p:clrMapOvr>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343" name=""/>
        <p:cNvGrpSpPr/>
        <p:nvPr/>
      </p:nvGrpSpPr>
      <p:grpSpPr>
        <a:xfrm>
          <a:off x="0" y="0"/>
          <a:ext cx="0" cy="0"/>
          <a:chOff x="0" y="0"/>
          <a:chExt cx="0" cy="0"/>
        </a:xfrm>
      </p:grpSpPr>
      <p:sp>
        <p:nvSpPr>
          <p:cNvPr id="1048838" name="Title 1"/>
          <p:cNvSpPr>
            <a:spLocks noGrp="1"/>
          </p:cNvSpPr>
          <p:nvPr>
            <p:ph type="title"/>
          </p:nvPr>
        </p:nvSpPr>
        <p:spPr/>
        <p:txBody>
          <a:bodyPr/>
          <a:p>
            <a:r>
              <a:rPr dirty="0" lang="en-US" smtClean="0"/>
              <a:t>JOINT DISLOCATION</a:t>
            </a:r>
            <a:endParaRPr dirty="0" lang="en-US"/>
          </a:p>
        </p:txBody>
      </p:sp>
      <p:sp>
        <p:nvSpPr>
          <p:cNvPr id="1048839" name="Content Placeholder 2"/>
          <p:cNvSpPr>
            <a:spLocks noGrp="1"/>
          </p:cNvSpPr>
          <p:nvPr>
            <p:ph sz="quarter" idx="1"/>
          </p:nvPr>
        </p:nvSpPr>
        <p:spPr/>
        <p:txBody>
          <a:bodyPr>
            <a:normAutofit lnSpcReduction="10000"/>
          </a:bodyPr>
          <a:p>
            <a:pPr>
              <a:buNone/>
            </a:pPr>
            <a:r>
              <a:rPr b="1" dirty="0" lang="en-US" smtClean="0"/>
              <a:t>DIAGNOSIS</a:t>
            </a:r>
          </a:p>
          <a:p>
            <a:pPr>
              <a:buFont typeface="Wingdings" pitchFamily="2" charset="2"/>
              <a:buChar char="Ø"/>
            </a:pPr>
            <a:r>
              <a:rPr dirty="0" lang="en-US" smtClean="0"/>
              <a:t>X-ray confirms diagnosis &amp; demonstrates possible associated fractures.</a:t>
            </a:r>
          </a:p>
          <a:p>
            <a:pPr>
              <a:buNone/>
            </a:pPr>
            <a:r>
              <a:rPr b="1" dirty="0" lang="en-US" smtClean="0"/>
              <a:t>MEDICAL MANAGEMENT</a:t>
            </a:r>
          </a:p>
          <a:p>
            <a:pPr indent="-514350" marL="514350">
              <a:buFont typeface="+mj-lt"/>
              <a:buAutoNum type="arabicPeriod"/>
            </a:pPr>
            <a:r>
              <a:rPr dirty="0" lang="en-US" smtClean="0"/>
              <a:t>Immobilization of the joint while pt is transported to hospital.</a:t>
            </a:r>
          </a:p>
          <a:p>
            <a:pPr indent="-514350" marL="514350">
              <a:buFont typeface="+mj-lt"/>
              <a:buAutoNum type="arabicPeriod"/>
            </a:pPr>
            <a:r>
              <a:rPr dirty="0" lang="en-US" smtClean="0"/>
              <a:t>Prompt reduction to preserve joint function</a:t>
            </a:r>
          </a:p>
          <a:p>
            <a:pPr indent="-514350" marL="514350">
              <a:buFont typeface="+mj-lt"/>
              <a:buAutoNum type="arabicPeriod"/>
            </a:pPr>
            <a:r>
              <a:rPr dirty="0" lang="en-US" smtClean="0"/>
              <a:t>Joint immobilization by bandages, splints, casts or traction.</a:t>
            </a:r>
          </a:p>
        </p:txBody>
      </p:sp>
    </p:spTree>
  </p:cSld>
  <p:clrMapOvr>
    <a:masterClrMapping/>
  </p:clrMapOvr>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344" name=""/>
        <p:cNvGrpSpPr/>
        <p:nvPr/>
      </p:nvGrpSpPr>
      <p:grpSpPr>
        <a:xfrm>
          <a:off x="0" y="0"/>
          <a:ext cx="0" cy="0"/>
          <a:chOff x="0" y="0"/>
          <a:chExt cx="0" cy="0"/>
        </a:xfrm>
      </p:grpSpPr>
      <p:sp>
        <p:nvSpPr>
          <p:cNvPr id="1048840" name="Title 1"/>
          <p:cNvSpPr>
            <a:spLocks noGrp="1"/>
          </p:cNvSpPr>
          <p:nvPr>
            <p:ph type="title"/>
          </p:nvPr>
        </p:nvSpPr>
        <p:spPr/>
        <p:txBody>
          <a:bodyPr/>
          <a:p>
            <a:r>
              <a:rPr dirty="0" lang="en-US" smtClean="0"/>
              <a:t>JOINT DISLOCATION</a:t>
            </a:r>
            <a:endParaRPr dirty="0" lang="en-US"/>
          </a:p>
        </p:txBody>
      </p:sp>
      <p:sp>
        <p:nvSpPr>
          <p:cNvPr id="1048841" name="Content Placeholder 2"/>
          <p:cNvSpPr>
            <a:spLocks noGrp="1"/>
          </p:cNvSpPr>
          <p:nvPr>
            <p:ph sz="quarter" idx="1"/>
          </p:nvPr>
        </p:nvSpPr>
        <p:spPr/>
        <p:txBody>
          <a:bodyPr>
            <a:normAutofit/>
          </a:bodyPr>
          <a:p>
            <a:pPr>
              <a:buNone/>
            </a:pPr>
            <a:r>
              <a:rPr dirty="0" lang="en-US" smtClean="0"/>
              <a:t>4. Monitor neurovascular status.</a:t>
            </a:r>
          </a:p>
          <a:p>
            <a:pPr>
              <a:buNone/>
            </a:pPr>
            <a:r>
              <a:rPr dirty="0" lang="en-US" smtClean="0"/>
              <a:t>5. After several days to weeks passive &amp; active movement 3-4 times a day is began to preserve ROM. Support joint between the exercise.</a:t>
            </a:r>
          </a:p>
          <a:p>
            <a:pPr>
              <a:buNone/>
            </a:pPr>
            <a:r>
              <a:rPr b="1" dirty="0" lang="en-US" smtClean="0"/>
              <a:t>NURSING MANAGEMENT</a:t>
            </a:r>
          </a:p>
          <a:p>
            <a:pPr indent="-514350" marL="514350">
              <a:buFont typeface="+mj-lt"/>
              <a:buAutoNum type="alphaLcPeriod"/>
            </a:pPr>
            <a:r>
              <a:rPr dirty="0" lang="en-US" smtClean="0"/>
              <a:t>Promote comfort, evaluate neurovascular status, &amp; protecting joint during healing.</a:t>
            </a:r>
          </a:p>
          <a:p>
            <a:pPr indent="-514350" marL="514350">
              <a:buFont typeface="+mj-lt"/>
              <a:buAutoNum type="alphaLcPeriod"/>
            </a:pPr>
            <a:r>
              <a:rPr dirty="0" lang="en-US" smtClean="0"/>
              <a:t>Teach pt to manage immobilizing devices &amp; how to protect joint from injury.</a:t>
            </a:r>
          </a:p>
        </p:txBody>
      </p:sp>
    </p:spTree>
  </p:cSld>
  <p:clrMapOvr>
    <a:masterClrMapping/>
  </p:clrMapOvr>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346" name=""/>
        <p:cNvGrpSpPr/>
        <p:nvPr/>
      </p:nvGrpSpPr>
      <p:grpSpPr>
        <a:xfrm>
          <a:off x="0" y="0"/>
          <a:ext cx="0" cy="0"/>
          <a:chOff x="0" y="0"/>
          <a:chExt cx="0" cy="0"/>
        </a:xfrm>
      </p:grpSpPr>
      <p:sp>
        <p:nvSpPr>
          <p:cNvPr id="1048850" name="Content Placeholder 2"/>
          <p:cNvSpPr>
            <a:spLocks noGrp="1"/>
          </p:cNvSpPr>
          <p:nvPr>
            <p:ph type="body" idx="1"/>
          </p:nvPr>
        </p:nvSpPr>
        <p:spPr/>
        <p:txBody>
          <a:bodyPr>
            <a:normAutofit/>
          </a:bodyPr>
          <a:p>
            <a:pPr indent="-457200" marL="457200">
              <a:buFont typeface="Wingdings" panose="05000000000000000000" pitchFamily="2" charset="2"/>
              <a:buChar char="q"/>
            </a:pPr>
            <a:endParaRPr dirty="0" sz="3600" lang="en-US" smtClean="0"/>
          </a:p>
        </p:txBody>
      </p:sp>
      <p:sp>
        <p:nvSpPr>
          <p:cNvPr id="1048851" name="Title 1"/>
          <p:cNvSpPr>
            <a:spLocks noGrp="1"/>
          </p:cNvSpPr>
          <p:nvPr>
            <p:ph type="title"/>
          </p:nvPr>
        </p:nvSpPr>
        <p:spPr/>
        <p:txBody>
          <a:bodyPr>
            <a:noAutofit/>
          </a:bodyPr>
          <a:p>
            <a:pPr algn="ctr"/>
            <a:r>
              <a:rPr dirty="0" sz="11500" lang="en-US" smtClean="0">
                <a:solidFill>
                  <a:schemeClr val="tx1"/>
                </a:solidFill>
              </a:rPr>
              <a:t>FRACTURES</a:t>
            </a:r>
            <a:r>
              <a:rPr dirty="0" sz="4800" lang="en-US" smtClean="0"/>
              <a:t> </a:t>
            </a:r>
            <a:endParaRPr dirty="0" sz="4800" lang="en-US"/>
          </a:p>
        </p:txBody>
      </p:sp>
    </p:spTree>
  </p:cSld>
  <p:clrMapOvr>
    <a:masterClrMapping/>
  </p:clrMapOvr>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348" name=""/>
        <p:cNvGrpSpPr/>
        <p:nvPr/>
      </p:nvGrpSpPr>
      <p:grpSpPr>
        <a:xfrm>
          <a:off x="0" y="0"/>
          <a:ext cx="0" cy="0"/>
          <a:chOff x="0" y="0"/>
          <a:chExt cx="0" cy="0"/>
        </a:xfrm>
      </p:grpSpPr>
      <p:sp>
        <p:nvSpPr>
          <p:cNvPr id="1048854" name="Content Placeholder 2"/>
          <p:cNvSpPr>
            <a:spLocks noGrp="1"/>
          </p:cNvSpPr>
          <p:nvPr>
            <p:ph sz="quarter" idx="1"/>
          </p:nvPr>
        </p:nvSpPr>
        <p:spPr>
          <a:xfrm>
            <a:off x="152400" y="304800"/>
            <a:ext cx="8839200" cy="6324600"/>
          </a:xfrm>
          <a:solidFill>
            <a:schemeClr val="bg1"/>
          </a:solidFill>
        </p:spPr>
        <p:txBody>
          <a:bodyPr>
            <a:normAutofit/>
          </a:bodyPr>
          <a:p>
            <a:pPr indent="0" marL="0">
              <a:buNone/>
            </a:pPr>
            <a:r>
              <a:rPr b="1" dirty="0" sz="3200" lang="en-US" smtClean="0"/>
              <a:t>DEFINITION</a:t>
            </a:r>
          </a:p>
          <a:p>
            <a:pPr indent="-457200" marL="457200">
              <a:buFont typeface="Wingdings" panose="05000000000000000000" pitchFamily="2" charset="2"/>
              <a:buChar char="q"/>
            </a:pPr>
            <a:r>
              <a:rPr dirty="0" sz="3200" lang="en-US" smtClean="0"/>
              <a:t>A </a:t>
            </a:r>
            <a:r>
              <a:rPr dirty="0" sz="3200" lang="en-US"/>
              <a:t>disruption or break in the continuity of the bone.</a:t>
            </a:r>
          </a:p>
          <a:p>
            <a:pPr indent="-457200" marL="457200">
              <a:buFont typeface="Wingdings" panose="05000000000000000000" pitchFamily="2" charset="2"/>
              <a:buChar char="q"/>
            </a:pPr>
            <a:r>
              <a:rPr dirty="0" sz="3200" lang="en-US"/>
              <a:t>Usually as a result of a traumatic injury</a:t>
            </a:r>
          </a:p>
          <a:p>
            <a:pPr indent="0" marL="0">
              <a:buNone/>
            </a:pPr>
            <a:endParaRPr b="1" dirty="0" lang="en-US" smtClean="0"/>
          </a:p>
          <a:p>
            <a:pPr indent="0" marL="0">
              <a:buNone/>
            </a:pPr>
            <a:r>
              <a:rPr b="1" dirty="0" lang="en-US" smtClean="0"/>
              <a:t>Characteristics </a:t>
            </a:r>
            <a:r>
              <a:rPr b="1" dirty="0" lang="en-US"/>
              <a:t>of bones in children affecting fracture &amp; fracture healing</a:t>
            </a:r>
            <a:r>
              <a:rPr b="1" dirty="0" lang="en-US" smtClean="0"/>
              <a:t>.</a:t>
            </a:r>
          </a:p>
          <a:p>
            <a:pPr indent="0" marL="0">
              <a:buNone/>
            </a:pPr>
            <a:endParaRPr dirty="0" lang="en-US" smtClean="0"/>
          </a:p>
          <a:p>
            <a:pPr indent="-514350" marL="514350">
              <a:buFont typeface="+mj-lt"/>
              <a:buAutoNum type="alphaLcParenR"/>
            </a:pPr>
            <a:r>
              <a:rPr dirty="0" lang="en-US"/>
              <a:t>Presence of epiphyseal plate; if </a:t>
            </a:r>
            <a:r>
              <a:rPr dirty="0" lang="en-US" smtClean="0"/>
              <a:t>damaged, may </a:t>
            </a:r>
            <a:r>
              <a:rPr dirty="0" lang="en-US"/>
              <a:t>affect the growth of the long bone</a:t>
            </a:r>
            <a:r>
              <a:rPr dirty="0" lang="en-US" smtClean="0"/>
              <a:t>.</a:t>
            </a:r>
          </a:p>
          <a:p>
            <a:pPr indent="-514350" marL="514350">
              <a:buFont typeface="+mj-lt"/>
              <a:buAutoNum type="alphaLcParenR"/>
            </a:pPr>
            <a:r>
              <a:rPr dirty="0" lang="en-US" smtClean="0"/>
              <a:t>Periosteum is thicker &amp; stronger &amp; has an increased blood supply; therefore healing is more rapid.</a:t>
            </a:r>
          </a:p>
          <a:p>
            <a:pPr indent="-514350" marL="514350">
              <a:buFont typeface="+mj-lt"/>
              <a:buAutoNum type="alphaLcParenR"/>
            </a:pPr>
            <a:r>
              <a:rPr dirty="0" lang="en-US" smtClean="0"/>
              <a:t>Bones are more porous &amp; allow for greater flexibility.</a:t>
            </a:r>
          </a:p>
          <a:p>
            <a:pPr indent="-571500" marL="571500">
              <a:buNone/>
            </a:pPr>
            <a:endParaRPr dirty="0" lang="en-US"/>
          </a:p>
        </p:txBody>
      </p:sp>
    </p:spTree>
  </p:cSld>
  <p:clrMapOvr>
    <a:masterClrMapping/>
  </p:clrMapOvr>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349" name=""/>
        <p:cNvGrpSpPr/>
        <p:nvPr/>
      </p:nvGrpSpPr>
      <p:grpSpPr>
        <a:xfrm>
          <a:off x="0" y="0"/>
          <a:ext cx="0" cy="0"/>
          <a:chOff x="0" y="0"/>
          <a:chExt cx="0" cy="0"/>
        </a:xfrm>
      </p:grpSpPr>
      <p:sp>
        <p:nvSpPr>
          <p:cNvPr id="1048855" name="Title 1"/>
          <p:cNvSpPr>
            <a:spLocks noGrp="1"/>
          </p:cNvSpPr>
          <p:nvPr>
            <p:ph type="title"/>
          </p:nvPr>
        </p:nvSpPr>
        <p:spPr/>
        <p:txBody>
          <a:bodyPr/>
          <a:p>
            <a:r>
              <a:rPr b="1" dirty="0" lang="en-US"/>
              <a:t>CLASSIFICATION OF FRACTURES</a:t>
            </a:r>
          </a:p>
        </p:txBody>
      </p:sp>
      <p:sp>
        <p:nvSpPr>
          <p:cNvPr id="1048856" name="Content Placeholder 2"/>
          <p:cNvSpPr>
            <a:spLocks noGrp="1"/>
          </p:cNvSpPr>
          <p:nvPr>
            <p:ph sz="quarter" idx="1"/>
          </p:nvPr>
        </p:nvSpPr>
        <p:spPr>
          <a:xfrm>
            <a:off x="304800" y="1295400"/>
            <a:ext cx="8686800" cy="5410200"/>
          </a:xfrm>
        </p:spPr>
        <p:txBody>
          <a:bodyPr>
            <a:normAutofit/>
          </a:bodyPr>
          <a:p>
            <a:pPr indent="-514350" marL="514350">
              <a:buFont typeface="+mj-lt"/>
              <a:buAutoNum type="arabicPeriod"/>
            </a:pPr>
            <a:r>
              <a:rPr b="1" dirty="0" sz="3200" lang="en-US" u="sng" smtClean="0"/>
              <a:t>According </a:t>
            </a:r>
            <a:r>
              <a:rPr b="1" dirty="0" sz="3200" lang="en-US" u="sng"/>
              <a:t>to pattern of fracture</a:t>
            </a:r>
          </a:p>
          <a:p>
            <a:pPr indent="-514350" lvl="1" marL="834390">
              <a:buFont typeface="+mj-lt"/>
              <a:buAutoNum type="alphaLcParenR"/>
            </a:pPr>
            <a:r>
              <a:rPr b="1" dirty="0" sz="2800" lang="en-US"/>
              <a:t>Complete:</a:t>
            </a:r>
            <a:r>
              <a:rPr dirty="0" sz="2800" lang="en-US"/>
              <a:t> fracture line extends through the entire bone; the </a:t>
            </a:r>
            <a:r>
              <a:rPr dirty="0" sz="2800" lang="en-US" err="1"/>
              <a:t>periosteum</a:t>
            </a:r>
            <a:r>
              <a:rPr dirty="0" sz="2800" lang="en-US"/>
              <a:t> is disrupted on </a:t>
            </a:r>
            <a:r>
              <a:rPr dirty="0" sz="2800" lang="en-US" smtClean="0"/>
              <a:t>both sides of the bone.</a:t>
            </a:r>
          </a:p>
          <a:p>
            <a:pPr indent="-514350" lvl="1" marL="834390">
              <a:buFont typeface="+mj-lt"/>
              <a:buAutoNum type="alphaLcParenR"/>
            </a:pPr>
            <a:r>
              <a:rPr b="1" dirty="0" sz="2800" lang="en-US" smtClean="0"/>
              <a:t>Incomplete</a:t>
            </a:r>
            <a:r>
              <a:rPr dirty="0" sz="2800" lang="en-US" smtClean="0"/>
              <a:t>: fracture line extends only partially through the bone (greenstick, hairline).</a:t>
            </a:r>
          </a:p>
          <a:p>
            <a:pPr indent="-514350" lvl="1" marL="834390">
              <a:buFont typeface="+mj-lt"/>
              <a:buAutoNum type="alphaLcParenR"/>
            </a:pPr>
            <a:r>
              <a:rPr b="1" dirty="0" sz="2800" lang="en-US"/>
              <a:t>C</a:t>
            </a:r>
            <a:r>
              <a:rPr b="1" dirty="0" sz="2800" lang="en-US" smtClean="0"/>
              <a:t>omminuted</a:t>
            </a:r>
            <a:r>
              <a:rPr dirty="0" sz="2800" lang="en-US" smtClean="0"/>
              <a:t>: fracture with multiple bone fragments; more common in adults.</a:t>
            </a:r>
          </a:p>
          <a:p>
            <a:pPr indent="-514350" lvl="1" marL="834390">
              <a:buFont typeface="+mj-lt"/>
              <a:buAutoNum type="alphaLcParenR"/>
            </a:pPr>
            <a:r>
              <a:rPr b="1" dirty="0" sz="2800" lang="en-US" smtClean="0"/>
              <a:t>Impacted:</a:t>
            </a:r>
            <a:r>
              <a:rPr dirty="0" sz="2800" lang="en-US" smtClean="0"/>
              <a:t> complete fracture in which bone fragments are driven into each other.</a:t>
            </a:r>
            <a:endParaRPr dirty="0" sz="2800" lang="en-US"/>
          </a:p>
        </p:txBody>
      </p:sp>
    </p:spTree>
  </p:cSld>
  <p:clrMapOvr>
    <a:masterClrMapping/>
  </p:clrMapOvr>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350" name=""/>
        <p:cNvGrpSpPr/>
        <p:nvPr/>
      </p:nvGrpSpPr>
      <p:grpSpPr>
        <a:xfrm>
          <a:off x="0" y="0"/>
          <a:ext cx="0" cy="0"/>
          <a:chOff x="0" y="0"/>
          <a:chExt cx="0" cy="0"/>
        </a:xfrm>
      </p:grpSpPr>
      <p:sp>
        <p:nvSpPr>
          <p:cNvPr id="1048857" name="Title 1"/>
          <p:cNvSpPr>
            <a:spLocks noGrp="1"/>
          </p:cNvSpPr>
          <p:nvPr>
            <p:ph type="title"/>
          </p:nvPr>
        </p:nvSpPr>
        <p:spPr/>
        <p:txBody>
          <a:bodyPr/>
          <a:p>
            <a:r>
              <a:rPr dirty="0" lang="en-US" smtClean="0"/>
              <a:t>FRACTURES</a:t>
            </a:r>
            <a:endParaRPr dirty="0" lang="en-US"/>
          </a:p>
        </p:txBody>
      </p:sp>
      <p:pic>
        <p:nvPicPr>
          <p:cNvPr id="2097166" name="Content Placeholder 3"/>
          <p:cNvPicPr>
            <a:picLocks noGrp="1"/>
          </p:cNvPicPr>
          <p:nvPr>
            <p:ph sz="quarter" idx="1"/>
          </p:nvPr>
        </p:nvPicPr>
        <p:blipFill rotWithShape="1">
          <a:blip xmlns:r="http://schemas.openxmlformats.org/officeDocument/2006/relationships" r:embed="rId1" cstate="print"/>
          <a:srcRect l="8411"/>
          <a:stretch>
            <a:fillRect/>
          </a:stretch>
        </p:blipFill>
        <p:spPr bwMode="auto">
          <a:xfrm>
            <a:off x="304800" y="1447800"/>
            <a:ext cx="8305800" cy="4343399"/>
          </a:xfrm>
          <a:prstGeom prst="rect"/>
          <a:noFill/>
          <a:ln w="9525">
            <a:noFill/>
            <a:miter lim="800000"/>
            <a:headEnd/>
            <a:tailEnd/>
          </a:ln>
        </p:spPr>
      </p:pic>
    </p:spTree>
  </p:cSld>
  <p:clrMapOvr>
    <a:masterClrMapping/>
  </p:clrMapOvr>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351" name=""/>
        <p:cNvGrpSpPr/>
        <p:nvPr/>
      </p:nvGrpSpPr>
      <p:grpSpPr>
        <a:xfrm>
          <a:off x="0" y="0"/>
          <a:ext cx="0" cy="0"/>
          <a:chOff x="0" y="0"/>
          <a:chExt cx="0" cy="0"/>
        </a:xfrm>
      </p:grpSpPr>
      <p:sp>
        <p:nvSpPr>
          <p:cNvPr id="1048858" name="Content Placeholder 2"/>
          <p:cNvSpPr>
            <a:spLocks noGrp="1"/>
          </p:cNvSpPr>
          <p:nvPr>
            <p:ph sz="quarter" idx="1"/>
          </p:nvPr>
        </p:nvSpPr>
        <p:spPr>
          <a:xfrm>
            <a:off x="0" y="304800"/>
            <a:ext cx="8915400" cy="5867400"/>
          </a:xfrm>
        </p:spPr>
        <p:txBody>
          <a:bodyPr>
            <a:normAutofit lnSpcReduction="10000"/>
          </a:bodyPr>
          <a:p>
            <a:pPr indent="-514350" marL="514350">
              <a:buFont typeface="+mj-lt"/>
              <a:buAutoNum type="arabicPeriod" startAt="2"/>
            </a:pPr>
            <a:r>
              <a:rPr b="1" dirty="0" sz="3600" lang="en-US" u="sng" smtClean="0"/>
              <a:t>According to location of the fracture</a:t>
            </a:r>
          </a:p>
          <a:p>
            <a:pPr indent="-514350" lvl="1" marL="834390">
              <a:buFont typeface="+mj-lt"/>
              <a:buAutoNum type="alphaLcParenR"/>
            </a:pPr>
            <a:r>
              <a:rPr dirty="0" sz="3200" lang="en-US" smtClean="0"/>
              <a:t>Proximal</a:t>
            </a:r>
            <a:endParaRPr dirty="0" sz="3200" lang="en-US"/>
          </a:p>
          <a:p>
            <a:pPr indent="-514350" lvl="1" marL="834390">
              <a:buFont typeface="+mj-lt"/>
              <a:buAutoNum type="alphaLcParenR"/>
            </a:pPr>
            <a:r>
              <a:rPr dirty="0" sz="3200" lang="en-US" smtClean="0"/>
              <a:t>Middle</a:t>
            </a:r>
            <a:endParaRPr dirty="0" sz="3200" lang="en-US"/>
          </a:p>
          <a:p>
            <a:pPr indent="-514350" lvl="1" marL="834390">
              <a:buFont typeface="+mj-lt"/>
              <a:buAutoNum type="alphaLcParenR"/>
            </a:pPr>
            <a:r>
              <a:rPr dirty="0" sz="3200" lang="en-US" smtClean="0"/>
              <a:t>Distal</a:t>
            </a:r>
            <a:endParaRPr dirty="0" sz="3200" lang="en-US"/>
          </a:p>
          <a:p>
            <a:pPr indent="-514350" marL="514350">
              <a:buFont typeface="+mj-lt"/>
              <a:buAutoNum type="arabicPeriod" startAt="3"/>
            </a:pPr>
            <a:r>
              <a:rPr b="1" dirty="0" sz="3600" lang="en-US" u="sng" smtClean="0"/>
              <a:t>Stable </a:t>
            </a:r>
            <a:r>
              <a:rPr b="1" dirty="0" sz="3600" lang="en-US" err="1" u="sng" smtClean="0"/>
              <a:t>vs</a:t>
            </a:r>
            <a:r>
              <a:rPr b="1" dirty="0" sz="3600" lang="en-US" u="sng" smtClean="0"/>
              <a:t> </a:t>
            </a:r>
            <a:r>
              <a:rPr b="1" dirty="0" sz="3600" lang="en-US" u="sng"/>
              <a:t>U</a:t>
            </a:r>
            <a:r>
              <a:rPr b="1" dirty="0" sz="3600" lang="en-US" u="sng" smtClean="0"/>
              <a:t>nstable fractures.</a:t>
            </a:r>
          </a:p>
          <a:p>
            <a:pPr indent="-514350" lvl="1" marL="834390">
              <a:buAutoNum type="alphaLcParenR"/>
            </a:pPr>
            <a:r>
              <a:rPr b="1" dirty="0" sz="3200" lang="en-US" smtClean="0"/>
              <a:t>Stable:</a:t>
            </a:r>
            <a:r>
              <a:rPr dirty="0" sz="3200" lang="en-US" smtClean="0"/>
              <a:t> a portion of the </a:t>
            </a:r>
            <a:r>
              <a:rPr dirty="0" sz="3200" lang="en-US" err="1" smtClean="0"/>
              <a:t>periosteum</a:t>
            </a:r>
            <a:r>
              <a:rPr dirty="0" sz="3200" lang="en-US" smtClean="0"/>
              <a:t> remains intact; frequently transverse, spiral or greenstick fractures.</a:t>
            </a:r>
          </a:p>
          <a:p>
            <a:pPr indent="-514350" lvl="1" marL="834390">
              <a:buAutoNum type="alphaLcParenR"/>
            </a:pPr>
            <a:r>
              <a:rPr b="1" dirty="0" sz="3200" lang="en-US" smtClean="0"/>
              <a:t>Unstable:</a:t>
            </a:r>
            <a:r>
              <a:rPr dirty="0" sz="3200" lang="en-US" smtClean="0"/>
              <a:t> bones are displaced at the time of injury, with poor approximation; frequently comminuted or impacted.</a:t>
            </a:r>
            <a:endParaRPr dirty="0" sz="3200" lang="en-US"/>
          </a:p>
        </p:txBody>
      </p:sp>
    </p:spTree>
  </p:cSld>
  <p:clrMapOvr>
    <a:masterClrMapping/>
  </p:clrMapOvr>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352" name=""/>
        <p:cNvGrpSpPr/>
        <p:nvPr/>
      </p:nvGrpSpPr>
      <p:grpSpPr>
        <a:xfrm>
          <a:off x="0" y="0"/>
          <a:ext cx="0" cy="0"/>
          <a:chOff x="0" y="0"/>
          <a:chExt cx="0" cy="0"/>
        </a:xfrm>
      </p:grpSpPr>
      <p:sp>
        <p:nvSpPr>
          <p:cNvPr id="1048859" name="Content Placeholder 2"/>
          <p:cNvSpPr>
            <a:spLocks noGrp="1"/>
          </p:cNvSpPr>
          <p:nvPr>
            <p:ph sz="quarter" idx="1"/>
          </p:nvPr>
        </p:nvSpPr>
        <p:spPr>
          <a:xfrm>
            <a:off x="152400" y="381000"/>
            <a:ext cx="8839200" cy="5943600"/>
          </a:xfrm>
        </p:spPr>
        <p:txBody>
          <a:bodyPr>
            <a:normAutofit/>
          </a:bodyPr>
          <a:p>
            <a:pPr indent="-514350" marL="514350">
              <a:buFont typeface="+mj-lt"/>
              <a:buAutoNum type="arabicPeriod" startAt="4"/>
            </a:pPr>
            <a:r>
              <a:rPr b="1" dirty="0" lang="en-US" u="sng" smtClean="0"/>
              <a:t>Simple </a:t>
            </a:r>
            <a:r>
              <a:rPr b="1" dirty="0" lang="en-US" err="1" u="sng" smtClean="0"/>
              <a:t>vs</a:t>
            </a:r>
            <a:r>
              <a:rPr b="1" dirty="0" lang="en-US" u="sng" smtClean="0"/>
              <a:t> Complex fractures.</a:t>
            </a:r>
          </a:p>
          <a:p>
            <a:pPr indent="-514350" lvl="1" marL="834390">
              <a:buFont typeface="+mj-lt"/>
              <a:buAutoNum type="alphaLcParenR"/>
            </a:pPr>
            <a:r>
              <a:rPr b="1" dirty="0" lang="en-US" smtClean="0"/>
              <a:t>Simple, closed fracture</a:t>
            </a:r>
            <a:r>
              <a:rPr dirty="0" lang="en-US" smtClean="0"/>
              <a:t>: does not produce a break in the skin.</a:t>
            </a:r>
          </a:p>
          <a:p>
            <a:pPr indent="-514350" lvl="1" marL="834390">
              <a:buFont typeface="+mj-lt"/>
              <a:buAutoNum type="alphaLcParenR"/>
            </a:pPr>
            <a:r>
              <a:rPr b="1" dirty="0" lang="en-US" smtClean="0"/>
              <a:t>Complex, open or compound fracture</a:t>
            </a:r>
            <a:r>
              <a:rPr dirty="0" lang="en-US" smtClean="0"/>
              <a:t>: involves an open wound through which the bone has protruded</a:t>
            </a:r>
          </a:p>
          <a:p>
            <a:pPr indent="-514350" marL="514350">
              <a:buFont typeface="+mj-lt"/>
              <a:buAutoNum type="arabicPeriod" startAt="5"/>
            </a:pPr>
            <a:r>
              <a:rPr b="1" dirty="0" lang="en-US" u="sng" smtClean="0"/>
              <a:t>Anatomic location (</a:t>
            </a:r>
            <a:r>
              <a:rPr b="1" dirty="0" lang="en-US" err="1" u="sng" smtClean="0"/>
              <a:t>colles</a:t>
            </a:r>
            <a:r>
              <a:rPr b="1" dirty="0" lang="en-US" u="sng" smtClean="0"/>
              <a:t> &amp; </a:t>
            </a:r>
            <a:r>
              <a:rPr b="1" dirty="0" lang="en-US" err="1" u="sng" smtClean="0"/>
              <a:t>potts</a:t>
            </a:r>
            <a:r>
              <a:rPr b="1" dirty="0" lang="en-US" u="sng" smtClean="0"/>
              <a:t> fractures)</a:t>
            </a:r>
          </a:p>
          <a:p>
            <a:pPr indent="-514350" lvl="1" marL="834390">
              <a:buAutoNum type="alphaLcParenR"/>
            </a:pPr>
            <a:r>
              <a:rPr b="1" dirty="0" lang="en-US" err="1" smtClean="0"/>
              <a:t>Colles</a:t>
            </a:r>
            <a:r>
              <a:rPr b="1" dirty="0" lang="en-US" smtClean="0"/>
              <a:t>’: </a:t>
            </a:r>
            <a:r>
              <a:rPr dirty="0" lang="en-US" smtClean="0"/>
              <a:t>fracture within the last inch of the distal radius, distal fragment is displaced in </a:t>
            </a:r>
            <a:r>
              <a:rPr dirty="0" lang="en-US"/>
              <a:t>a position of dorsal &amp; medial </a:t>
            </a:r>
            <a:r>
              <a:rPr dirty="0" lang="en-US" smtClean="0"/>
              <a:t>deviation.</a:t>
            </a:r>
          </a:p>
          <a:p>
            <a:pPr indent="-514350" lvl="1" marL="834390">
              <a:buAutoNum type="alphaLcParenR"/>
            </a:pPr>
            <a:r>
              <a:rPr b="1" dirty="0" lang="en-US" smtClean="0"/>
              <a:t>Potts</a:t>
            </a:r>
            <a:r>
              <a:rPr b="1" dirty="0" lang="en-US"/>
              <a:t>’: </a:t>
            </a:r>
            <a:r>
              <a:rPr dirty="0" lang="en-US"/>
              <a:t>fracture of distal fibula, seriously disrupting the </a:t>
            </a:r>
            <a:r>
              <a:rPr dirty="0" lang="en-US" err="1" smtClean="0"/>
              <a:t>tibio</a:t>
            </a:r>
            <a:r>
              <a:rPr dirty="0" lang="en-US" smtClean="0"/>
              <a:t>-fibular </a:t>
            </a:r>
            <a:r>
              <a:rPr dirty="0" lang="en-US"/>
              <a:t>articulation, a piece of medial </a:t>
            </a:r>
            <a:r>
              <a:rPr dirty="0" lang="en-US" err="1"/>
              <a:t>melleolus</a:t>
            </a:r>
            <a:r>
              <a:rPr dirty="0" lang="en-US"/>
              <a:t> may be chipped off as a result of rupture of internal ligaments.</a:t>
            </a:r>
          </a:p>
        </p:txBody>
      </p:sp>
    </p:spTree>
  </p:cSld>
  <p:clrMapOvr>
    <a:masterClrMapping/>
  </p:clrMapOvr>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353" name=""/>
        <p:cNvGrpSpPr/>
        <p:nvPr/>
      </p:nvGrpSpPr>
      <p:grpSpPr>
        <a:xfrm>
          <a:off x="0" y="0"/>
          <a:ext cx="0" cy="0"/>
          <a:chOff x="0" y="0"/>
          <a:chExt cx="0" cy="0"/>
        </a:xfrm>
      </p:grpSpPr>
      <p:sp>
        <p:nvSpPr>
          <p:cNvPr id="1048860" name="Title 1"/>
          <p:cNvSpPr>
            <a:spLocks noGrp="1"/>
          </p:cNvSpPr>
          <p:nvPr>
            <p:ph type="title"/>
          </p:nvPr>
        </p:nvSpPr>
        <p:spPr/>
        <p:txBody>
          <a:bodyPr/>
          <a:p>
            <a:r>
              <a:rPr dirty="0" lang="en-US" smtClean="0"/>
              <a:t>FRACTURE</a:t>
            </a:r>
            <a:endParaRPr dirty="0" lang="en-US"/>
          </a:p>
        </p:txBody>
      </p:sp>
      <p:pic>
        <p:nvPicPr>
          <p:cNvPr id="2097167"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609600" y="1600200"/>
            <a:ext cx="7848600" cy="4648200"/>
          </a:xfrm>
          <a:prstGeom prst="rect"/>
          <a:noFill/>
          <a:ln w="9525">
            <a:noFill/>
            <a:miter lim="800000"/>
            <a:headEnd/>
            <a:tailEnd/>
          </a:ln>
        </p:spPr>
      </p:pic>
    </p:spTree>
  </p:cSld>
  <p:clrMapOvr>
    <a:masterClrMapping/>
  </p:clrMapOvr>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354" name=""/>
        <p:cNvGrpSpPr/>
        <p:nvPr/>
      </p:nvGrpSpPr>
      <p:grpSpPr>
        <a:xfrm>
          <a:off x="0" y="0"/>
          <a:ext cx="0" cy="0"/>
          <a:chOff x="0" y="0"/>
          <a:chExt cx="0" cy="0"/>
        </a:xfrm>
      </p:grpSpPr>
      <p:sp>
        <p:nvSpPr>
          <p:cNvPr id="1048861" name="Title 1"/>
          <p:cNvSpPr>
            <a:spLocks noGrp="1"/>
          </p:cNvSpPr>
          <p:nvPr>
            <p:ph type="title"/>
          </p:nvPr>
        </p:nvSpPr>
        <p:spPr/>
        <p:txBody>
          <a:bodyPr/>
          <a:p>
            <a:r>
              <a:rPr b="1" dirty="0" lang="en-US"/>
              <a:t>RISK FACTORS</a:t>
            </a:r>
          </a:p>
        </p:txBody>
      </p:sp>
      <p:sp>
        <p:nvSpPr>
          <p:cNvPr id="1048862" name="Content Placeholder 2"/>
          <p:cNvSpPr>
            <a:spLocks noGrp="1"/>
          </p:cNvSpPr>
          <p:nvPr>
            <p:ph sz="quarter" idx="1"/>
          </p:nvPr>
        </p:nvSpPr>
        <p:spPr>
          <a:xfrm>
            <a:off x="304800" y="1371600"/>
            <a:ext cx="8435848" cy="4876800"/>
          </a:xfrm>
        </p:spPr>
        <p:txBody>
          <a:bodyPr>
            <a:normAutofit/>
          </a:bodyPr>
          <a:p>
            <a:pPr indent="-514350" marL="514350">
              <a:buAutoNum type="arabicPeriod"/>
            </a:pPr>
            <a:r>
              <a:rPr dirty="0" sz="3200" lang="en-US" smtClean="0"/>
              <a:t>Pathological fractures: osteoporosis, multiple myeloma, </a:t>
            </a:r>
            <a:r>
              <a:rPr dirty="0" sz="3200" lang="en-US" err="1" smtClean="0"/>
              <a:t>osteogenic</a:t>
            </a:r>
            <a:r>
              <a:rPr dirty="0" sz="3200" lang="en-US" smtClean="0"/>
              <a:t> sarcoma, metabolic diseases.</a:t>
            </a:r>
          </a:p>
          <a:p>
            <a:pPr indent="-514350" marL="514350">
              <a:buAutoNum type="arabicPeriod"/>
            </a:pPr>
            <a:r>
              <a:rPr dirty="0" sz="3200" lang="en-US" smtClean="0"/>
              <a:t>Trauma</a:t>
            </a:r>
            <a:endParaRPr dirty="0" sz="3200" lang="en-US"/>
          </a:p>
          <a:p>
            <a:pPr indent="-514350" marL="514350">
              <a:buAutoNum type="arabicPeriod" startAt="3"/>
            </a:pPr>
            <a:r>
              <a:rPr dirty="0" sz="3200" lang="en-US"/>
              <a:t>Congenital conditions </a:t>
            </a:r>
          </a:p>
          <a:p>
            <a:pPr indent="-514350" marL="514350">
              <a:buAutoNum type="arabicPeriod" startAt="3"/>
            </a:pPr>
            <a:r>
              <a:rPr dirty="0" sz="3200" lang="en-US" smtClean="0"/>
              <a:t>Spontaneous</a:t>
            </a:r>
            <a:endParaRPr dirty="0" sz="3200" lang="en-US"/>
          </a:p>
        </p:txBody>
      </p:sp>
    </p:spTree>
  </p:cSld>
  <p:clrMapOvr>
    <a:masterClrMapping/>
  </p:clrMapOvr>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355" name=""/>
        <p:cNvGrpSpPr/>
        <p:nvPr/>
      </p:nvGrpSpPr>
      <p:grpSpPr>
        <a:xfrm>
          <a:off x="0" y="0"/>
          <a:ext cx="0" cy="0"/>
          <a:chOff x="0" y="0"/>
          <a:chExt cx="0" cy="0"/>
        </a:xfrm>
      </p:grpSpPr>
      <p:sp>
        <p:nvSpPr>
          <p:cNvPr id="1048863" name="Title 1"/>
          <p:cNvSpPr>
            <a:spLocks noGrp="1"/>
          </p:cNvSpPr>
          <p:nvPr>
            <p:ph type="title"/>
          </p:nvPr>
        </p:nvSpPr>
        <p:spPr/>
        <p:txBody>
          <a:bodyPr/>
          <a:p>
            <a:r>
              <a:rPr b="1" dirty="0" lang="en-US"/>
              <a:t>CLINICAL MANIFESTATIONS</a:t>
            </a:r>
          </a:p>
        </p:txBody>
      </p:sp>
      <p:sp>
        <p:nvSpPr>
          <p:cNvPr id="1048864" name="Content Placeholder 2"/>
          <p:cNvSpPr>
            <a:spLocks noGrp="1"/>
          </p:cNvSpPr>
          <p:nvPr>
            <p:ph sz="quarter" idx="1"/>
          </p:nvPr>
        </p:nvSpPr>
        <p:spPr>
          <a:xfrm>
            <a:off x="228600" y="1143000"/>
            <a:ext cx="8458200" cy="5410200"/>
          </a:xfrm>
        </p:spPr>
        <p:txBody>
          <a:bodyPr>
            <a:normAutofit lnSpcReduction="10000"/>
          </a:bodyPr>
          <a:p>
            <a:pPr indent="-514350" marL="514350">
              <a:buFont typeface="+mj-lt"/>
              <a:buAutoNum type="arabicPeriod"/>
            </a:pPr>
            <a:r>
              <a:rPr dirty="0" lang="en-US"/>
              <a:t>Edema around the injured site</a:t>
            </a:r>
            <a:r>
              <a:rPr dirty="0" lang="en-US" smtClean="0"/>
              <a:t>.</a:t>
            </a:r>
          </a:p>
          <a:p>
            <a:pPr indent="-514350" marL="514350">
              <a:buFont typeface="+mj-lt"/>
              <a:buAutoNum type="arabicPeriod"/>
            </a:pPr>
            <a:r>
              <a:rPr dirty="0" lang="en-US" smtClean="0"/>
              <a:t>Severe pain</a:t>
            </a:r>
          </a:p>
          <a:p>
            <a:pPr indent="-514350" marL="514350">
              <a:buFont typeface="+mj-lt"/>
              <a:buAutoNum type="arabicPeriod"/>
            </a:pPr>
            <a:r>
              <a:rPr dirty="0" lang="en-US" smtClean="0"/>
              <a:t>Abnormal positioning of the extremity</a:t>
            </a:r>
          </a:p>
          <a:p>
            <a:pPr indent="-514350" marL="514350">
              <a:buFont typeface="+mj-lt"/>
              <a:buAutoNum type="arabicPeriod"/>
            </a:pPr>
            <a:r>
              <a:rPr dirty="0" lang="en-US" smtClean="0"/>
              <a:t>Loss of normal function</a:t>
            </a:r>
          </a:p>
          <a:p>
            <a:pPr indent="-514350" marL="514350">
              <a:buFont typeface="+mj-lt"/>
              <a:buAutoNum type="arabicPeriod"/>
            </a:pPr>
            <a:r>
              <a:rPr dirty="0" lang="en-US" smtClean="0"/>
              <a:t>False movement; movement occurs at the fracture site, bone should not move except at joints.</a:t>
            </a:r>
          </a:p>
          <a:p>
            <a:pPr indent="-514350" marL="514350">
              <a:buFont typeface="+mj-lt"/>
              <a:buAutoNum type="arabicPeriod"/>
            </a:pPr>
            <a:r>
              <a:rPr dirty="0" lang="en-US" smtClean="0"/>
              <a:t>Crepitation</a:t>
            </a:r>
            <a:r>
              <a:rPr dirty="0" lang="en-US"/>
              <a:t>: palpable or audible crunching as the ends of the bone rub </a:t>
            </a:r>
            <a:r>
              <a:rPr dirty="0" lang="en-US" smtClean="0"/>
              <a:t>together.</a:t>
            </a:r>
          </a:p>
          <a:p>
            <a:pPr indent="-514350" marL="514350">
              <a:buFont typeface="+mj-lt"/>
              <a:buAutoNum type="arabicPeriod"/>
            </a:pPr>
            <a:r>
              <a:rPr dirty="0" lang="en-US" err="1" smtClean="0"/>
              <a:t>Discolouration</a:t>
            </a:r>
            <a:r>
              <a:rPr dirty="0" lang="en-US" smtClean="0"/>
              <a:t> </a:t>
            </a:r>
            <a:r>
              <a:rPr dirty="0" lang="en-US"/>
              <a:t>of the skin around the affected </a:t>
            </a:r>
            <a:r>
              <a:rPr dirty="0" lang="en-US" smtClean="0"/>
              <a:t>area.</a:t>
            </a:r>
          </a:p>
          <a:p>
            <a:pPr indent="-514350" marL="514350">
              <a:buFont typeface="+mj-lt"/>
              <a:buAutoNum type="arabicPeriod"/>
            </a:pPr>
            <a:r>
              <a:rPr dirty="0" lang="en-US" smtClean="0"/>
              <a:t>Sensation </a:t>
            </a:r>
            <a:r>
              <a:rPr dirty="0" lang="en-US"/>
              <a:t>may be impaired if there is nerve damage.</a:t>
            </a:r>
          </a:p>
          <a:p>
            <a:pPr indent="-514350" marL="514350">
              <a:buFont typeface="+mj-lt"/>
              <a:buAutoNum type="arabicPeriod"/>
            </a:pPr>
            <a:endParaRPr dirty="0" lang="en-US" smtClean="0"/>
          </a:p>
          <a:p>
            <a:pPr indent="-514350" marL="514350">
              <a:buFont typeface="+mj-lt"/>
              <a:buAutoNum type="arabicPeriod"/>
            </a:pPr>
            <a:endParaRPr dirty="0" lang="en-US"/>
          </a:p>
        </p:txBody>
      </p:sp>
    </p:spTree>
  </p:cSld>
  <p:clrMapOvr>
    <a:masterClrMapping/>
  </p:clrMapOvr>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356" name=""/>
        <p:cNvGrpSpPr/>
        <p:nvPr/>
      </p:nvGrpSpPr>
      <p:grpSpPr>
        <a:xfrm>
          <a:off x="0" y="0"/>
          <a:ext cx="0" cy="0"/>
          <a:chOff x="0" y="0"/>
          <a:chExt cx="0" cy="0"/>
        </a:xfrm>
      </p:grpSpPr>
      <p:sp>
        <p:nvSpPr>
          <p:cNvPr id="1048865" name="Title 1"/>
          <p:cNvSpPr>
            <a:spLocks noGrp="1"/>
          </p:cNvSpPr>
          <p:nvPr>
            <p:ph type="title"/>
          </p:nvPr>
        </p:nvSpPr>
        <p:spPr/>
        <p:txBody>
          <a:bodyPr/>
          <a:p>
            <a:pPr indent="-514350" marL="514350"/>
            <a:r>
              <a:rPr b="1" dirty="0" lang="en-US"/>
              <a:t>DIAGNOSTICS</a:t>
            </a:r>
          </a:p>
        </p:txBody>
      </p:sp>
      <p:sp>
        <p:nvSpPr>
          <p:cNvPr id="1048866" name="Content Placeholder 2"/>
          <p:cNvSpPr>
            <a:spLocks noGrp="1"/>
          </p:cNvSpPr>
          <p:nvPr>
            <p:ph sz="quarter" idx="1"/>
          </p:nvPr>
        </p:nvSpPr>
        <p:spPr/>
        <p:txBody>
          <a:bodyPr>
            <a:normAutofit/>
          </a:bodyPr>
          <a:p>
            <a:pPr indent="-514350" marL="514350">
              <a:buFont typeface="+mj-lt"/>
              <a:buAutoNum type="arabicPeriod"/>
            </a:pPr>
            <a:r>
              <a:rPr dirty="0" lang="en-US" smtClean="0"/>
              <a:t>Clinical </a:t>
            </a:r>
            <a:r>
              <a:rPr dirty="0" lang="en-US"/>
              <a:t>manifestations &amp; history </a:t>
            </a:r>
            <a:endParaRPr dirty="0" lang="en-US" smtClean="0"/>
          </a:p>
          <a:p>
            <a:pPr indent="-514350" marL="514350">
              <a:buFont typeface="+mj-lt"/>
              <a:buAutoNum type="arabicPeriod"/>
            </a:pPr>
            <a:r>
              <a:rPr dirty="0" lang="en-US" smtClean="0"/>
              <a:t>X-ray film of involved area.</a:t>
            </a:r>
            <a:endParaRPr dirty="0" lang="en-US"/>
          </a:p>
        </p:txBody>
      </p:sp>
    </p:spTree>
  </p:cSld>
  <p:clrMapOvr>
    <a:masterClrMapping/>
  </p:clrMapOvr>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357" name=""/>
        <p:cNvGrpSpPr/>
        <p:nvPr/>
      </p:nvGrpSpPr>
      <p:grpSpPr>
        <a:xfrm>
          <a:off x="0" y="0"/>
          <a:ext cx="0" cy="0"/>
          <a:chOff x="0" y="0"/>
          <a:chExt cx="0" cy="0"/>
        </a:xfrm>
      </p:grpSpPr>
      <p:sp>
        <p:nvSpPr>
          <p:cNvPr id="1048867" name="Title 1"/>
          <p:cNvSpPr>
            <a:spLocks noGrp="1"/>
          </p:cNvSpPr>
          <p:nvPr>
            <p:ph type="title"/>
          </p:nvPr>
        </p:nvSpPr>
        <p:spPr/>
        <p:txBody>
          <a:bodyPr/>
          <a:p>
            <a:r>
              <a:rPr b="1" dirty="0" lang="en-US" smtClean="0"/>
              <a:t>MANAGEMENT </a:t>
            </a:r>
            <a:endParaRPr b="1" dirty="0" lang="en-US"/>
          </a:p>
        </p:txBody>
      </p:sp>
      <p:sp>
        <p:nvSpPr>
          <p:cNvPr id="1048868" name="Content Placeholder 2"/>
          <p:cNvSpPr>
            <a:spLocks noGrp="1"/>
          </p:cNvSpPr>
          <p:nvPr>
            <p:ph sz="quarter" idx="1"/>
          </p:nvPr>
        </p:nvSpPr>
        <p:spPr>
          <a:xfrm>
            <a:off x="152400" y="1371600"/>
            <a:ext cx="8839200" cy="4495800"/>
          </a:xfrm>
        </p:spPr>
        <p:txBody>
          <a:bodyPr>
            <a:normAutofit fontScale="92500" lnSpcReduction="10000"/>
          </a:bodyPr>
          <a:p>
            <a:pPr indent="-514350" marL="514350">
              <a:buAutoNum type="arabicPeriod"/>
            </a:pPr>
            <a:r>
              <a:rPr dirty="0" sz="3600" lang="en-US" smtClean="0"/>
              <a:t>IMMEDIATE IMMOBILIZATION</a:t>
            </a:r>
          </a:p>
          <a:p>
            <a:pPr lvl="1"/>
            <a:r>
              <a:rPr dirty="0" sz="3300" lang="en-US" smtClean="0"/>
              <a:t>Suspected fracture area restricted from moving.</a:t>
            </a:r>
          </a:p>
          <a:p>
            <a:pPr indent="-514350" marL="514350">
              <a:buAutoNum type="arabicPeriod"/>
            </a:pPr>
            <a:endParaRPr dirty="0" sz="3600" lang="en-US" smtClean="0"/>
          </a:p>
          <a:p>
            <a:pPr indent="-514350" marL="514350">
              <a:buAutoNum type="arabicPeriod"/>
            </a:pPr>
            <a:r>
              <a:rPr dirty="0" sz="3600" lang="en-US" smtClean="0"/>
              <a:t>FRACTURE REDUCTION</a:t>
            </a:r>
          </a:p>
          <a:p>
            <a:pPr indent="-514350" lvl="1" marL="834390">
              <a:buFont typeface="+mj-lt"/>
              <a:buAutoNum type="alphaLcParenR"/>
            </a:pPr>
            <a:r>
              <a:rPr b="1" dirty="0" sz="3200" lang="en-US" smtClean="0"/>
              <a:t>Closed reduction: </a:t>
            </a:r>
            <a:r>
              <a:rPr dirty="0" sz="3200" lang="en-US" smtClean="0"/>
              <a:t>nonsurgical, manual realignment of the bones, then injured extremity is placed in a cast for continued immobilization until healing occurs</a:t>
            </a:r>
            <a:r>
              <a:rPr dirty="0" sz="3200" lang="en-US"/>
              <a:t>. </a:t>
            </a:r>
            <a:endParaRPr dirty="0" sz="3200" lang="en-US" smtClean="0"/>
          </a:p>
          <a:p>
            <a:pPr indent="-514350" lvl="1" marL="834390">
              <a:buFont typeface="+mj-lt"/>
              <a:buAutoNum type="alphaLcParenR"/>
            </a:pPr>
            <a:r>
              <a:rPr b="1" dirty="0" sz="3200" lang="en-US" smtClean="0"/>
              <a:t>Open </a:t>
            </a:r>
            <a:r>
              <a:rPr b="1" dirty="0" sz="3200" lang="en-US"/>
              <a:t>reduction: </a:t>
            </a:r>
            <a:r>
              <a:rPr dirty="0" sz="3200" lang="en-US"/>
              <a:t>surgical correction of alignment.</a:t>
            </a:r>
          </a:p>
          <a:p>
            <a:pPr indent="-514350" marL="514350">
              <a:buFont typeface="+mj-lt"/>
              <a:buAutoNum type="alphaLcParenR"/>
            </a:pPr>
            <a:endParaRPr dirty="0" lang="en-US"/>
          </a:p>
        </p:txBody>
      </p:sp>
    </p:spTree>
  </p:cSld>
  <p:clrMapOvr>
    <a:masterClrMapping/>
  </p:clrMapOvr>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358" name=""/>
        <p:cNvGrpSpPr/>
        <p:nvPr/>
      </p:nvGrpSpPr>
      <p:grpSpPr>
        <a:xfrm>
          <a:off x="0" y="0"/>
          <a:ext cx="0" cy="0"/>
          <a:chOff x="0" y="0"/>
          <a:chExt cx="0" cy="0"/>
        </a:xfrm>
      </p:grpSpPr>
      <p:sp>
        <p:nvSpPr>
          <p:cNvPr id="1048869" name="Content Placeholder 2"/>
          <p:cNvSpPr>
            <a:spLocks noGrp="1"/>
          </p:cNvSpPr>
          <p:nvPr>
            <p:ph sz="quarter" idx="1"/>
          </p:nvPr>
        </p:nvSpPr>
        <p:spPr>
          <a:xfrm>
            <a:off x="228600" y="838200"/>
            <a:ext cx="8763000" cy="5638800"/>
          </a:xfrm>
        </p:spPr>
        <p:txBody>
          <a:bodyPr>
            <a:normAutofit lnSpcReduction="10000"/>
          </a:bodyPr>
          <a:p>
            <a:pPr indent="-514350" marL="514350">
              <a:buFont typeface="+mj-lt"/>
              <a:buAutoNum type="arabicPeriod" startAt="3"/>
            </a:pPr>
            <a:r>
              <a:rPr dirty="0" sz="3600" lang="en-US" smtClean="0"/>
              <a:t>FIXATION DEVICES</a:t>
            </a:r>
          </a:p>
          <a:p>
            <a:pPr indent="-514350" lvl="1" marL="834390">
              <a:buFont typeface="+mj-lt"/>
              <a:buAutoNum type="alphaLcParenR"/>
            </a:pPr>
            <a:r>
              <a:rPr b="1" dirty="0" sz="3200" lang="en-US" smtClean="0"/>
              <a:t>External fixation- </a:t>
            </a:r>
            <a:r>
              <a:rPr dirty="0" sz="3200" lang="en-US" smtClean="0"/>
              <a:t>application of a rigid external device consisting of pins placed through the bone &amp; held in place by a </a:t>
            </a:r>
            <a:r>
              <a:rPr dirty="0" sz="3200" lang="en-US" err="1" smtClean="0"/>
              <a:t>metalic</a:t>
            </a:r>
            <a:r>
              <a:rPr dirty="0" sz="3200" lang="en-US" smtClean="0"/>
              <a:t> frame, requires meticulous care of pin insertion site.</a:t>
            </a:r>
          </a:p>
          <a:p>
            <a:pPr indent="-514350" lvl="1" marL="834390">
              <a:buFont typeface="+mj-lt"/>
              <a:buAutoNum type="alphaLcParenR"/>
            </a:pPr>
            <a:r>
              <a:rPr b="1" dirty="0" sz="3200" lang="en-US"/>
              <a:t>Internal fixation </a:t>
            </a:r>
            <a:r>
              <a:rPr dirty="0" sz="3200" lang="en-US"/>
              <a:t>(ORIF open reduction, internal fixation): done through an open incision, &amp; a hardware (pins, plates, rods, screws) is placed in the bone.</a:t>
            </a:r>
          </a:p>
          <a:p>
            <a:pPr indent="-514350" lvl="1" marL="834390">
              <a:buFont typeface="+mj-lt"/>
              <a:buAutoNum type="alphaLcParenR"/>
            </a:pPr>
            <a:r>
              <a:rPr dirty="0" sz="3200" lang="en-US"/>
              <a:t>Both </a:t>
            </a:r>
            <a:r>
              <a:rPr dirty="0" sz="3200" lang="en-US" smtClean="0"/>
              <a:t>methods</a:t>
            </a:r>
          </a:p>
          <a:p>
            <a:pPr>
              <a:buNone/>
            </a:pPr>
            <a:endParaRPr dirty="0" lang="en-US"/>
          </a:p>
        </p:txBody>
      </p:sp>
    </p:spTree>
  </p:cSld>
  <p:clrMapOvr>
    <a:masterClrMapping/>
  </p:clrMapOvr>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359" name=""/>
        <p:cNvGrpSpPr/>
        <p:nvPr/>
      </p:nvGrpSpPr>
      <p:grpSpPr>
        <a:xfrm>
          <a:off x="0" y="0"/>
          <a:ext cx="0" cy="0"/>
          <a:chOff x="0" y="0"/>
          <a:chExt cx="0" cy="0"/>
        </a:xfrm>
      </p:grpSpPr>
      <p:sp>
        <p:nvSpPr>
          <p:cNvPr id="1048870" name="Title 1"/>
          <p:cNvSpPr>
            <a:spLocks noGrp="1"/>
          </p:cNvSpPr>
          <p:nvPr>
            <p:ph type="title"/>
          </p:nvPr>
        </p:nvSpPr>
        <p:spPr/>
        <p:txBody>
          <a:bodyPr/>
          <a:p>
            <a:r>
              <a:rPr dirty="0" lang="en-US" smtClean="0"/>
              <a:t>INTERNAL FIXATION DEVICES</a:t>
            </a:r>
            <a:endParaRPr dirty="0" lang="en-US"/>
          </a:p>
        </p:txBody>
      </p:sp>
      <p:pic>
        <p:nvPicPr>
          <p:cNvPr id="2097168"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381000" y="1524000"/>
            <a:ext cx="7696200" cy="5105400"/>
          </a:xfrm>
          <a:prstGeom prst="rect"/>
          <a:noFill/>
          <a:ln w="9525">
            <a:noFill/>
            <a:miter lim="800000"/>
            <a:headEnd/>
            <a:tailEnd/>
          </a:ln>
        </p:spPr>
      </p:pic>
    </p:spTree>
  </p:cSld>
  <p:clrMapOvr>
    <a:masterClrMapping/>
  </p:clrMapOvr>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360" name=""/>
        <p:cNvGrpSpPr/>
        <p:nvPr/>
      </p:nvGrpSpPr>
      <p:grpSpPr>
        <a:xfrm>
          <a:off x="0" y="0"/>
          <a:ext cx="0" cy="0"/>
          <a:chOff x="0" y="0"/>
          <a:chExt cx="0" cy="0"/>
        </a:xfrm>
      </p:grpSpPr>
      <p:sp>
        <p:nvSpPr>
          <p:cNvPr id="1048871" name="Title 1"/>
          <p:cNvSpPr>
            <a:spLocks noGrp="1"/>
          </p:cNvSpPr>
          <p:nvPr>
            <p:ph type="title"/>
          </p:nvPr>
        </p:nvSpPr>
        <p:spPr>
          <a:xfrm>
            <a:off x="457200" y="274638"/>
            <a:ext cx="8229600" cy="140147"/>
          </a:xfrm>
        </p:spPr>
        <p:txBody>
          <a:bodyPr>
            <a:normAutofit fontScale="90000"/>
          </a:bodyPr>
          <a:p>
            <a:r>
              <a:rPr dirty="0" lang="en-US"/>
              <a:t>INTERNAL FIXATION DEVICES</a:t>
            </a:r>
          </a:p>
        </p:txBody>
      </p:sp>
      <p:pic>
        <p:nvPicPr>
          <p:cNvPr id="2097169"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6253473" y="1376065"/>
            <a:ext cx="2859820" cy="4343400"/>
          </a:xfrm>
          <a:prstGeom prst="rect"/>
          <a:noFill/>
          <a:ln w="9525">
            <a:noFill/>
            <a:miter lim="800000"/>
            <a:headEnd/>
            <a:tailEnd/>
          </a:ln>
        </p:spPr>
      </p:pic>
      <p:pic>
        <p:nvPicPr>
          <p:cNvPr id="2097170" name="Picture 2"/>
          <p:cNvPicPr>
            <a:picLocks noChangeAspect="1"/>
          </p:cNvPicPr>
          <p:nvPr/>
        </p:nvPicPr>
        <p:blipFill>
          <a:blip xmlns:r="http://schemas.openxmlformats.org/officeDocument/2006/relationships" r:embed="rId2"/>
          <a:stretch>
            <a:fillRect/>
          </a:stretch>
        </p:blipFill>
        <p:spPr>
          <a:xfrm>
            <a:off x="4231420" y="1205552"/>
            <a:ext cx="2022053" cy="3723146"/>
          </a:xfrm>
          <a:prstGeom prst="rect"/>
        </p:spPr>
      </p:pic>
      <p:pic>
        <p:nvPicPr>
          <p:cNvPr id="2097171" name="Picture 5"/>
          <p:cNvPicPr>
            <a:picLocks noChangeAspect="1"/>
          </p:cNvPicPr>
          <p:nvPr/>
        </p:nvPicPr>
        <p:blipFill>
          <a:blip xmlns:r="http://schemas.openxmlformats.org/officeDocument/2006/relationships" r:embed="rId3"/>
          <a:stretch>
            <a:fillRect/>
          </a:stretch>
        </p:blipFill>
        <p:spPr>
          <a:xfrm>
            <a:off x="2398116" y="1273737"/>
            <a:ext cx="1633000" cy="3973073"/>
          </a:xfrm>
          <a:prstGeom prst="rect"/>
        </p:spPr>
      </p:pic>
      <p:pic>
        <p:nvPicPr>
          <p:cNvPr id="2097172" name="Picture 6"/>
          <p:cNvPicPr>
            <a:picLocks noChangeAspect="1"/>
          </p:cNvPicPr>
          <p:nvPr/>
        </p:nvPicPr>
        <p:blipFill>
          <a:blip xmlns:r="http://schemas.openxmlformats.org/officeDocument/2006/relationships" r:embed="rId4"/>
          <a:stretch>
            <a:fillRect/>
          </a:stretch>
        </p:blipFill>
        <p:spPr>
          <a:xfrm>
            <a:off x="457200" y="1219200"/>
            <a:ext cx="1752600" cy="4027610"/>
          </a:xfrm>
          <a:prstGeom prst="rect"/>
        </p:spPr>
      </p:pic>
      <p:sp>
        <p:nvSpPr>
          <p:cNvPr id="1048872" name="TextBox 7"/>
          <p:cNvSpPr txBox="1"/>
          <p:nvPr/>
        </p:nvSpPr>
        <p:spPr>
          <a:xfrm>
            <a:off x="376096" y="5486400"/>
            <a:ext cx="3281504" cy="923330"/>
          </a:xfrm>
          <a:prstGeom prst="rect"/>
          <a:noFill/>
        </p:spPr>
        <p:txBody>
          <a:bodyPr rtlCol="0" wrap="square">
            <a:spAutoFit/>
          </a:bodyPr>
          <a:p>
            <a:r>
              <a:rPr b="1" dirty="0" lang="en-US" smtClean="0"/>
              <a:t>B, </a:t>
            </a:r>
            <a:r>
              <a:rPr dirty="0" lang="en-US" smtClean="0"/>
              <a:t>Screws:-oblique/spiral </a:t>
            </a:r>
          </a:p>
          <a:p>
            <a:r>
              <a:rPr b="1" dirty="0" lang="en-US" smtClean="0"/>
              <a:t>D</a:t>
            </a:r>
            <a:r>
              <a:rPr b="1" dirty="0" lang="en-US"/>
              <a:t>, </a:t>
            </a:r>
            <a:r>
              <a:rPr dirty="0" lang="en-US"/>
              <a:t>Plate and six </a:t>
            </a:r>
            <a:r>
              <a:rPr dirty="0" lang="en-US" smtClean="0"/>
              <a:t>screws</a:t>
            </a:r>
            <a:endParaRPr dirty="0" lang="en-US"/>
          </a:p>
          <a:p>
            <a:r>
              <a:rPr b="1" dirty="0" lang="en-US" smtClean="0"/>
              <a:t>E</a:t>
            </a:r>
            <a:r>
              <a:rPr b="1" dirty="0" lang="en-US"/>
              <a:t>, </a:t>
            </a:r>
            <a:r>
              <a:rPr dirty="0" lang="en-US"/>
              <a:t>Medullary </a:t>
            </a:r>
            <a:r>
              <a:rPr dirty="0" lang="en-US" smtClean="0"/>
              <a:t>nail.</a:t>
            </a:r>
            <a:endParaRPr dirty="0" lang="en-US"/>
          </a:p>
        </p:txBody>
      </p:sp>
    </p:spTree>
  </p:cSld>
  <p:clrMapOvr>
    <a:masterClrMapping/>
  </p:clrMapOvr>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361" name=""/>
        <p:cNvGrpSpPr/>
        <p:nvPr/>
      </p:nvGrpSpPr>
      <p:grpSpPr>
        <a:xfrm>
          <a:off x="0" y="0"/>
          <a:ext cx="0" cy="0"/>
          <a:chOff x="0" y="0"/>
          <a:chExt cx="0" cy="0"/>
        </a:xfrm>
      </p:grpSpPr>
      <p:sp>
        <p:nvSpPr>
          <p:cNvPr id="1048873" name="Title 1"/>
          <p:cNvSpPr>
            <a:spLocks noGrp="1"/>
          </p:cNvSpPr>
          <p:nvPr>
            <p:ph type="title"/>
          </p:nvPr>
        </p:nvSpPr>
        <p:spPr/>
        <p:txBody>
          <a:bodyPr/>
          <a:p>
            <a:r>
              <a:rPr dirty="0" lang="en-US" smtClean="0"/>
              <a:t>EXTERNAL FIXATION DEVISES</a:t>
            </a:r>
            <a:endParaRPr dirty="0" lang="en-US"/>
          </a:p>
        </p:txBody>
      </p:sp>
      <p:pic>
        <p:nvPicPr>
          <p:cNvPr id="2097173" name="Content Placeholder 3"/>
          <p:cNvPicPr>
            <a:picLocks noChangeAspect="1" noGrp="1"/>
          </p:cNvPicPr>
          <p:nvPr>
            <p:ph sz="quarter" idx="1"/>
          </p:nvPr>
        </p:nvPicPr>
        <p:blipFill>
          <a:blip xmlns:r="http://schemas.openxmlformats.org/officeDocument/2006/relationships" r:embed="rId1"/>
          <a:stretch>
            <a:fillRect/>
          </a:stretch>
        </p:blipFill>
        <p:spPr>
          <a:xfrm>
            <a:off x="612648" y="1524000"/>
            <a:ext cx="2510914" cy="4495800"/>
          </a:xfrm>
          <a:prstGeom prst="rect"/>
        </p:spPr>
      </p:pic>
      <p:pic>
        <p:nvPicPr>
          <p:cNvPr id="2097174" name="Picture 5"/>
          <p:cNvPicPr>
            <a:picLocks noChangeAspect="1"/>
          </p:cNvPicPr>
          <p:nvPr/>
        </p:nvPicPr>
        <p:blipFill>
          <a:blip xmlns:r="http://schemas.openxmlformats.org/officeDocument/2006/relationships" r:embed="rId2"/>
          <a:stretch>
            <a:fillRect/>
          </a:stretch>
        </p:blipFill>
        <p:spPr>
          <a:xfrm>
            <a:off x="4038600" y="1752600"/>
            <a:ext cx="4510410" cy="3581400"/>
          </a:xfrm>
          <a:prstGeom prst="rect"/>
        </p:spPr>
      </p:pic>
    </p:spTree>
  </p:cSld>
  <p:clrMapOvr>
    <a:masterClrMapping/>
  </p:clrMapOvr>
  <p:timing/>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363" name=""/>
        <p:cNvGrpSpPr/>
        <p:nvPr/>
      </p:nvGrpSpPr>
      <p:grpSpPr>
        <a:xfrm>
          <a:off x="0" y="0"/>
          <a:ext cx="0" cy="0"/>
          <a:chOff x="0" y="0"/>
          <a:chExt cx="0" cy="0"/>
        </a:xfrm>
      </p:grpSpPr>
      <p:sp>
        <p:nvSpPr>
          <p:cNvPr id="1048876" name="Content Placeholder 2"/>
          <p:cNvSpPr>
            <a:spLocks noGrp="1"/>
          </p:cNvSpPr>
          <p:nvPr>
            <p:ph sz="quarter" idx="1"/>
          </p:nvPr>
        </p:nvSpPr>
        <p:spPr>
          <a:xfrm>
            <a:off x="228600" y="304800"/>
            <a:ext cx="8537448" cy="6019800"/>
          </a:xfrm>
        </p:spPr>
        <p:txBody>
          <a:bodyPr>
            <a:normAutofit lnSpcReduction="10000"/>
          </a:bodyPr>
          <a:p>
            <a:pPr indent="-514350" marL="514350">
              <a:buFont typeface="+mj-lt"/>
              <a:buAutoNum type="arabicPeriod" startAt="4"/>
            </a:pPr>
            <a:r>
              <a:rPr dirty="0" sz="3500" lang="en-US" smtClean="0"/>
              <a:t>CAST APPLICATION </a:t>
            </a:r>
          </a:p>
          <a:p>
            <a:pPr indent="0" marL="0">
              <a:buNone/>
            </a:pPr>
            <a:r>
              <a:rPr dirty="0" lang="en-US" smtClean="0"/>
              <a:t>To maintain immobility of the injured area.</a:t>
            </a:r>
          </a:p>
          <a:p>
            <a:pPr>
              <a:buNone/>
            </a:pPr>
            <a:r>
              <a:rPr b="1" dirty="0" i="1" lang="en-US" smtClean="0"/>
              <a:t>Type of cast applications</a:t>
            </a:r>
          </a:p>
          <a:p>
            <a:pPr indent="-514350" marL="514350">
              <a:buFont typeface="+mj-lt"/>
              <a:buAutoNum type="alphaLcParenR"/>
            </a:pPr>
            <a:r>
              <a:rPr b="1" dirty="0" lang="en-US" smtClean="0"/>
              <a:t>Short arm cast: </a:t>
            </a:r>
            <a:r>
              <a:rPr dirty="0" lang="en-US" smtClean="0"/>
              <a:t>extends from below the </a:t>
            </a:r>
            <a:r>
              <a:rPr dirty="0" lang="en-US"/>
              <a:t>elbow to the palmar crease, secured around the base of the thumb. If the thumb is included, it is known as a </a:t>
            </a:r>
            <a:r>
              <a:rPr dirty="0" i="1" lang="en-US"/>
              <a:t>thumb </a:t>
            </a:r>
            <a:r>
              <a:rPr dirty="0" i="1" lang="en-US" err="1"/>
              <a:t>spica</a:t>
            </a:r>
            <a:r>
              <a:rPr dirty="0" i="1" lang="en-US"/>
              <a:t> or gauntlet </a:t>
            </a:r>
            <a:r>
              <a:rPr dirty="0" lang="en-US"/>
              <a:t>cast.</a:t>
            </a:r>
          </a:p>
          <a:p>
            <a:pPr indent="-514350" marL="514350">
              <a:buFont typeface="+mj-lt"/>
              <a:buAutoNum type="alphaLcParenR"/>
            </a:pPr>
            <a:r>
              <a:rPr b="1" dirty="0" lang="en-US"/>
              <a:t>Long-arm cast: </a:t>
            </a:r>
            <a:r>
              <a:rPr dirty="0" lang="en-US"/>
              <a:t>extends from the axillary fold to the palmer crease. The elbow usually is immobilized at a right angle.</a:t>
            </a:r>
          </a:p>
          <a:p>
            <a:pPr indent="-514350" marL="514350">
              <a:buFont typeface="+mj-lt"/>
              <a:buAutoNum type="alphaLcParenR"/>
            </a:pPr>
            <a:r>
              <a:rPr b="1" dirty="0" lang="en-US"/>
              <a:t>Long leg cast: </a:t>
            </a:r>
            <a:r>
              <a:rPr dirty="0" lang="en-US"/>
              <a:t>extends from the junction of the upper &amp; middle third of the thigh base to the toes. The knee maybe slightly flexed</a:t>
            </a:r>
          </a:p>
          <a:p>
            <a:endParaRPr dirty="0" lang="en-US" smtClean="0"/>
          </a:p>
          <a:p>
            <a:pPr>
              <a:buNone/>
            </a:pPr>
            <a:endParaRPr dirty="0" lang="en-US"/>
          </a:p>
        </p:txBody>
      </p:sp>
    </p:spTree>
  </p:cSld>
  <p:clrMapOvr>
    <a:masterClrMapping/>
  </p:clrMapOvr>
  <p:timing/>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364" name=""/>
        <p:cNvGrpSpPr/>
        <p:nvPr/>
      </p:nvGrpSpPr>
      <p:grpSpPr>
        <a:xfrm>
          <a:off x="0" y="0"/>
          <a:ext cx="0" cy="0"/>
          <a:chOff x="0" y="0"/>
          <a:chExt cx="0" cy="0"/>
        </a:xfrm>
      </p:grpSpPr>
      <p:sp>
        <p:nvSpPr>
          <p:cNvPr id="1048877" name="Content Placeholder 2"/>
          <p:cNvSpPr>
            <a:spLocks noGrp="1"/>
          </p:cNvSpPr>
          <p:nvPr>
            <p:ph sz="quarter" idx="1"/>
          </p:nvPr>
        </p:nvSpPr>
        <p:spPr>
          <a:xfrm>
            <a:off x="304800" y="533400"/>
            <a:ext cx="8461248" cy="5562600"/>
          </a:xfrm>
        </p:spPr>
        <p:txBody>
          <a:bodyPr/>
          <a:p>
            <a:pPr indent="-514350" marL="514350">
              <a:buFont typeface="+mj-lt"/>
              <a:buAutoNum type="alphaLcParenR" startAt="4"/>
            </a:pPr>
            <a:r>
              <a:rPr b="1" dirty="0" lang="en-US" smtClean="0"/>
              <a:t>Short-leg cast: </a:t>
            </a:r>
            <a:r>
              <a:rPr dirty="0" lang="en-US" smtClean="0"/>
              <a:t>extends below the knee to the base of the toes. The foot is flexed at a right angle in a neutral position.</a:t>
            </a:r>
          </a:p>
          <a:p>
            <a:pPr indent="-514350" marL="514350">
              <a:buFont typeface="+mj-lt"/>
              <a:buAutoNum type="alphaLcParenR" startAt="4"/>
            </a:pPr>
            <a:r>
              <a:rPr b="1" dirty="0" lang="en-US" smtClean="0"/>
              <a:t>Walking cast: </a:t>
            </a:r>
            <a:r>
              <a:rPr dirty="0" lang="en-US" smtClean="0"/>
              <a:t>a short- or long- leg reinforced for strength.</a:t>
            </a:r>
          </a:p>
          <a:p>
            <a:pPr indent="-514350" marL="514350">
              <a:buFont typeface="+mj-lt"/>
              <a:buAutoNum type="alphaLcParenR" startAt="4"/>
            </a:pPr>
            <a:r>
              <a:rPr b="1" dirty="0" lang="en-US" smtClean="0"/>
              <a:t>Body cast: </a:t>
            </a:r>
            <a:r>
              <a:rPr dirty="0" lang="en-US" smtClean="0"/>
              <a:t>encircles the trunk. </a:t>
            </a:r>
          </a:p>
          <a:p>
            <a:pPr indent="-514350" marL="514350">
              <a:buFont typeface="+mj-lt"/>
              <a:buAutoNum type="alphaLcParenR" startAt="4"/>
            </a:pPr>
            <a:r>
              <a:rPr b="1" dirty="0" lang="en-US" smtClean="0"/>
              <a:t>Shoulder </a:t>
            </a:r>
            <a:r>
              <a:rPr b="1" dirty="0" lang="en-US" err="1" smtClean="0"/>
              <a:t>spica</a:t>
            </a:r>
            <a:r>
              <a:rPr b="1" dirty="0" lang="en-US" smtClean="0"/>
              <a:t> cast: </a:t>
            </a:r>
            <a:r>
              <a:rPr dirty="0" lang="en-US" smtClean="0"/>
              <a:t>a body jacket that encloses the trunk &amp; the shoulder &amp; elbow.</a:t>
            </a:r>
          </a:p>
          <a:p>
            <a:pPr indent="-514350" marL="514350">
              <a:buFont typeface="+mj-lt"/>
              <a:buAutoNum type="alphaLcParenR" startAt="4"/>
            </a:pPr>
            <a:r>
              <a:rPr b="1" dirty="0" lang="en-US"/>
              <a:t>Hip </a:t>
            </a:r>
            <a:r>
              <a:rPr b="1" dirty="0" lang="en-US" err="1"/>
              <a:t>spica</a:t>
            </a:r>
            <a:r>
              <a:rPr b="1" dirty="0" lang="en-US"/>
              <a:t> cast:</a:t>
            </a:r>
            <a:r>
              <a:rPr dirty="0" lang="en-US"/>
              <a:t> encloses the trunk &amp; a lower extremity. A double hip </a:t>
            </a:r>
            <a:r>
              <a:rPr dirty="0" lang="en-US" err="1"/>
              <a:t>spica</a:t>
            </a:r>
            <a:r>
              <a:rPr dirty="0" lang="en-US"/>
              <a:t> cast includes both legs.</a:t>
            </a:r>
          </a:p>
          <a:p>
            <a:pPr indent="-514350" marL="514350">
              <a:buFont typeface="+mj-lt"/>
              <a:buAutoNum type="alphaLcParenR" startAt="4"/>
            </a:pPr>
            <a:endParaRPr dirty="0" lang="en-US"/>
          </a:p>
        </p:txBody>
      </p:sp>
    </p:spTree>
  </p:cSld>
  <p:clrMapOvr>
    <a:masterClrMapping/>
  </p:clrMapOvr>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365" name=""/>
        <p:cNvGrpSpPr/>
        <p:nvPr/>
      </p:nvGrpSpPr>
      <p:grpSpPr>
        <a:xfrm>
          <a:off x="0" y="0"/>
          <a:ext cx="0" cy="0"/>
          <a:chOff x="0" y="0"/>
          <a:chExt cx="0" cy="0"/>
        </a:xfrm>
      </p:grpSpPr>
      <p:sp>
        <p:nvSpPr>
          <p:cNvPr id="1048878" name="Title 1"/>
          <p:cNvSpPr>
            <a:spLocks noGrp="1"/>
          </p:cNvSpPr>
          <p:nvPr>
            <p:ph type="title"/>
          </p:nvPr>
        </p:nvSpPr>
        <p:spPr/>
        <p:txBody>
          <a:bodyPr/>
          <a:p>
            <a:r>
              <a:rPr dirty="0" lang="en-US" smtClean="0"/>
              <a:t>ARM CASTS</a:t>
            </a:r>
            <a:endParaRPr dirty="0" lang="en-US"/>
          </a:p>
        </p:txBody>
      </p:sp>
      <p:pic>
        <p:nvPicPr>
          <p:cNvPr id="2097175"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457200" y="1066800"/>
            <a:ext cx="8000999" cy="5105400"/>
          </a:xfrm>
          <a:prstGeom prst="rect"/>
          <a:noFill/>
          <a:ln w="9525">
            <a:noFill/>
            <a:miter lim="800000"/>
            <a:headEnd/>
            <a:tailEnd/>
          </a:ln>
        </p:spPr>
      </p:pic>
    </p:spTree>
  </p:cSld>
  <p:clrMapOvr>
    <a:masterClrMapping/>
  </p:clrMapOvr>
  <p:timing/>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366" name=""/>
        <p:cNvGrpSpPr/>
        <p:nvPr/>
      </p:nvGrpSpPr>
      <p:grpSpPr>
        <a:xfrm>
          <a:off x="0" y="0"/>
          <a:ext cx="0" cy="0"/>
          <a:chOff x="0" y="0"/>
          <a:chExt cx="0" cy="0"/>
        </a:xfrm>
      </p:grpSpPr>
      <p:sp>
        <p:nvSpPr>
          <p:cNvPr id="1048879" name="Title 1"/>
          <p:cNvSpPr>
            <a:spLocks noGrp="1"/>
          </p:cNvSpPr>
          <p:nvPr>
            <p:ph type="title"/>
          </p:nvPr>
        </p:nvSpPr>
        <p:spPr/>
        <p:txBody>
          <a:bodyPr/>
          <a:p>
            <a:r>
              <a:rPr dirty="0" lang="en-US" smtClean="0"/>
              <a:t>LEG CASTS</a:t>
            </a:r>
            <a:endParaRPr dirty="0" lang="en-US"/>
          </a:p>
        </p:txBody>
      </p:sp>
      <p:pic>
        <p:nvPicPr>
          <p:cNvPr id="2097176"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457200" y="1524001"/>
            <a:ext cx="8153401" cy="4876800"/>
          </a:xfrm>
          <a:prstGeom prst="rect"/>
          <a:noFill/>
          <a:ln w="9525">
            <a:noFill/>
            <a:miter lim="800000"/>
            <a:headEnd/>
            <a:tailEnd/>
          </a:ln>
        </p:spPr>
      </p:pic>
    </p:spTree>
  </p:cSld>
  <p:clrMapOvr>
    <a:masterClrMapping/>
  </p:clrMapOvr>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367" name=""/>
        <p:cNvGrpSpPr/>
        <p:nvPr/>
      </p:nvGrpSpPr>
      <p:grpSpPr>
        <a:xfrm>
          <a:off x="0" y="0"/>
          <a:ext cx="0" cy="0"/>
          <a:chOff x="0" y="0"/>
          <a:chExt cx="0" cy="0"/>
        </a:xfrm>
      </p:grpSpPr>
      <p:sp>
        <p:nvSpPr>
          <p:cNvPr id="1048880" name="Title 1"/>
          <p:cNvSpPr>
            <a:spLocks noGrp="1"/>
          </p:cNvSpPr>
          <p:nvPr>
            <p:ph type="title"/>
          </p:nvPr>
        </p:nvSpPr>
        <p:spPr/>
        <p:txBody>
          <a:bodyPr/>
          <a:p>
            <a:r>
              <a:rPr dirty="0" lang="en-US" smtClean="0"/>
              <a:t>BODY CAST and HIP SPICA</a:t>
            </a:r>
            <a:endParaRPr dirty="0" lang="en-US"/>
          </a:p>
        </p:txBody>
      </p:sp>
      <p:pic>
        <p:nvPicPr>
          <p:cNvPr id="2097177" name="Content Placeholder 3"/>
          <p:cNvPicPr>
            <a:picLocks noChangeAspect="1" noGrp="1"/>
          </p:cNvPicPr>
          <p:nvPr>
            <p:ph sz="quarter" idx="1"/>
          </p:nvPr>
        </p:nvPicPr>
        <p:blipFill>
          <a:blip xmlns:r="http://schemas.openxmlformats.org/officeDocument/2006/relationships" r:embed="rId1"/>
          <a:stretch>
            <a:fillRect/>
          </a:stretch>
        </p:blipFill>
        <p:spPr>
          <a:xfrm>
            <a:off x="3733800" y="1702803"/>
            <a:ext cx="1807605" cy="4768830"/>
          </a:xfrm>
          <a:prstGeom prst="rect"/>
        </p:spPr>
      </p:pic>
      <p:pic>
        <p:nvPicPr>
          <p:cNvPr id="2097178" name="Picture 4"/>
          <p:cNvPicPr>
            <a:picLocks noChangeAspect="1"/>
          </p:cNvPicPr>
          <p:nvPr/>
        </p:nvPicPr>
        <p:blipFill>
          <a:blip xmlns:r="http://schemas.openxmlformats.org/officeDocument/2006/relationships" r:embed="rId2"/>
          <a:stretch>
            <a:fillRect/>
          </a:stretch>
        </p:blipFill>
        <p:spPr>
          <a:xfrm>
            <a:off x="6019800" y="1730671"/>
            <a:ext cx="2334443" cy="4738687"/>
          </a:xfrm>
          <a:prstGeom prst="rect"/>
        </p:spPr>
      </p:pic>
      <p:pic>
        <p:nvPicPr>
          <p:cNvPr id="2097179" name="Picture 5"/>
          <p:cNvPicPr>
            <a:picLocks noChangeAspect="1"/>
          </p:cNvPicPr>
          <p:nvPr/>
        </p:nvPicPr>
        <p:blipFill>
          <a:blip xmlns:r="http://schemas.openxmlformats.org/officeDocument/2006/relationships" r:embed="rId3"/>
          <a:stretch>
            <a:fillRect/>
          </a:stretch>
        </p:blipFill>
        <p:spPr>
          <a:xfrm>
            <a:off x="1295400" y="1697782"/>
            <a:ext cx="1751506" cy="4824461"/>
          </a:xfrm>
          <a:prstGeom prst="rect"/>
        </p:spPr>
      </p:pic>
    </p:spTree>
  </p:cSld>
  <p:clrMapOvr>
    <a:masterClrMapping/>
  </p:clrMapOvr>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368" name=""/>
        <p:cNvGrpSpPr/>
        <p:nvPr/>
      </p:nvGrpSpPr>
      <p:grpSpPr>
        <a:xfrm>
          <a:off x="0" y="0"/>
          <a:ext cx="0" cy="0"/>
          <a:chOff x="0" y="0"/>
          <a:chExt cx="0" cy="0"/>
        </a:xfrm>
      </p:grpSpPr>
      <p:sp>
        <p:nvSpPr>
          <p:cNvPr id="1048881" name="Content Placeholder 2"/>
          <p:cNvSpPr>
            <a:spLocks noGrp="1"/>
          </p:cNvSpPr>
          <p:nvPr>
            <p:ph sz="quarter" idx="1"/>
          </p:nvPr>
        </p:nvSpPr>
        <p:spPr>
          <a:xfrm>
            <a:off x="228600" y="381000"/>
            <a:ext cx="8534400" cy="5745163"/>
          </a:xfrm>
        </p:spPr>
        <p:txBody>
          <a:bodyPr>
            <a:normAutofit fontScale="96552" lnSpcReduction="10000"/>
          </a:bodyPr>
          <a:p>
            <a:pPr indent="-514350" marL="514350">
              <a:buFont typeface="+mj-lt"/>
              <a:buAutoNum type="arabicPeriod" startAt="5"/>
            </a:pPr>
            <a:r>
              <a:rPr dirty="0" sz="3600" lang="en-US" smtClean="0"/>
              <a:t>SPLINTS</a:t>
            </a:r>
          </a:p>
          <a:p>
            <a:pPr>
              <a:buFont typeface="Wingdings" panose="05000000000000000000" pitchFamily="2" charset="2"/>
              <a:buChar char="q"/>
            </a:pPr>
            <a:r>
              <a:rPr dirty="0" lang="en-US" smtClean="0"/>
              <a:t>Devises used to keep fractured bones, dislocated bones and broken bones immobile during the healing process. </a:t>
            </a:r>
          </a:p>
          <a:p>
            <a:pPr>
              <a:buFont typeface="Wingdings" panose="05000000000000000000" pitchFamily="2" charset="2"/>
              <a:buChar char="q"/>
            </a:pPr>
            <a:r>
              <a:rPr dirty="0" lang="en-US" smtClean="0"/>
              <a:t>Splints can be used underneath casts or alone.</a:t>
            </a:r>
          </a:p>
          <a:p>
            <a:pPr>
              <a:buFont typeface="Wingdings" panose="05000000000000000000" pitchFamily="2" charset="2"/>
              <a:buChar char="q"/>
            </a:pPr>
            <a:r>
              <a:rPr dirty="0" lang="en-US" smtClean="0"/>
              <a:t>Can be used for injuries of tissues attached to bones, such as muscles, ligaments or tendons.</a:t>
            </a:r>
          </a:p>
          <a:p>
            <a:pPr>
              <a:buFont typeface="Wingdings" panose="05000000000000000000" pitchFamily="2" charset="2"/>
              <a:buChar char="q"/>
            </a:pPr>
            <a:r>
              <a:rPr dirty="0" lang="en-US"/>
              <a:t>Occasionally, splints support joints afflicted with arthritis. </a:t>
            </a:r>
          </a:p>
          <a:p>
            <a:pPr>
              <a:buFont typeface="Wingdings" panose="05000000000000000000" pitchFamily="2" charset="2"/>
              <a:buChar char="q"/>
            </a:pPr>
            <a:r>
              <a:rPr dirty="0" lang="en-US" smtClean="0"/>
              <a:t>Can be </a:t>
            </a:r>
            <a:r>
              <a:rPr dirty="0" lang="en-US"/>
              <a:t>fashioned by using a stiff material as the foundation of the orthopedic splint and cloth, ropes or tape to hold the splint in place.</a:t>
            </a:r>
          </a:p>
          <a:p>
            <a:pPr>
              <a:buFont typeface="Wingdings" panose="05000000000000000000" pitchFamily="2" charset="2"/>
              <a:buChar char="q"/>
            </a:pPr>
            <a:endParaRPr dirty="0" lang="en-US" smtClean="0"/>
          </a:p>
          <a:p>
            <a:pPr>
              <a:buNone/>
            </a:pPr>
            <a:endParaRPr dirty="0" lang="en-US"/>
          </a:p>
        </p:txBody>
      </p:sp>
    </p:spTree>
  </p:cSld>
  <p:clrMapOvr>
    <a:masterClrMapping/>
  </p:clrMapOvr>
  <p:timing/>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369" name=""/>
        <p:cNvGrpSpPr/>
        <p:nvPr/>
      </p:nvGrpSpPr>
      <p:grpSpPr>
        <a:xfrm>
          <a:off x="0" y="0"/>
          <a:ext cx="0" cy="0"/>
          <a:chOff x="0" y="0"/>
          <a:chExt cx="0" cy="0"/>
        </a:xfrm>
      </p:grpSpPr>
      <p:sp>
        <p:nvSpPr>
          <p:cNvPr id="1048882" name="Title 1"/>
          <p:cNvSpPr>
            <a:spLocks noGrp="1"/>
          </p:cNvSpPr>
          <p:nvPr>
            <p:ph type="title"/>
          </p:nvPr>
        </p:nvSpPr>
        <p:spPr>
          <a:xfrm>
            <a:off x="228600" y="228600"/>
            <a:ext cx="8839200" cy="990600"/>
          </a:xfrm>
        </p:spPr>
        <p:txBody>
          <a:bodyPr>
            <a:normAutofit fontScale="90000"/>
          </a:bodyPr>
          <a:p>
            <a:r>
              <a:rPr dirty="0" lang="en-US" smtClean="0"/>
              <a:t>ARM SPLINT and THUMB SUPPORT SPLINT</a:t>
            </a:r>
            <a:endParaRPr dirty="0" lang="en-US"/>
          </a:p>
        </p:txBody>
      </p:sp>
      <p:pic>
        <p:nvPicPr>
          <p:cNvPr id="2097180" name="Content Placeholder 3" descr="Forearm Splints Medium - ORT33100LM - Each">
            <a:hlinkClick r:id="rId1"/>
          </p:cNvPr>
          <p:cNvPicPr>
            <a:picLocks noGrp="1"/>
          </p:cNvPicPr>
          <p:nvPr>
            <p:ph sz="quarter" idx="1"/>
          </p:nvPr>
        </p:nvPicPr>
        <p:blipFill>
          <a:blip xmlns:r="http://schemas.openxmlformats.org/officeDocument/2006/relationships" r:embed="rId2" cstate="print"/>
          <a:srcRect/>
          <a:stretch>
            <a:fillRect/>
          </a:stretch>
        </p:blipFill>
        <p:spPr bwMode="auto">
          <a:xfrm>
            <a:off x="228600" y="1610436"/>
            <a:ext cx="3124200" cy="5029200"/>
          </a:xfrm>
          <a:prstGeom prst="rect"/>
          <a:noFill/>
          <a:ln w="9525">
            <a:noFill/>
            <a:miter lim="800000"/>
            <a:headEnd/>
            <a:tailEnd/>
          </a:ln>
        </p:spPr>
      </p:pic>
      <p:pic>
        <p:nvPicPr>
          <p:cNvPr id="2097181" name="Picture 4" descr="RhizoLoc Thumb Support Size 1 Right - 4100A - Each">
            <a:hlinkClick r:id="rId3"/>
          </p:cNvPr>
          <p:cNvPicPr>
            <a:picLocks/>
          </p:cNvPicPr>
          <p:nvPr/>
        </p:nvPicPr>
        <p:blipFill>
          <a:blip xmlns:r="http://schemas.openxmlformats.org/officeDocument/2006/relationships" r:embed="rId4" cstate="print"/>
          <a:srcRect/>
          <a:stretch>
            <a:fillRect/>
          </a:stretch>
        </p:blipFill>
        <p:spPr bwMode="auto">
          <a:xfrm>
            <a:off x="3505200" y="1610436"/>
            <a:ext cx="5410200" cy="5029200"/>
          </a:xfrm>
          <a:prstGeom prst="rect"/>
          <a:noFill/>
          <a:ln w="9525">
            <a:noFill/>
            <a:miter lim="800000"/>
            <a:headEnd/>
            <a:tailEnd/>
          </a:ln>
        </p:spPr>
      </p:pic>
    </p:spTree>
  </p:cSld>
  <p:clrMapOvr>
    <a:masterClrMapping/>
  </p:clrMapOvr>
  <p:timing/>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370" name=""/>
        <p:cNvGrpSpPr/>
        <p:nvPr/>
      </p:nvGrpSpPr>
      <p:grpSpPr>
        <a:xfrm>
          <a:off x="0" y="0"/>
          <a:ext cx="0" cy="0"/>
          <a:chOff x="0" y="0"/>
          <a:chExt cx="0" cy="0"/>
        </a:xfrm>
      </p:grpSpPr>
      <p:sp>
        <p:nvSpPr>
          <p:cNvPr id="1048883" name="Title 1"/>
          <p:cNvSpPr>
            <a:spLocks noGrp="1"/>
          </p:cNvSpPr>
          <p:nvPr>
            <p:ph type="title"/>
          </p:nvPr>
        </p:nvSpPr>
        <p:spPr/>
        <p:txBody>
          <a:bodyPr>
            <a:normAutofit fontScale="90000"/>
          </a:bodyPr>
          <a:p>
            <a:r>
              <a:rPr dirty="0" lang="en-US" smtClean="0"/>
              <a:t>RESTING ARM SPLINT and </a:t>
            </a:r>
            <a:r>
              <a:rPr dirty="0" lang="en-US"/>
              <a:t>ARM SLING</a:t>
            </a:r>
          </a:p>
        </p:txBody>
      </p:sp>
      <p:pic>
        <p:nvPicPr>
          <p:cNvPr id="2097182" name="Content Placeholder 3" descr="Resting Hand Splint Small Right - 2410F - Each">
            <a:hlinkClick r:id="rId1"/>
          </p:cNvPr>
          <p:cNvPicPr>
            <a:picLocks noGrp="1"/>
          </p:cNvPicPr>
          <p:nvPr>
            <p:ph sz="quarter" idx="1"/>
          </p:nvPr>
        </p:nvPicPr>
        <p:blipFill>
          <a:blip xmlns:r="http://schemas.openxmlformats.org/officeDocument/2006/relationships" r:embed="rId2" cstate="print"/>
          <a:srcRect/>
          <a:stretch>
            <a:fillRect/>
          </a:stretch>
        </p:blipFill>
        <p:spPr bwMode="auto">
          <a:xfrm>
            <a:off x="228600" y="1219200"/>
            <a:ext cx="3810000" cy="3276600"/>
          </a:xfrm>
          <a:prstGeom prst="rect"/>
          <a:noFill/>
          <a:ln w="9525">
            <a:noFill/>
            <a:miter lim="800000"/>
            <a:headEnd/>
            <a:tailEnd/>
          </a:ln>
        </p:spPr>
      </p:pic>
      <p:pic>
        <p:nvPicPr>
          <p:cNvPr id="2097183" name="Content Placeholder 3" descr="Cool Mesh Arm Slings White X Small - ORT11200XS - Each">
            <a:hlinkClick r:id="rId3"/>
          </p:cNvPr>
          <p:cNvPicPr>
            <a:picLocks/>
          </p:cNvPicPr>
          <p:nvPr/>
        </p:nvPicPr>
        <p:blipFill>
          <a:blip xmlns:r="http://schemas.openxmlformats.org/officeDocument/2006/relationships" r:embed="rId4" cstate="print"/>
          <a:stretch>
            <a:fillRect/>
          </a:stretch>
        </p:blipFill>
        <p:spPr bwMode="auto">
          <a:xfrm>
            <a:off x="4702427" y="1254457"/>
            <a:ext cx="4038600" cy="4458269"/>
          </a:xfrm>
          <a:prstGeom prst="rect"/>
          <a:noFill/>
          <a:ln w="9525">
            <a:noFill/>
            <a:miter lim="800000"/>
            <a:headEnd/>
            <a:tailEnd/>
          </a:ln>
        </p:spPr>
      </p:pic>
    </p:spTree>
  </p:cSld>
  <p:clrMapOvr>
    <a:masterClrMapping/>
  </p:clrMapOvr>
  <p:timing/>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371" name=""/>
        <p:cNvGrpSpPr/>
        <p:nvPr/>
      </p:nvGrpSpPr>
      <p:grpSpPr>
        <a:xfrm>
          <a:off x="0" y="0"/>
          <a:ext cx="0" cy="0"/>
          <a:chOff x="0" y="0"/>
          <a:chExt cx="0" cy="0"/>
        </a:xfrm>
      </p:grpSpPr>
      <p:sp>
        <p:nvSpPr>
          <p:cNvPr id="1048884" name="Title 1"/>
          <p:cNvSpPr>
            <a:spLocks noGrp="1"/>
          </p:cNvSpPr>
          <p:nvPr>
            <p:ph type="title"/>
          </p:nvPr>
        </p:nvSpPr>
        <p:spPr/>
        <p:txBody>
          <a:bodyPr>
            <a:normAutofit fontScale="90000"/>
          </a:bodyPr>
          <a:p>
            <a:r>
              <a:rPr dirty="0" lang="en-US" smtClean="0"/>
              <a:t>LEG NIGHT </a:t>
            </a:r>
            <a:r>
              <a:rPr dirty="0" lang="en-US"/>
              <a:t>SPLINT and KNEE BRACES</a:t>
            </a:r>
          </a:p>
        </p:txBody>
      </p:sp>
      <p:pic>
        <p:nvPicPr>
          <p:cNvPr id="2097184" name="Content Placeholder 3" descr="Night Splint Body Armor Darco One Size Fits All - 15006 - Each">
            <a:hlinkClick r:id="rId1"/>
          </p:cNvPr>
          <p:cNvPicPr>
            <a:picLocks noGrp="1"/>
          </p:cNvPicPr>
          <p:nvPr>
            <p:ph sz="quarter" idx="1"/>
          </p:nvPr>
        </p:nvPicPr>
        <p:blipFill>
          <a:blip xmlns:r="http://schemas.openxmlformats.org/officeDocument/2006/relationships" r:embed="rId2" cstate="print"/>
          <a:srcRect/>
          <a:stretch>
            <a:fillRect/>
          </a:stretch>
        </p:blipFill>
        <p:spPr bwMode="auto">
          <a:xfrm>
            <a:off x="304800" y="1219200"/>
            <a:ext cx="4114800" cy="4114799"/>
          </a:xfrm>
          <a:prstGeom prst="rect"/>
          <a:noFill/>
          <a:ln w="9525">
            <a:noFill/>
            <a:miter lim="800000"/>
            <a:headEnd/>
            <a:tailEnd/>
          </a:ln>
        </p:spPr>
      </p:pic>
      <p:pic>
        <p:nvPicPr>
          <p:cNvPr id="2097185" name="Content Placeholder 3" descr="Knee Braces"/>
          <p:cNvPicPr>
            <a:picLocks/>
          </p:cNvPicPr>
          <p:nvPr/>
        </p:nvPicPr>
        <p:blipFill>
          <a:blip xmlns:r="http://schemas.openxmlformats.org/officeDocument/2006/relationships" r:embed="rId3" cstate="print"/>
          <a:stretch>
            <a:fillRect/>
          </a:stretch>
        </p:blipFill>
        <p:spPr bwMode="auto">
          <a:xfrm>
            <a:off x="4495801" y="2438400"/>
            <a:ext cx="4648199" cy="3810000"/>
          </a:xfrm>
          <a:prstGeom prst="rect"/>
          <a:noFill/>
          <a:ln w="9525">
            <a:noFill/>
            <a:miter lim="800000"/>
            <a:headEnd/>
            <a:tailEnd/>
          </a:ln>
        </p:spPr>
      </p:pic>
    </p:spTree>
  </p:cSld>
  <p:clrMapOvr>
    <a:masterClrMapping/>
  </p:clrMapOvr>
  <p:timing/>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372" name=""/>
        <p:cNvGrpSpPr/>
        <p:nvPr/>
      </p:nvGrpSpPr>
      <p:grpSpPr>
        <a:xfrm>
          <a:off x="0" y="0"/>
          <a:ext cx="0" cy="0"/>
          <a:chOff x="0" y="0"/>
          <a:chExt cx="0" cy="0"/>
        </a:xfrm>
      </p:grpSpPr>
      <p:sp>
        <p:nvSpPr>
          <p:cNvPr id="1048885" name="Title 1"/>
          <p:cNvSpPr>
            <a:spLocks noGrp="1"/>
          </p:cNvSpPr>
          <p:nvPr>
            <p:ph type="title"/>
          </p:nvPr>
        </p:nvSpPr>
        <p:spPr/>
        <p:txBody>
          <a:bodyPr/>
          <a:p>
            <a:r>
              <a:rPr dirty="0" lang="en-US" smtClean="0"/>
              <a:t>BACK SPLINT</a:t>
            </a:r>
            <a:endParaRPr dirty="0" lang="en-US"/>
          </a:p>
        </p:txBody>
      </p:sp>
      <p:pic>
        <p:nvPicPr>
          <p:cNvPr id="2097186" name="Content Placeholder 3" descr="Back Brace"/>
          <p:cNvPicPr>
            <a:picLocks noGrp="1"/>
          </p:cNvPicPr>
          <p:nvPr>
            <p:ph sz="quarter" idx="1"/>
          </p:nvPr>
        </p:nvPicPr>
        <p:blipFill>
          <a:blip xmlns:r="http://schemas.openxmlformats.org/officeDocument/2006/relationships" r:embed="rId1" cstate="print"/>
          <a:srcRect/>
          <a:stretch>
            <a:fillRect/>
          </a:stretch>
        </p:blipFill>
        <p:spPr bwMode="auto">
          <a:xfrm>
            <a:off x="1981200" y="1905000"/>
            <a:ext cx="4876800" cy="4191000"/>
          </a:xfrm>
          <a:prstGeom prst="rect"/>
          <a:noFill/>
          <a:ln w="9525">
            <a:noFill/>
            <a:miter lim="800000"/>
            <a:headEnd/>
            <a:tailEnd/>
          </a:ln>
        </p:spPr>
      </p:pic>
    </p:spTree>
  </p:cSld>
  <p:clrMapOvr>
    <a:masterClrMapping/>
  </p:clrMapOvr>
  <p:timing/>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373" name=""/>
        <p:cNvGrpSpPr/>
        <p:nvPr/>
      </p:nvGrpSpPr>
      <p:grpSpPr>
        <a:xfrm>
          <a:off x="0" y="0"/>
          <a:ext cx="0" cy="0"/>
          <a:chOff x="0" y="0"/>
          <a:chExt cx="0" cy="0"/>
        </a:xfrm>
      </p:grpSpPr>
      <p:sp>
        <p:nvSpPr>
          <p:cNvPr id="1048886" name="Title 1"/>
          <p:cNvSpPr>
            <a:spLocks noGrp="1"/>
          </p:cNvSpPr>
          <p:nvPr>
            <p:ph type="title"/>
          </p:nvPr>
        </p:nvSpPr>
        <p:spPr/>
        <p:txBody>
          <a:bodyPr/>
          <a:p>
            <a:r>
              <a:rPr dirty="0" lang="en-US" smtClean="0"/>
              <a:t>ON CAST and TRACTION</a:t>
            </a:r>
            <a:endParaRPr dirty="0" lang="en-US"/>
          </a:p>
        </p:txBody>
      </p:sp>
      <p:pic>
        <p:nvPicPr>
          <p:cNvPr id="2097187"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762000" y="990600"/>
            <a:ext cx="7696200" cy="5638800"/>
          </a:xfrm>
          <a:prstGeom prst="rect"/>
          <a:noFill/>
          <a:ln w="9525">
            <a:noFill/>
            <a:miter lim="800000"/>
            <a:headEnd/>
            <a:tailEnd/>
          </a:ln>
        </p:spPr>
      </p:pic>
    </p:spTree>
  </p:cSld>
  <p:clrMapOvr>
    <a:masterClrMapping/>
  </p:clrMapOvr>
  <p:timing/>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374" name=""/>
        <p:cNvGrpSpPr/>
        <p:nvPr/>
      </p:nvGrpSpPr>
      <p:grpSpPr>
        <a:xfrm>
          <a:off x="0" y="0"/>
          <a:ext cx="0" cy="0"/>
          <a:chOff x="0" y="0"/>
          <a:chExt cx="0" cy="0"/>
        </a:xfrm>
      </p:grpSpPr>
      <p:sp>
        <p:nvSpPr>
          <p:cNvPr id="1048887" name="Content Placeholder 2"/>
          <p:cNvSpPr>
            <a:spLocks noGrp="1"/>
          </p:cNvSpPr>
          <p:nvPr>
            <p:ph sz="quarter" idx="1"/>
          </p:nvPr>
        </p:nvSpPr>
        <p:spPr>
          <a:xfrm>
            <a:off x="152400" y="152400"/>
            <a:ext cx="8915400" cy="6553200"/>
          </a:xfrm>
        </p:spPr>
        <p:txBody>
          <a:bodyPr>
            <a:normAutofit fontScale="89655" lnSpcReduction="20000"/>
          </a:bodyPr>
          <a:p>
            <a:pPr indent="-514350" marL="514350">
              <a:buFont typeface="+mj-lt"/>
              <a:buAutoNum type="arabicPeriod" startAt="6"/>
            </a:pPr>
            <a:r>
              <a:rPr dirty="0" sz="3600" lang="en-US" smtClean="0"/>
              <a:t>TRACTION </a:t>
            </a:r>
          </a:p>
          <a:p>
            <a:r>
              <a:rPr dirty="0" lang="en-US" smtClean="0"/>
              <a:t>The application of a pulling force to an injured body part or extremity while a </a:t>
            </a:r>
            <a:r>
              <a:rPr dirty="0" lang="en-US" err="1" smtClean="0"/>
              <a:t>countertraction</a:t>
            </a:r>
            <a:r>
              <a:rPr dirty="0" lang="en-US" smtClean="0"/>
              <a:t> pulls in the opposite direction.</a:t>
            </a:r>
          </a:p>
          <a:p>
            <a:pPr indent="0" marL="0">
              <a:buNone/>
            </a:pPr>
            <a:r>
              <a:rPr b="1" dirty="0" lang="en-US" smtClean="0"/>
              <a:t>Purpose</a:t>
            </a:r>
          </a:p>
          <a:p>
            <a:pPr indent="-514350" marL="514350">
              <a:buFont typeface="+mj-lt"/>
              <a:buAutoNum type="arabicPeriod"/>
            </a:pPr>
            <a:r>
              <a:rPr dirty="0" lang="en-US" smtClean="0"/>
              <a:t>Reduce, realign &amp; promote healing of fractured bones</a:t>
            </a:r>
          </a:p>
          <a:p>
            <a:pPr indent="-514350" marL="514350">
              <a:buFont typeface="+mj-lt"/>
              <a:buAutoNum type="arabicPeriod"/>
            </a:pPr>
            <a:r>
              <a:rPr dirty="0" lang="en-US"/>
              <a:t>Decrease muscle spasms that may accompany fractures or follow surgical reduction .</a:t>
            </a:r>
          </a:p>
          <a:p>
            <a:pPr indent="-514350" marL="514350">
              <a:buFont typeface="+mj-lt"/>
              <a:buAutoNum type="arabicPeriod"/>
            </a:pPr>
            <a:r>
              <a:rPr dirty="0" lang="en-US" smtClean="0"/>
              <a:t>Prevent </a:t>
            </a:r>
            <a:r>
              <a:rPr dirty="0" lang="en-US"/>
              <a:t>soft tissue damage through immobilization </a:t>
            </a:r>
          </a:p>
          <a:p>
            <a:pPr indent="-514350" marL="514350">
              <a:buFont typeface="+mj-lt"/>
              <a:buAutoNum type="arabicPeriod"/>
            </a:pPr>
            <a:r>
              <a:rPr dirty="0" lang="en-US" smtClean="0"/>
              <a:t>Treat </a:t>
            </a:r>
            <a:r>
              <a:rPr dirty="0" lang="en-US"/>
              <a:t>deformities</a:t>
            </a:r>
          </a:p>
          <a:p>
            <a:pPr indent="-514350" marL="514350">
              <a:buFont typeface="+mj-lt"/>
              <a:buAutoNum type="arabicPeriod"/>
            </a:pPr>
            <a:r>
              <a:rPr dirty="0" lang="en-US" smtClean="0"/>
              <a:t>Rest </a:t>
            </a:r>
            <a:r>
              <a:rPr dirty="0" lang="en-US"/>
              <a:t>an inflamed, diseased, or painful joint.</a:t>
            </a:r>
          </a:p>
          <a:p>
            <a:pPr indent="-514350" marL="514350">
              <a:buFont typeface="+mj-lt"/>
              <a:buAutoNum type="arabicPeriod"/>
            </a:pPr>
            <a:r>
              <a:rPr dirty="0" lang="en-US" smtClean="0"/>
              <a:t>Reduce </a:t>
            </a:r>
            <a:r>
              <a:rPr dirty="0" lang="en-US"/>
              <a:t>&amp; treat dislocations/subluxations</a:t>
            </a:r>
          </a:p>
          <a:p>
            <a:pPr indent="-514350" marL="514350">
              <a:buFont typeface="+mj-lt"/>
              <a:buAutoNum type="arabicPeriod"/>
            </a:pPr>
            <a:r>
              <a:rPr dirty="0" lang="en-US" smtClean="0"/>
              <a:t>Prevent </a:t>
            </a:r>
            <a:r>
              <a:rPr dirty="0" lang="en-US"/>
              <a:t>the development of </a:t>
            </a:r>
            <a:r>
              <a:rPr dirty="0" lang="en-US" smtClean="0"/>
              <a:t>contractures</a:t>
            </a:r>
          </a:p>
          <a:p>
            <a:pPr indent="-514350" marL="514350">
              <a:buFont typeface="+mj-lt"/>
              <a:buAutoNum type="arabicPeriod"/>
            </a:pPr>
            <a:r>
              <a:rPr dirty="0" lang="en-US"/>
              <a:t>Reduce muscle spasms associated with low back pain or cervical whiplash.</a:t>
            </a:r>
          </a:p>
          <a:p>
            <a:pPr indent="-514350" marL="514350">
              <a:buFont typeface="+mj-lt"/>
              <a:buAutoNum type="arabicPeriod"/>
            </a:pPr>
            <a:r>
              <a:rPr dirty="0" lang="en-US" smtClean="0"/>
              <a:t>Expand </a:t>
            </a:r>
            <a:r>
              <a:rPr dirty="0" lang="en-US"/>
              <a:t>a joint space during arthroscopy or prior to major joint reconstruction.</a:t>
            </a:r>
          </a:p>
          <a:p>
            <a:pPr indent="-514350" marL="514350">
              <a:buFont typeface="+mj-lt"/>
              <a:buAutoNum type="arabicPeriod"/>
            </a:pPr>
            <a:endParaRPr dirty="0" lang="en-US" smtClean="0"/>
          </a:p>
          <a:p>
            <a:endParaRPr b="1" dirty="0" lang="en-US" smtClean="0"/>
          </a:p>
          <a:p>
            <a:pPr>
              <a:buNone/>
            </a:pPr>
            <a:endParaRPr dirty="0" lang="en-US"/>
          </a:p>
        </p:txBody>
      </p:sp>
    </p:spTree>
  </p:cSld>
  <p:clrMapOvr>
    <a:masterClrMapping/>
  </p:clrMapOvr>
  <p:timing/>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375" name=""/>
        <p:cNvGrpSpPr/>
        <p:nvPr/>
      </p:nvGrpSpPr>
      <p:grpSpPr>
        <a:xfrm>
          <a:off x="0" y="0"/>
          <a:ext cx="0" cy="0"/>
          <a:chOff x="0" y="0"/>
          <a:chExt cx="0" cy="0"/>
        </a:xfrm>
      </p:grpSpPr>
      <p:sp>
        <p:nvSpPr>
          <p:cNvPr id="1048888" name="Content Placeholder 2"/>
          <p:cNvSpPr>
            <a:spLocks noGrp="1"/>
          </p:cNvSpPr>
          <p:nvPr>
            <p:ph sz="quarter" idx="1"/>
          </p:nvPr>
        </p:nvSpPr>
        <p:spPr>
          <a:xfrm>
            <a:off x="152400" y="304800"/>
            <a:ext cx="8915400" cy="6172200"/>
          </a:xfrm>
        </p:spPr>
        <p:txBody>
          <a:bodyPr>
            <a:normAutofit/>
          </a:bodyPr>
          <a:p>
            <a:pPr>
              <a:buNone/>
            </a:pPr>
            <a:r>
              <a:rPr dirty="0" lang="en-US" smtClean="0"/>
              <a:t>T</a:t>
            </a:r>
            <a:r>
              <a:rPr b="1" dirty="0" lang="en-US" smtClean="0"/>
              <a:t>ypes of Traction</a:t>
            </a:r>
          </a:p>
          <a:p>
            <a:pPr indent="-514350" marL="514350">
              <a:buFont typeface="+mj-lt"/>
              <a:buAutoNum type="alphaLcParenR"/>
            </a:pPr>
            <a:r>
              <a:rPr b="1" dirty="0" lang="en-US" smtClean="0"/>
              <a:t>Skin traction: </a:t>
            </a:r>
            <a:r>
              <a:rPr dirty="0" lang="en-US" smtClean="0"/>
              <a:t>application of a pulling force directly to the skin through the use of traction </a:t>
            </a:r>
            <a:r>
              <a:rPr dirty="0" lang="en-US"/>
              <a:t>boot, </a:t>
            </a:r>
            <a:r>
              <a:rPr dirty="0" lang="en-US" smtClean="0"/>
              <a:t>traction</a:t>
            </a:r>
            <a:r>
              <a:rPr dirty="0" lang="en-US"/>
              <a:t/>
            </a:r>
            <a:br>
              <a:rPr dirty="0" lang="en-US"/>
            </a:br>
            <a:r>
              <a:rPr dirty="0" lang="en-US"/>
              <a:t>strip, halters, or belts. </a:t>
            </a:r>
            <a:br>
              <a:rPr dirty="0" lang="en-US"/>
            </a:br>
            <a:r>
              <a:rPr dirty="0" lang="en-US" smtClean="0"/>
              <a:t>For </a:t>
            </a:r>
            <a:r>
              <a:rPr dirty="0" lang="en-US"/>
              <a:t>temporary use because of skin breakdown</a:t>
            </a:r>
            <a:r>
              <a:rPr dirty="0" lang="en-US" smtClean="0"/>
              <a:t>.</a:t>
            </a:r>
          </a:p>
          <a:p>
            <a:pPr indent="-514350" marL="514350">
              <a:buFont typeface="+mj-lt"/>
              <a:buAutoNum type="alphaLcParenR"/>
            </a:pPr>
            <a:r>
              <a:rPr b="1" dirty="0" lang="en-US"/>
              <a:t>Skeletal </a:t>
            </a:r>
            <a:r>
              <a:rPr b="1" dirty="0" lang="en-US" smtClean="0"/>
              <a:t>traction: </a:t>
            </a:r>
            <a:r>
              <a:rPr dirty="0" lang="en-US" smtClean="0"/>
              <a:t>force </a:t>
            </a:r>
            <a:r>
              <a:rPr dirty="0" lang="en-US"/>
              <a:t>applied directly to a metal pin (</a:t>
            </a:r>
            <a:r>
              <a:rPr b="1" dirty="0" sz="2400" lang="en-US"/>
              <a:t>Steinmann </a:t>
            </a:r>
            <a:r>
              <a:rPr b="1" dirty="0" sz="2400" lang="en-US" smtClean="0"/>
              <a:t>pin</a:t>
            </a:r>
            <a:r>
              <a:rPr dirty="0" lang="en-US" smtClean="0"/>
              <a:t>) </a:t>
            </a:r>
            <a:r>
              <a:rPr dirty="0" lang="en-US"/>
              <a:t>or wire (</a:t>
            </a:r>
            <a:r>
              <a:rPr b="1" dirty="0" sz="2400" lang="en-US" err="1"/>
              <a:t>Kirschner</a:t>
            </a:r>
            <a:r>
              <a:rPr b="1" dirty="0" sz="2400" lang="en-US"/>
              <a:t> wire</a:t>
            </a:r>
            <a:r>
              <a:rPr dirty="0" lang="en-US" smtClean="0"/>
              <a:t>) inserted </a:t>
            </a:r>
            <a:r>
              <a:rPr dirty="0" lang="en-US"/>
              <a:t>through the bone</a:t>
            </a:r>
            <a:r>
              <a:rPr dirty="0" lang="en-US" smtClean="0"/>
              <a:t>.</a:t>
            </a:r>
            <a:r>
              <a:rPr dirty="0" lang="en-US"/>
              <a:t/>
            </a:r>
            <a:br>
              <a:rPr dirty="0" lang="en-US"/>
            </a:br>
            <a:r>
              <a:rPr dirty="0" lang="en-US" smtClean="0"/>
              <a:t>Sites include distal </a:t>
            </a:r>
            <a:r>
              <a:rPr dirty="0" lang="en-US"/>
              <a:t>femur, proximal ulna.</a:t>
            </a:r>
          </a:p>
          <a:p>
            <a:pPr indent="0" marL="0">
              <a:buNone/>
            </a:pPr>
            <a:r>
              <a:rPr b="1" dirty="0" i="1" lang="en-US"/>
              <a:t>Note:</a:t>
            </a:r>
            <a:r>
              <a:rPr dirty="0" lang="en-US"/>
              <a:t> Traction could be </a:t>
            </a:r>
            <a:r>
              <a:rPr dirty="0" lang="en-US" smtClean="0"/>
              <a:t>static (</a:t>
            </a:r>
            <a:r>
              <a:rPr dirty="0" lang="en-US"/>
              <a:t>continuous) or dynamic (intermittent).</a:t>
            </a:r>
          </a:p>
          <a:p>
            <a:pPr indent="-514350" marL="514350">
              <a:buFont typeface="+mj-lt"/>
              <a:buAutoNum type="alphaLcParenR"/>
            </a:pPr>
            <a:endParaRPr dirty="0" lang="en-US" smtClean="0"/>
          </a:p>
          <a:p>
            <a:pPr>
              <a:buNone/>
            </a:pPr>
            <a:endParaRPr dirty="0" lang="en-US"/>
          </a:p>
        </p:txBody>
      </p:sp>
    </p:spTree>
  </p:cSld>
  <p:clrMapOvr>
    <a:masterClrMapping/>
  </p:clrMapOvr>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376" name=""/>
        <p:cNvGrpSpPr/>
        <p:nvPr/>
      </p:nvGrpSpPr>
      <p:grpSpPr>
        <a:xfrm>
          <a:off x="0" y="0"/>
          <a:ext cx="0" cy="0"/>
          <a:chOff x="0" y="0"/>
          <a:chExt cx="0" cy="0"/>
        </a:xfrm>
      </p:grpSpPr>
      <p:sp>
        <p:nvSpPr>
          <p:cNvPr id="1048889" name="Title 1"/>
          <p:cNvSpPr>
            <a:spLocks noGrp="1"/>
          </p:cNvSpPr>
          <p:nvPr>
            <p:ph type="title"/>
          </p:nvPr>
        </p:nvSpPr>
        <p:spPr>
          <a:xfrm>
            <a:off x="152400" y="228600"/>
            <a:ext cx="8613648" cy="533400"/>
          </a:xfrm>
        </p:spPr>
        <p:txBody>
          <a:bodyPr>
            <a:normAutofit fontScale="90000"/>
          </a:bodyPr>
          <a:p>
            <a:r>
              <a:rPr dirty="0" lang="en-US" smtClean="0"/>
              <a:t>SKELETAL </a:t>
            </a:r>
            <a:r>
              <a:rPr dirty="0" lang="en-US"/>
              <a:t>TRACTION</a:t>
            </a:r>
          </a:p>
        </p:txBody>
      </p:sp>
      <p:pic>
        <p:nvPicPr>
          <p:cNvPr id="2097188" name="Content Placeholder 3"/>
          <p:cNvPicPr>
            <a:picLocks noChangeAspect="1" noGrp="1"/>
          </p:cNvPicPr>
          <p:nvPr>
            <p:ph sz="quarter" idx="1"/>
          </p:nvPr>
        </p:nvPicPr>
        <p:blipFill>
          <a:blip xmlns:r="http://schemas.openxmlformats.org/officeDocument/2006/relationships" r:embed="rId1"/>
          <a:stretch>
            <a:fillRect/>
          </a:stretch>
        </p:blipFill>
        <p:spPr>
          <a:xfrm>
            <a:off x="0" y="2958489"/>
            <a:ext cx="5932816" cy="3783842"/>
          </a:xfrm>
          <a:prstGeom prst="rect"/>
        </p:spPr>
      </p:pic>
      <p:sp>
        <p:nvSpPr>
          <p:cNvPr id="1048890" name="TextBox 6"/>
          <p:cNvSpPr txBox="1"/>
          <p:nvPr/>
        </p:nvSpPr>
        <p:spPr>
          <a:xfrm>
            <a:off x="6172200" y="5410200"/>
            <a:ext cx="2971800" cy="1015663"/>
          </a:xfrm>
          <a:prstGeom prst="rect"/>
          <a:noFill/>
        </p:spPr>
        <p:txBody>
          <a:bodyPr rtlCol="0" wrap="square">
            <a:spAutoFit/>
          </a:bodyPr>
          <a:p>
            <a:r>
              <a:rPr dirty="0" sz="2000" lang="en-US"/>
              <a:t>Balanced suspension </a:t>
            </a:r>
            <a:endParaRPr dirty="0" sz="2000" lang="en-US" smtClean="0"/>
          </a:p>
          <a:p>
            <a:r>
              <a:rPr dirty="0" sz="2000" lang="en-US" smtClean="0"/>
              <a:t>skeletal traction with </a:t>
            </a:r>
            <a:r>
              <a:rPr dirty="0" sz="2000" lang="en-US"/>
              <a:t>Thomas leg splint</a:t>
            </a:r>
            <a:r>
              <a:rPr dirty="0" lang="en-US" smtClean="0"/>
              <a:t>.</a:t>
            </a:r>
            <a:endParaRPr dirty="0" lang="en-US"/>
          </a:p>
        </p:txBody>
      </p:sp>
      <p:pic>
        <p:nvPicPr>
          <p:cNvPr id="2097189" name="Picture 7"/>
          <p:cNvPicPr>
            <a:picLocks noChangeAspect="1"/>
          </p:cNvPicPr>
          <p:nvPr/>
        </p:nvPicPr>
        <p:blipFill>
          <a:blip xmlns:r="http://schemas.openxmlformats.org/officeDocument/2006/relationships" r:embed="rId2"/>
          <a:stretch>
            <a:fillRect/>
          </a:stretch>
        </p:blipFill>
        <p:spPr>
          <a:xfrm>
            <a:off x="4724400" y="142190"/>
            <a:ext cx="4342263" cy="2943910"/>
          </a:xfrm>
          <a:prstGeom prst="rect"/>
        </p:spPr>
      </p:pic>
    </p:spTree>
  </p:cSld>
  <p:clrMapOvr>
    <a:masterClrMapping/>
  </p:clrMapOvr>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377" name=""/>
        <p:cNvGrpSpPr/>
        <p:nvPr/>
      </p:nvGrpSpPr>
      <p:grpSpPr>
        <a:xfrm>
          <a:off x="0" y="0"/>
          <a:ext cx="0" cy="0"/>
          <a:chOff x="0" y="0"/>
          <a:chExt cx="0" cy="0"/>
        </a:xfrm>
      </p:grpSpPr>
      <p:sp>
        <p:nvSpPr>
          <p:cNvPr id="1048891" name="Title 1"/>
          <p:cNvSpPr>
            <a:spLocks noGrp="1"/>
          </p:cNvSpPr>
          <p:nvPr>
            <p:ph type="title"/>
          </p:nvPr>
        </p:nvSpPr>
        <p:spPr>
          <a:xfrm>
            <a:off x="612648" y="228600"/>
            <a:ext cx="8153400" cy="457200"/>
          </a:xfrm>
        </p:spPr>
        <p:txBody>
          <a:bodyPr>
            <a:normAutofit fontScale="90000"/>
          </a:bodyPr>
          <a:p>
            <a:r>
              <a:rPr dirty="0" lang="en-US" smtClean="0"/>
              <a:t>SKIN TRACTION</a:t>
            </a:r>
            <a:endParaRPr dirty="0" lang="en-US"/>
          </a:p>
        </p:txBody>
      </p:sp>
      <p:pic>
        <p:nvPicPr>
          <p:cNvPr id="2097190" name="Content Placeholder 3"/>
          <p:cNvPicPr>
            <a:picLocks noChangeAspect="1" noGrp="1"/>
          </p:cNvPicPr>
          <p:nvPr>
            <p:ph sz="quarter" idx="1"/>
          </p:nvPr>
        </p:nvPicPr>
        <p:blipFill>
          <a:blip xmlns:r="http://schemas.openxmlformats.org/officeDocument/2006/relationships" r:embed="rId1"/>
          <a:stretch>
            <a:fillRect/>
          </a:stretch>
        </p:blipFill>
        <p:spPr>
          <a:xfrm>
            <a:off x="10236" y="3390990"/>
            <a:ext cx="4724370" cy="3095626"/>
          </a:xfrm>
          <a:prstGeom prst="rect"/>
        </p:spPr>
      </p:pic>
      <p:sp>
        <p:nvSpPr>
          <p:cNvPr id="1048892" name="TextBox 4"/>
          <p:cNvSpPr txBox="1"/>
          <p:nvPr/>
        </p:nvSpPr>
        <p:spPr>
          <a:xfrm>
            <a:off x="304800" y="6286561"/>
            <a:ext cx="3124200" cy="369332"/>
          </a:xfrm>
          <a:prstGeom prst="rect"/>
          <a:noFill/>
        </p:spPr>
        <p:txBody>
          <a:bodyPr rtlCol="0" wrap="square">
            <a:spAutoFit/>
          </a:bodyPr>
          <a:p>
            <a:r>
              <a:rPr b="1" dirty="0" lang="en-US"/>
              <a:t>RUSSELL </a:t>
            </a:r>
            <a:r>
              <a:rPr b="1" dirty="0" lang="en-US" smtClean="0"/>
              <a:t>TRACTION (SKIN)</a:t>
            </a:r>
            <a:endParaRPr dirty="0" lang="en-US"/>
          </a:p>
        </p:txBody>
      </p:sp>
      <p:pic>
        <p:nvPicPr>
          <p:cNvPr id="2097191" name="Picture 5"/>
          <p:cNvPicPr>
            <a:picLocks noChangeAspect="1"/>
          </p:cNvPicPr>
          <p:nvPr/>
        </p:nvPicPr>
        <p:blipFill>
          <a:blip xmlns:r="http://schemas.openxmlformats.org/officeDocument/2006/relationships" r:embed="rId2"/>
          <a:stretch>
            <a:fillRect/>
          </a:stretch>
        </p:blipFill>
        <p:spPr>
          <a:xfrm>
            <a:off x="5029198" y="3024378"/>
            <a:ext cx="3965854" cy="3276601"/>
          </a:xfrm>
          <a:prstGeom prst="rect"/>
        </p:spPr>
      </p:pic>
      <p:sp>
        <p:nvSpPr>
          <p:cNvPr id="1048893" name="TextBox 6"/>
          <p:cNvSpPr txBox="1"/>
          <p:nvPr/>
        </p:nvSpPr>
        <p:spPr>
          <a:xfrm>
            <a:off x="5258002" y="6317339"/>
            <a:ext cx="3508247" cy="338554"/>
          </a:xfrm>
          <a:prstGeom prst="rect"/>
          <a:noFill/>
        </p:spPr>
        <p:txBody>
          <a:bodyPr rtlCol="0" wrap="square">
            <a:spAutoFit/>
          </a:bodyPr>
          <a:p>
            <a:r>
              <a:rPr b="1" dirty="0" sz="1600" lang="en-US" smtClean="0"/>
              <a:t>BUCK’S EXTENSION TRACTION (SKIN)</a:t>
            </a:r>
            <a:endParaRPr b="1" dirty="0" sz="1600" lang="en-US"/>
          </a:p>
        </p:txBody>
      </p:sp>
      <p:pic>
        <p:nvPicPr>
          <p:cNvPr id="2097192" name="Content Placeholder 3"/>
          <p:cNvPicPr>
            <a:picLocks/>
          </p:cNvPicPr>
          <p:nvPr/>
        </p:nvPicPr>
        <p:blipFill rotWithShape="1">
          <a:blip xmlns:r="http://schemas.openxmlformats.org/officeDocument/2006/relationships" r:embed="rId3" cstate="print"/>
          <a:srcRect l="1419" t="26881" r="62411" b="43011"/>
          <a:stretch>
            <a:fillRect/>
          </a:stretch>
        </p:blipFill>
        <p:spPr bwMode="auto">
          <a:xfrm>
            <a:off x="5029198" y="76199"/>
            <a:ext cx="3965854" cy="2778901"/>
          </a:xfrm>
          <a:prstGeom prst="rect"/>
          <a:noFill/>
          <a:ln w="9525">
            <a:noFill/>
            <a:miter lim="800000"/>
            <a:headEnd/>
            <a:tailEnd/>
          </a:ln>
        </p:spPr>
      </p:pic>
    </p:spTree>
  </p:cSld>
  <p:clrMapOvr>
    <a:masterClrMapping/>
  </p:clrMapOvr>
  <p:timing/>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378" name=""/>
        <p:cNvGrpSpPr/>
        <p:nvPr/>
      </p:nvGrpSpPr>
      <p:grpSpPr>
        <a:xfrm>
          <a:off x="0" y="0"/>
          <a:ext cx="0" cy="0"/>
          <a:chOff x="0" y="0"/>
          <a:chExt cx="0" cy="0"/>
        </a:xfrm>
      </p:grpSpPr>
      <p:sp>
        <p:nvSpPr>
          <p:cNvPr id="1048894" name="Title 1"/>
          <p:cNvSpPr>
            <a:spLocks noGrp="1"/>
          </p:cNvSpPr>
          <p:nvPr>
            <p:ph type="title"/>
          </p:nvPr>
        </p:nvSpPr>
        <p:spPr>
          <a:xfrm>
            <a:off x="457200" y="274638"/>
            <a:ext cx="8229600" cy="563562"/>
          </a:xfrm>
        </p:spPr>
        <p:txBody>
          <a:bodyPr>
            <a:normAutofit fontScale="90000"/>
          </a:bodyPr>
          <a:p>
            <a:r>
              <a:rPr dirty="0" lang="en-US" smtClean="0"/>
              <a:t>OTHER EXAMPLES </a:t>
            </a:r>
            <a:endParaRPr dirty="0" lang="en-US"/>
          </a:p>
        </p:txBody>
      </p:sp>
      <p:pic>
        <p:nvPicPr>
          <p:cNvPr id="2097193" name="Content Placeholder 3"/>
          <p:cNvPicPr>
            <a:picLocks noGrp="1"/>
          </p:cNvPicPr>
          <p:nvPr>
            <p:ph sz="quarter" idx="1"/>
          </p:nvPr>
        </p:nvPicPr>
        <p:blipFill rotWithShape="1">
          <a:blip xmlns:r="http://schemas.openxmlformats.org/officeDocument/2006/relationships" r:embed="rId1" cstate="print"/>
          <a:srcRect t="60215"/>
          <a:stretch>
            <a:fillRect/>
          </a:stretch>
        </p:blipFill>
        <p:spPr bwMode="auto">
          <a:xfrm>
            <a:off x="304800" y="914400"/>
            <a:ext cx="8839200" cy="5715000"/>
          </a:xfrm>
          <a:prstGeom prst="rect"/>
          <a:noFill/>
          <a:ln w="9525">
            <a:noFill/>
            <a:miter lim="800000"/>
            <a:headEnd/>
            <a:tailEnd/>
          </a:ln>
        </p:spPr>
      </p:pic>
    </p:spTree>
  </p:cSld>
  <p:clrMapOvr>
    <a:masterClrMapping/>
  </p:clrMapOvr>
  <p:timing/>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379" name=""/>
        <p:cNvGrpSpPr/>
        <p:nvPr/>
      </p:nvGrpSpPr>
      <p:grpSpPr>
        <a:xfrm>
          <a:off x="0" y="0"/>
          <a:ext cx="0" cy="0"/>
          <a:chOff x="0" y="0"/>
          <a:chExt cx="0" cy="0"/>
        </a:xfrm>
      </p:grpSpPr>
      <p:sp>
        <p:nvSpPr>
          <p:cNvPr id="1048895" name="Title 1"/>
          <p:cNvSpPr>
            <a:spLocks noGrp="1"/>
          </p:cNvSpPr>
          <p:nvPr>
            <p:ph type="title"/>
          </p:nvPr>
        </p:nvSpPr>
        <p:spPr/>
        <p:txBody>
          <a:bodyPr/>
          <a:p>
            <a:r>
              <a:rPr b="1" dirty="0" lang="en-US"/>
              <a:t>NURSING </a:t>
            </a:r>
            <a:r>
              <a:rPr b="1" dirty="0" lang="en-US" smtClean="0"/>
              <a:t>MANAGEMENT</a:t>
            </a:r>
            <a:endParaRPr b="1" dirty="0" lang="en-US"/>
          </a:p>
        </p:txBody>
      </p:sp>
      <p:sp>
        <p:nvSpPr>
          <p:cNvPr id="1048896" name="Content Placeholder 2"/>
          <p:cNvSpPr>
            <a:spLocks noGrp="1"/>
          </p:cNvSpPr>
          <p:nvPr>
            <p:ph sz="quarter" idx="1"/>
          </p:nvPr>
        </p:nvSpPr>
        <p:spPr>
          <a:xfrm>
            <a:off x="228600" y="1219200"/>
            <a:ext cx="8763000" cy="5562600"/>
          </a:xfrm>
        </p:spPr>
        <p:txBody>
          <a:bodyPr>
            <a:normAutofit fontScale="92308" lnSpcReduction="10000"/>
          </a:bodyPr>
          <a:p>
            <a:pPr indent="-514350" marL="514350">
              <a:buFont typeface="+mj-lt"/>
              <a:buAutoNum type="arabicPeriod"/>
            </a:pPr>
            <a:r>
              <a:rPr dirty="0" lang="en-US" u="sng" smtClean="0"/>
              <a:t>Immobilize fractured extremity &amp; provide emergency care before transporting victim.</a:t>
            </a:r>
          </a:p>
          <a:p>
            <a:pPr indent="-514350" marL="514350">
              <a:spcBef>
                <a:spcPts val="1200"/>
              </a:spcBef>
              <a:spcAft>
                <a:spcPts val="600"/>
              </a:spcAft>
              <a:buAutoNum type="alphaLcParenR"/>
            </a:pPr>
            <a:r>
              <a:rPr dirty="0" lang="en-US" smtClean="0"/>
              <a:t>Evaluate circulation distal to injury</a:t>
            </a:r>
          </a:p>
          <a:p>
            <a:pPr indent="-514350" marL="514350">
              <a:spcBef>
                <a:spcPts val="1200"/>
              </a:spcBef>
              <a:spcAft>
                <a:spcPts val="600"/>
              </a:spcAft>
              <a:buAutoNum type="alphaLcParenR"/>
            </a:pPr>
            <a:r>
              <a:rPr dirty="0" lang="en-US" smtClean="0"/>
              <a:t>If pulses are not present or if the extremity must be realigned to apply splint for transfer, apply just enough traction to support &amp; immobilize the fractured extremity in a position of the proper alignment. </a:t>
            </a:r>
          </a:p>
          <a:p>
            <a:pPr indent="-514350" marL="514350">
              <a:spcBef>
                <a:spcPts val="1200"/>
              </a:spcBef>
              <a:spcAft>
                <a:spcPts val="600"/>
              </a:spcAft>
              <a:buAutoNum type="alphaLcParenR"/>
            </a:pPr>
            <a:r>
              <a:rPr dirty="0" lang="en-US" smtClean="0"/>
              <a:t>Splint </a:t>
            </a:r>
            <a:r>
              <a:rPr dirty="0" lang="en-US"/>
              <a:t>&amp; immobilize extremity before transfer. </a:t>
            </a:r>
          </a:p>
          <a:p>
            <a:pPr indent="0" lvl="1" marL="320040">
              <a:spcBef>
                <a:spcPts val="1200"/>
              </a:spcBef>
              <a:spcAft>
                <a:spcPts val="600"/>
              </a:spcAft>
              <a:buNone/>
            </a:pPr>
            <a:r>
              <a:rPr b="1" dirty="0" lang="en-US" smtClean="0"/>
              <a:t>Note:</a:t>
            </a:r>
            <a:r>
              <a:rPr dirty="0" lang="en-US" smtClean="0"/>
              <a:t> traction </a:t>
            </a:r>
            <a:r>
              <a:rPr dirty="0" lang="en-US"/>
              <a:t>to compound </a:t>
            </a:r>
            <a:r>
              <a:rPr dirty="0" lang="en-US" smtClean="0"/>
              <a:t>fractures may cause more </a:t>
            </a:r>
            <a:r>
              <a:rPr dirty="0" lang="en-US"/>
              <a:t>damage.</a:t>
            </a:r>
          </a:p>
          <a:p>
            <a:pPr indent="-514350" marL="514350">
              <a:spcBef>
                <a:spcPts val="1200"/>
              </a:spcBef>
              <a:spcAft>
                <a:spcPts val="600"/>
              </a:spcAft>
              <a:buAutoNum type="alphaLcParenR"/>
            </a:pPr>
            <a:r>
              <a:rPr dirty="0" lang="en-US" smtClean="0"/>
              <a:t>Elevate </a:t>
            </a:r>
            <a:r>
              <a:rPr dirty="0" lang="en-US"/>
              <a:t>the affected extremity, if possible, to decrease edema.</a:t>
            </a:r>
          </a:p>
          <a:p>
            <a:pPr indent="-514350" marL="514350">
              <a:buAutoNum type="alphaLcParenR"/>
            </a:pPr>
            <a:endParaRPr dirty="0" lang="en-US"/>
          </a:p>
        </p:txBody>
      </p:sp>
    </p:spTree>
  </p:cSld>
  <p:clrMapOvr>
    <a:masterClrMapping/>
  </p:clrMapOvr>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380" name=""/>
        <p:cNvGrpSpPr/>
        <p:nvPr/>
      </p:nvGrpSpPr>
      <p:grpSpPr>
        <a:xfrm>
          <a:off x="0" y="0"/>
          <a:ext cx="0" cy="0"/>
          <a:chOff x="0" y="0"/>
          <a:chExt cx="0" cy="0"/>
        </a:xfrm>
      </p:grpSpPr>
      <p:sp>
        <p:nvSpPr>
          <p:cNvPr id="1048897" name="Content Placeholder 2"/>
          <p:cNvSpPr>
            <a:spLocks noGrp="1"/>
          </p:cNvSpPr>
          <p:nvPr>
            <p:ph sz="quarter" idx="1"/>
          </p:nvPr>
        </p:nvSpPr>
        <p:spPr>
          <a:xfrm>
            <a:off x="152400" y="228600"/>
            <a:ext cx="8613648" cy="6324600"/>
          </a:xfrm>
        </p:spPr>
        <p:txBody>
          <a:bodyPr>
            <a:normAutofit fontScale="96154" lnSpcReduction="10000"/>
          </a:bodyPr>
          <a:p>
            <a:pPr indent="-514350" marL="514350">
              <a:buFont typeface="+mj-lt"/>
              <a:buAutoNum type="arabicPeriod" startAt="2"/>
            </a:pPr>
            <a:r>
              <a:rPr dirty="0" lang="en-US" u="sng" smtClean="0"/>
              <a:t>Identify complications early</a:t>
            </a:r>
          </a:p>
          <a:p>
            <a:pPr indent="0" lvl="1" marL="320040">
              <a:buNone/>
            </a:pPr>
            <a:r>
              <a:rPr dirty="0" lang="en-US" smtClean="0"/>
              <a:t>Perform frequent peripheral nerve &amp; vascular assessments distal to the area of injury or cast.</a:t>
            </a:r>
          </a:p>
          <a:p>
            <a:pPr indent="-514350" marL="514350">
              <a:spcAft>
                <a:spcPts val="600"/>
              </a:spcAft>
              <a:buFont typeface="+mj-lt"/>
              <a:buAutoNum type="alphaLcParenR"/>
            </a:pPr>
            <a:r>
              <a:rPr dirty="0" lang="en-US" smtClean="0"/>
              <a:t>Impaired blood flow: </a:t>
            </a:r>
          </a:p>
          <a:p>
            <a:pPr lvl="1">
              <a:spcAft>
                <a:spcPts val="600"/>
              </a:spcAft>
              <a:buFont typeface="Wingdings" panose="05000000000000000000" pitchFamily="2" charset="2"/>
              <a:buChar char="q"/>
            </a:pPr>
            <a:r>
              <a:rPr dirty="0" lang="en-US" err="1" smtClean="0"/>
              <a:t>pulselessness</a:t>
            </a:r>
            <a:r>
              <a:rPr dirty="0" lang="en-US" smtClean="0"/>
              <a:t>, pale skin &amp; cool to touch, pain, swelling, edema distal to injury or cast, capillary refill &gt;3 sec.</a:t>
            </a:r>
          </a:p>
          <a:p>
            <a:pPr indent="-514350" marL="514350">
              <a:spcAft>
                <a:spcPts val="600"/>
              </a:spcAft>
              <a:buFont typeface="+mj-lt"/>
              <a:buAutoNum type="alphaLcParenR"/>
            </a:pPr>
            <a:r>
              <a:rPr dirty="0" lang="en-US" smtClean="0"/>
              <a:t>Compartment </a:t>
            </a:r>
            <a:r>
              <a:rPr dirty="0" lang="en-US"/>
              <a:t>syndrome.</a:t>
            </a:r>
          </a:p>
          <a:p>
            <a:pPr lvl="1"/>
            <a:r>
              <a:rPr dirty="0" lang="en-US"/>
              <a:t>Significant increase in pain not responding to analgesic.</a:t>
            </a:r>
          </a:p>
          <a:p>
            <a:pPr lvl="1"/>
            <a:r>
              <a:rPr dirty="0" lang="en-US"/>
              <a:t>Loss of movement &amp; sensation distal to cast.</a:t>
            </a:r>
          </a:p>
          <a:p>
            <a:pPr lvl="1"/>
            <a:r>
              <a:rPr dirty="0" lang="en-US"/>
              <a:t>Skin is pale &amp; cool to touch.</a:t>
            </a:r>
          </a:p>
          <a:p>
            <a:pPr lvl="1"/>
            <a:r>
              <a:rPr dirty="0" lang="en-US"/>
              <a:t>Edema distal to injury or cast.</a:t>
            </a:r>
          </a:p>
          <a:p>
            <a:pPr lvl="1"/>
            <a:r>
              <a:rPr dirty="0" lang="en-US"/>
              <a:t>Pulses may be present initially.</a:t>
            </a:r>
          </a:p>
          <a:p>
            <a:pPr lvl="1"/>
            <a:r>
              <a:rPr dirty="0" lang="en-US"/>
              <a:t> Notify physician immediately.</a:t>
            </a:r>
          </a:p>
          <a:p>
            <a:pPr indent="-514350" marL="514350">
              <a:buFont typeface="+mj-lt"/>
              <a:buAutoNum type="alphaLcParenR"/>
            </a:pPr>
            <a:endParaRPr dirty="0" lang="en-US" smtClean="0"/>
          </a:p>
        </p:txBody>
      </p:sp>
    </p:spTree>
  </p:cSld>
  <p:clrMapOvr>
    <a:masterClrMapping/>
  </p:clrMapOvr>
  <p:timing/>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381" name=""/>
        <p:cNvGrpSpPr/>
        <p:nvPr/>
      </p:nvGrpSpPr>
      <p:grpSpPr>
        <a:xfrm>
          <a:off x="0" y="0"/>
          <a:ext cx="0" cy="0"/>
          <a:chOff x="0" y="0"/>
          <a:chExt cx="0" cy="0"/>
        </a:xfrm>
      </p:grpSpPr>
      <p:sp>
        <p:nvSpPr>
          <p:cNvPr id="1048898" name="Content Placeholder 2"/>
          <p:cNvSpPr>
            <a:spLocks noGrp="1"/>
          </p:cNvSpPr>
          <p:nvPr>
            <p:ph sz="quarter" idx="1"/>
          </p:nvPr>
        </p:nvSpPr>
        <p:spPr>
          <a:xfrm>
            <a:off x="228600" y="1600200"/>
            <a:ext cx="8537448" cy="4572000"/>
          </a:xfrm>
        </p:spPr>
        <p:txBody>
          <a:bodyPr>
            <a:normAutofit/>
          </a:bodyPr>
          <a:p>
            <a:pPr indent="-514350" marL="514350">
              <a:buFont typeface="+mj-lt"/>
              <a:buAutoNum type="alphaLcParenR" startAt="3"/>
            </a:pPr>
            <a:r>
              <a:rPr dirty="0" lang="en-US" smtClean="0"/>
              <a:t>Nerve damage from excess pressure.</a:t>
            </a:r>
          </a:p>
          <a:p>
            <a:pPr lvl="1"/>
            <a:r>
              <a:rPr dirty="0" lang="en-US" smtClean="0"/>
              <a:t>Paresthesia; numbness distal to injury or cast.</a:t>
            </a:r>
          </a:p>
          <a:p>
            <a:pPr lvl="1"/>
            <a:r>
              <a:rPr dirty="0" lang="en-US" smtClean="0"/>
              <a:t>Motor paralysis of previously functioning muscles.</a:t>
            </a:r>
          </a:p>
          <a:p>
            <a:pPr lvl="1"/>
            <a:r>
              <a:rPr dirty="0" lang="en-US" smtClean="0"/>
              <a:t>Feeling of deep pain &amp; pressure.</a:t>
            </a:r>
          </a:p>
          <a:p>
            <a:pPr indent="-514350" marL="514350">
              <a:buFont typeface="+mj-lt"/>
              <a:buAutoNum type="alphaLcParenR" startAt="4"/>
            </a:pPr>
            <a:r>
              <a:rPr dirty="0" lang="en-US" smtClean="0"/>
              <a:t>Infection: </a:t>
            </a:r>
          </a:p>
          <a:p>
            <a:pPr lvl="1">
              <a:buFont typeface="Wingdings" panose="05000000000000000000" pitchFamily="2" charset="2"/>
              <a:buChar char="q"/>
            </a:pPr>
            <a:r>
              <a:rPr dirty="0" lang="en-US" smtClean="0"/>
              <a:t>May occur within the cast </a:t>
            </a:r>
            <a:r>
              <a:rPr dirty="0" lang="en-US" err="1" smtClean="0"/>
              <a:t>i.e</a:t>
            </a:r>
            <a:r>
              <a:rPr dirty="0" lang="en-US" smtClean="0"/>
              <a:t> unpleasant odor, purulent drainage, fever, &amp; increased warmth over cast</a:t>
            </a:r>
            <a:r>
              <a:rPr dirty="0" lang="en-US"/>
              <a:t>.</a:t>
            </a:r>
          </a:p>
        </p:txBody>
      </p:sp>
    </p:spTree>
  </p:cSld>
  <p:clrMapOvr>
    <a:masterClrMapping/>
  </p:clrMapOvr>
  <p:timing/>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382" name=""/>
        <p:cNvGrpSpPr/>
        <p:nvPr/>
      </p:nvGrpSpPr>
      <p:grpSpPr>
        <a:xfrm>
          <a:off x="0" y="0"/>
          <a:ext cx="0" cy="0"/>
          <a:chOff x="0" y="0"/>
          <a:chExt cx="0" cy="0"/>
        </a:xfrm>
      </p:grpSpPr>
      <p:sp>
        <p:nvSpPr>
          <p:cNvPr id="1048899" name="Content Placeholder 2"/>
          <p:cNvSpPr>
            <a:spLocks noGrp="1"/>
          </p:cNvSpPr>
          <p:nvPr>
            <p:ph sz="quarter" idx="1"/>
          </p:nvPr>
        </p:nvSpPr>
        <p:spPr>
          <a:xfrm>
            <a:off x="152400" y="685800"/>
            <a:ext cx="8915400" cy="5638800"/>
          </a:xfrm>
        </p:spPr>
        <p:txBody>
          <a:bodyPr>
            <a:normAutofit fontScale="92308" lnSpcReduction="10000"/>
          </a:bodyPr>
          <a:p>
            <a:pPr indent="-514350" marL="514350">
              <a:buFont typeface="+mj-lt"/>
              <a:buAutoNum type="arabicPeriod" startAt="3"/>
            </a:pPr>
            <a:r>
              <a:rPr dirty="0" lang="en-US" u="sng" smtClean="0"/>
              <a:t>Immobilize by cast </a:t>
            </a:r>
            <a:r>
              <a:rPr dirty="0" lang="en-US" u="sng"/>
              <a:t>(intermediate- </a:t>
            </a:r>
            <a:r>
              <a:rPr dirty="0" lang="en-US" u="sng" smtClean="0"/>
              <a:t>Long-term).</a:t>
            </a:r>
          </a:p>
          <a:p>
            <a:pPr indent="-514350" marL="514350">
              <a:buFont typeface="+mj-lt"/>
              <a:buAutoNum type="alphaLcParenR"/>
            </a:pPr>
            <a:r>
              <a:rPr b="1" dirty="0" lang="en-US" smtClean="0"/>
              <a:t>Plaster cast: </a:t>
            </a:r>
            <a:r>
              <a:rPr dirty="0" lang="en-US" smtClean="0"/>
              <a:t>allow cast to dry adequately before handling or moving the </a:t>
            </a:r>
            <a:r>
              <a:rPr dirty="0" lang="en-US" err="1" smtClean="0"/>
              <a:t>pt</a:t>
            </a:r>
            <a:r>
              <a:rPr dirty="0" lang="en-US" smtClean="0"/>
              <a:t> </a:t>
            </a:r>
            <a:r>
              <a:rPr dirty="0" lang="en-US" err="1" smtClean="0"/>
              <a:t>i.e</a:t>
            </a:r>
            <a:endParaRPr dirty="0" lang="en-US" smtClean="0"/>
          </a:p>
          <a:p>
            <a:pPr lvl="1"/>
            <a:r>
              <a:rPr dirty="0" lang="en-US" smtClean="0"/>
              <a:t>Do not cover the cast with a blanket</a:t>
            </a:r>
          </a:p>
          <a:p>
            <a:pPr lvl="1"/>
            <a:r>
              <a:rPr dirty="0" lang="en-US" smtClean="0"/>
              <a:t>Encourage drying of casts using funs &amp; maintaining adequate circulation.</a:t>
            </a:r>
          </a:p>
          <a:p>
            <a:pPr lvl="1"/>
            <a:r>
              <a:rPr dirty="0" lang="en-US" smtClean="0"/>
              <a:t>Avoid handling wet cast to prevent indentations in the cast, which may precipitate pressure areas inside the cast</a:t>
            </a:r>
          </a:p>
          <a:p>
            <a:pPr lvl="1"/>
            <a:r>
              <a:rPr dirty="0" lang="en-US"/>
              <a:t>Reposition </a:t>
            </a:r>
            <a:r>
              <a:rPr dirty="0" lang="en-US" err="1"/>
              <a:t>pt</a:t>
            </a:r>
            <a:r>
              <a:rPr dirty="0" lang="en-US"/>
              <a:t> every 2 </a:t>
            </a:r>
            <a:r>
              <a:rPr dirty="0" lang="en-US" err="1"/>
              <a:t>hrs</a:t>
            </a:r>
            <a:r>
              <a:rPr dirty="0" lang="en-US"/>
              <a:t> to increase drying on all cast surfaces.</a:t>
            </a:r>
          </a:p>
          <a:p>
            <a:pPr lvl="1"/>
            <a:r>
              <a:rPr dirty="0" lang="en-US"/>
              <a:t>“</a:t>
            </a:r>
            <a:r>
              <a:rPr dirty="0" lang="en-US" err="1"/>
              <a:t>petaling</a:t>
            </a:r>
            <a:r>
              <a:rPr dirty="0" lang="en-US"/>
              <a:t>” the cast is done to cover the rough edges &amp; prevent crumbling of the plaster cast; edges are covered with small strips of waterproof adhesive</a:t>
            </a:r>
          </a:p>
          <a:p>
            <a:pPr lvl="1"/>
            <a:r>
              <a:rPr dirty="0" lang="en-US"/>
              <a:t>Do not allow cast to become wet or excessively damp </a:t>
            </a:r>
          </a:p>
          <a:p>
            <a:pPr indent="0" lvl="1" marL="365760">
              <a:buNone/>
            </a:pPr>
            <a:r>
              <a:rPr b="1" dirty="0" lang="en-US" smtClean="0"/>
              <a:t>Note:</a:t>
            </a:r>
            <a:r>
              <a:rPr dirty="0" lang="en-US" smtClean="0"/>
              <a:t> </a:t>
            </a:r>
            <a:r>
              <a:rPr dirty="0" lang="en-US"/>
              <a:t>do not apply any form of heat to dry the cast</a:t>
            </a:r>
            <a:r>
              <a:rPr dirty="0" lang="en-US" smtClean="0"/>
              <a:t>.</a:t>
            </a:r>
            <a:endParaRPr dirty="0" lang="en-US"/>
          </a:p>
        </p:txBody>
      </p:sp>
    </p:spTree>
  </p:cSld>
  <p:clrMapOvr>
    <a:masterClrMapping/>
  </p:clrMapOvr>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383" name=""/>
        <p:cNvGrpSpPr/>
        <p:nvPr/>
      </p:nvGrpSpPr>
      <p:grpSpPr>
        <a:xfrm>
          <a:off x="0" y="0"/>
          <a:ext cx="0" cy="0"/>
          <a:chOff x="0" y="0"/>
          <a:chExt cx="0" cy="0"/>
        </a:xfrm>
      </p:grpSpPr>
      <p:sp>
        <p:nvSpPr>
          <p:cNvPr id="1048900" name="Content Placeholder 2"/>
          <p:cNvSpPr>
            <a:spLocks noGrp="1"/>
          </p:cNvSpPr>
          <p:nvPr>
            <p:ph sz="quarter" idx="1"/>
          </p:nvPr>
        </p:nvSpPr>
        <p:spPr>
          <a:xfrm>
            <a:off x="152400" y="228600"/>
            <a:ext cx="8763000" cy="6324600"/>
          </a:xfrm>
        </p:spPr>
        <p:txBody>
          <a:bodyPr>
            <a:normAutofit fontScale="96154" lnSpcReduction="10000"/>
          </a:bodyPr>
          <a:p>
            <a:pPr indent="-514350" marL="514350">
              <a:buFont typeface="+mj-lt"/>
              <a:buAutoNum type="alphaLcParenR" startAt="2"/>
            </a:pPr>
            <a:r>
              <a:rPr b="1" dirty="0" lang="en-US" smtClean="0"/>
              <a:t>Synthetic casts</a:t>
            </a:r>
            <a:r>
              <a:rPr dirty="0" lang="en-US" smtClean="0"/>
              <a:t> (fiberglass, polyester cotton knit) are lighter &amp; require a minimal amount of drying time.</a:t>
            </a:r>
          </a:p>
          <a:p>
            <a:pPr lvl="1"/>
            <a:r>
              <a:rPr dirty="0" lang="en-US" smtClean="0"/>
              <a:t>Frequently used for upper body cast</a:t>
            </a:r>
          </a:p>
          <a:p>
            <a:pPr lvl="1"/>
            <a:r>
              <a:rPr dirty="0" lang="en-US" smtClean="0"/>
              <a:t>Preferable for infants or children.</a:t>
            </a:r>
          </a:p>
          <a:p>
            <a:pPr lvl="1"/>
            <a:r>
              <a:rPr dirty="0" lang="en-US" smtClean="0"/>
              <a:t>Cast does not crumble around the edges &amp; does not soil as easily.</a:t>
            </a:r>
          </a:p>
          <a:p>
            <a:pPr lvl="1"/>
            <a:r>
              <a:rPr dirty="0" lang="en-US" smtClean="0"/>
              <a:t>Cast dries rapidly when it gets dump, &amp; it does not </a:t>
            </a:r>
            <a:r>
              <a:rPr dirty="0" lang="en-US" err="1" smtClean="0"/>
              <a:t>disintergrate</a:t>
            </a:r>
            <a:r>
              <a:rPr dirty="0" lang="en-US" smtClean="0"/>
              <a:t> in water; some synthetic casts can be immersed for bathing.</a:t>
            </a:r>
          </a:p>
          <a:p>
            <a:pPr indent="-514350" marL="514350">
              <a:buFont typeface="+mj-lt"/>
              <a:buAutoNum type="alphaLcParenR" startAt="3"/>
            </a:pPr>
            <a:r>
              <a:rPr b="1" dirty="0" lang="en-US"/>
              <a:t>Body jacket cast &amp; hip </a:t>
            </a:r>
            <a:r>
              <a:rPr b="1" dirty="0" lang="en-US" err="1"/>
              <a:t>spica</a:t>
            </a:r>
            <a:r>
              <a:rPr b="1" dirty="0" lang="en-US"/>
              <a:t> cast.</a:t>
            </a:r>
          </a:p>
          <a:p>
            <a:pPr lvl="1"/>
            <a:r>
              <a:rPr dirty="0" lang="en-US"/>
              <a:t>Evaluate abdominal discomfort caused by cast compression of mesenteric artery against duodenum.</a:t>
            </a:r>
          </a:p>
          <a:p>
            <a:pPr lvl="1"/>
            <a:r>
              <a:rPr dirty="0" lang="en-US"/>
              <a:t>Relief of abdominal pressure can be achieved by means of NGT suction or cast removal &amp; reapplication.</a:t>
            </a:r>
          </a:p>
          <a:p>
            <a:pPr lvl="1"/>
            <a:r>
              <a:rPr dirty="0" lang="en-US"/>
              <a:t>Evaluate for pressure areas over iliac crest.</a:t>
            </a:r>
          </a:p>
          <a:p>
            <a:pPr lvl="1"/>
            <a:endParaRPr dirty="0" lang="en-US" smtClean="0"/>
          </a:p>
          <a:p>
            <a:pPr lvl="1"/>
            <a:endParaRPr dirty="0" lang="en-US"/>
          </a:p>
        </p:txBody>
      </p:sp>
    </p:spTree>
  </p:cSld>
  <p:clrMapOvr>
    <a:masterClrMapping/>
  </p:clrMapOvr>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384" name=""/>
        <p:cNvGrpSpPr/>
        <p:nvPr/>
      </p:nvGrpSpPr>
      <p:grpSpPr>
        <a:xfrm>
          <a:off x="0" y="0"/>
          <a:ext cx="0" cy="0"/>
          <a:chOff x="0" y="0"/>
          <a:chExt cx="0" cy="0"/>
        </a:xfrm>
      </p:grpSpPr>
      <p:sp>
        <p:nvSpPr>
          <p:cNvPr id="1048901" name="Content Placeholder 2"/>
          <p:cNvSpPr>
            <a:spLocks noGrp="1"/>
          </p:cNvSpPr>
          <p:nvPr>
            <p:ph sz="quarter" idx="1"/>
          </p:nvPr>
        </p:nvSpPr>
        <p:spPr>
          <a:xfrm>
            <a:off x="152400" y="152400"/>
            <a:ext cx="8763000" cy="6477000"/>
          </a:xfrm>
        </p:spPr>
        <p:txBody>
          <a:bodyPr>
            <a:normAutofit fontScale="89655" lnSpcReduction="10000"/>
          </a:bodyPr>
          <a:p>
            <a:pPr indent="-514350" marL="514350">
              <a:buFont typeface="+mj-lt"/>
              <a:buAutoNum type="arabicPeriod" startAt="4"/>
            </a:pPr>
            <a:r>
              <a:rPr dirty="0" lang="en-US" u="sng" smtClean="0"/>
              <a:t>Immobilization via traction.</a:t>
            </a:r>
          </a:p>
          <a:p>
            <a:pPr indent="-514350" marL="514350">
              <a:buFont typeface="+mj-lt"/>
              <a:buAutoNum type="alphaLcParenR"/>
            </a:pPr>
            <a:r>
              <a:rPr dirty="0" lang="en-US" smtClean="0"/>
              <a:t>Assume that traction is continuous unless otherwise ordered.</a:t>
            </a:r>
          </a:p>
          <a:p>
            <a:pPr indent="-514350" marL="514350">
              <a:buFont typeface="+mj-lt"/>
              <a:buAutoNum type="alphaLcParenR"/>
            </a:pPr>
            <a:r>
              <a:rPr dirty="0" lang="en-US" smtClean="0"/>
              <a:t>Carefully assess for skin breakdown especially under the pt. </a:t>
            </a:r>
          </a:p>
          <a:p>
            <a:pPr indent="-514350" marL="514350">
              <a:buFont typeface="+mj-lt"/>
              <a:buAutoNum type="alphaLcParenR"/>
            </a:pPr>
            <a:r>
              <a:rPr dirty="0" lang="en-US"/>
              <a:t>Do not change or remove traction weight on a </a:t>
            </a:r>
            <a:r>
              <a:rPr dirty="0" lang="en-US" err="1"/>
              <a:t>pt</a:t>
            </a:r>
            <a:r>
              <a:rPr dirty="0" lang="en-US"/>
              <a:t> with continuous traction.</a:t>
            </a:r>
          </a:p>
          <a:p>
            <a:pPr indent="-514350" marL="514350">
              <a:buFont typeface="+mj-lt"/>
              <a:buAutoNum type="alphaLcParenR"/>
            </a:pPr>
            <a:r>
              <a:rPr dirty="0" lang="en-US" smtClean="0"/>
              <a:t>The </a:t>
            </a:r>
            <a:r>
              <a:rPr dirty="0" lang="en-US"/>
              <a:t>traction ropes &amp; weights should hang free from any obstruction</a:t>
            </a:r>
          </a:p>
          <a:p>
            <a:pPr indent="-514350" marL="514350">
              <a:buFont typeface="+mj-lt"/>
              <a:buAutoNum type="alphaLcParenR"/>
            </a:pPr>
            <a:r>
              <a:rPr dirty="0" lang="en-US"/>
              <a:t>Traction applied in one direction requires an equal counter-traction to be effective</a:t>
            </a:r>
          </a:p>
          <a:p>
            <a:pPr indent="-514350" marL="514350">
              <a:buFont typeface="+mj-lt"/>
              <a:buAutoNum type="alphaLcParenR"/>
            </a:pPr>
            <a:r>
              <a:rPr dirty="0" lang="en-US"/>
              <a:t>Do not let the </a:t>
            </a:r>
            <a:r>
              <a:rPr dirty="0" lang="en-US" err="1" smtClean="0"/>
              <a:t>pt’s</a:t>
            </a:r>
            <a:r>
              <a:rPr dirty="0" lang="en-US" smtClean="0"/>
              <a:t> </a:t>
            </a:r>
            <a:r>
              <a:rPr dirty="0" lang="en-US"/>
              <a:t>feet touch the edge of the bed, this will cause the counter traction to be lost.</a:t>
            </a:r>
          </a:p>
          <a:p>
            <a:pPr indent="-514350" marL="514350">
              <a:buFont typeface="+mj-lt"/>
              <a:buAutoNum type="alphaLcParenR"/>
            </a:pPr>
            <a:r>
              <a:rPr dirty="0" lang="en-US"/>
              <a:t>Do not allow the traction weights to rest on </a:t>
            </a:r>
            <a:r>
              <a:rPr dirty="0" lang="en-US" smtClean="0"/>
              <a:t>anything</a:t>
            </a:r>
          </a:p>
          <a:p>
            <a:pPr indent="-514350" marL="514350">
              <a:buFont typeface="+mj-lt"/>
              <a:buAutoNum type="alphaLcParenR"/>
            </a:pPr>
            <a:r>
              <a:rPr dirty="0" lang="en-US"/>
              <a:t>Carefully assess the pin sites </a:t>
            </a:r>
            <a:r>
              <a:rPr dirty="0" lang="en-US" smtClean="0"/>
              <a:t>(skeletal traction) for early recognition of complications </a:t>
            </a:r>
            <a:r>
              <a:rPr dirty="0" lang="en-US" err="1" smtClean="0"/>
              <a:t>e.g</a:t>
            </a:r>
            <a:r>
              <a:rPr dirty="0" lang="en-US" smtClean="0"/>
              <a:t> Osteomyelitis</a:t>
            </a:r>
            <a:endParaRPr dirty="0" lang="en-US"/>
          </a:p>
        </p:txBody>
      </p:sp>
    </p:spTree>
  </p:cSld>
  <p:clrMapOvr>
    <a:masterClrMapping/>
  </p:clrMapOvr>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385" name=""/>
        <p:cNvGrpSpPr/>
        <p:nvPr/>
      </p:nvGrpSpPr>
      <p:grpSpPr>
        <a:xfrm>
          <a:off x="0" y="0"/>
          <a:ext cx="0" cy="0"/>
          <a:chOff x="0" y="0"/>
          <a:chExt cx="0" cy="0"/>
        </a:xfrm>
      </p:grpSpPr>
      <p:sp>
        <p:nvSpPr>
          <p:cNvPr id="1048902" name="Content Placeholder 2"/>
          <p:cNvSpPr>
            <a:spLocks noGrp="1"/>
          </p:cNvSpPr>
          <p:nvPr>
            <p:ph sz="quarter" idx="1"/>
          </p:nvPr>
        </p:nvSpPr>
        <p:spPr>
          <a:xfrm>
            <a:off x="381000" y="381000"/>
            <a:ext cx="8385048" cy="5867400"/>
          </a:xfrm>
        </p:spPr>
        <p:txBody>
          <a:bodyPr>
            <a:normAutofit fontScale="89655" lnSpcReduction="20000"/>
          </a:bodyPr>
          <a:p>
            <a:pPr indent="0" marL="0">
              <a:buNone/>
            </a:pPr>
            <a:r>
              <a:rPr b="1" dirty="0" sz="3800" lang="en-US" smtClean="0">
                <a:solidFill>
                  <a:schemeClr val="accent2">
                    <a:lumMod val="50000"/>
                  </a:schemeClr>
                </a:solidFill>
              </a:rPr>
              <a:t>Remember!!</a:t>
            </a:r>
          </a:p>
          <a:p>
            <a:pPr indent="0" marL="0">
              <a:buNone/>
            </a:pPr>
            <a:r>
              <a:rPr b="1" dirty="0" lang="en-US" smtClean="0"/>
              <a:t>PRINCIPLES </a:t>
            </a:r>
            <a:r>
              <a:rPr b="1" dirty="0" lang="en-US"/>
              <a:t>OF </a:t>
            </a:r>
            <a:r>
              <a:rPr b="1" dirty="0" lang="en-US" smtClean="0"/>
              <a:t>TRACTION</a:t>
            </a:r>
            <a:endParaRPr dirty="0" lang="en-US"/>
          </a:p>
          <a:p>
            <a:pPr indent="-514350" marL="514350">
              <a:spcAft>
                <a:spcPts val="1200"/>
              </a:spcAft>
              <a:buFont typeface="+mj-lt"/>
              <a:buAutoNum type="arabicPeriod"/>
            </a:pPr>
            <a:r>
              <a:rPr dirty="0" lang="en-US" smtClean="0"/>
              <a:t>Patient </a:t>
            </a:r>
            <a:r>
              <a:rPr dirty="0" lang="en-US"/>
              <a:t>must be </a:t>
            </a:r>
            <a:r>
              <a:rPr dirty="0" lang="en-US" smtClean="0"/>
              <a:t>in </a:t>
            </a:r>
            <a:r>
              <a:rPr dirty="0" lang="en-US"/>
              <a:t>correct body alignment </a:t>
            </a:r>
            <a:r>
              <a:rPr dirty="0" lang="en-US" smtClean="0"/>
              <a:t>at center </a:t>
            </a:r>
            <a:r>
              <a:rPr dirty="0" lang="en-US"/>
              <a:t>of </a:t>
            </a:r>
            <a:r>
              <a:rPr dirty="0" lang="en-US" smtClean="0"/>
              <a:t>bed</a:t>
            </a:r>
          </a:p>
          <a:p>
            <a:pPr indent="-514350" marL="514350">
              <a:spcAft>
                <a:spcPts val="1200"/>
              </a:spcAft>
              <a:buFont typeface="+mj-lt"/>
              <a:buAutoNum type="arabicPeriod"/>
            </a:pPr>
            <a:r>
              <a:rPr dirty="0" lang="en-US" smtClean="0"/>
              <a:t>Traction </a:t>
            </a:r>
            <a:r>
              <a:rPr dirty="0" lang="en-US"/>
              <a:t>is maintained continuously, unless </a:t>
            </a:r>
            <a:r>
              <a:rPr dirty="0" lang="en-US" smtClean="0"/>
              <a:t>otherwise specified </a:t>
            </a:r>
          </a:p>
          <a:p>
            <a:pPr indent="-514350" marL="514350">
              <a:spcAft>
                <a:spcPts val="1200"/>
              </a:spcAft>
              <a:buFont typeface="+mj-lt"/>
              <a:buAutoNum type="arabicPeriod"/>
            </a:pPr>
            <a:r>
              <a:rPr dirty="0" lang="en-US" smtClean="0"/>
              <a:t>Continuously maintain counter traction </a:t>
            </a:r>
          </a:p>
          <a:p>
            <a:pPr indent="-514350" marL="514350">
              <a:spcAft>
                <a:spcPts val="1200"/>
              </a:spcAft>
              <a:buFont typeface="+mj-lt"/>
              <a:buAutoNum type="arabicPeriod"/>
            </a:pPr>
            <a:r>
              <a:rPr dirty="0" lang="en-US" smtClean="0"/>
              <a:t>All </a:t>
            </a:r>
            <a:r>
              <a:rPr dirty="0" lang="en-US"/>
              <a:t>ropes must move freely on the pulley at all </a:t>
            </a:r>
            <a:r>
              <a:rPr dirty="0" lang="en-US" smtClean="0"/>
              <a:t>times</a:t>
            </a:r>
          </a:p>
          <a:p>
            <a:pPr indent="-514350" marL="514350">
              <a:spcAft>
                <a:spcPts val="1200"/>
              </a:spcAft>
              <a:buFont typeface="+mj-lt"/>
              <a:buAutoNum type="arabicPeriod"/>
            </a:pPr>
            <a:r>
              <a:rPr dirty="0" lang="en-US" smtClean="0"/>
              <a:t>Rope </a:t>
            </a:r>
            <a:r>
              <a:rPr dirty="0" lang="en-US"/>
              <a:t>knots should never touch the pulley </a:t>
            </a:r>
          </a:p>
          <a:p>
            <a:pPr indent="-514350" marL="514350">
              <a:spcAft>
                <a:spcPts val="1200"/>
              </a:spcAft>
              <a:buFont typeface="+mj-lt"/>
              <a:buAutoNum type="arabicPeriod"/>
            </a:pPr>
            <a:r>
              <a:rPr dirty="0" lang="en-US" smtClean="0"/>
              <a:t>Ropes </a:t>
            </a:r>
            <a:r>
              <a:rPr dirty="0" lang="en-US"/>
              <a:t>should be kept clear of bed </a:t>
            </a:r>
            <a:r>
              <a:rPr dirty="0" lang="en-US" smtClean="0"/>
              <a:t>linens/other </a:t>
            </a:r>
            <a:r>
              <a:rPr dirty="0" lang="en-US"/>
              <a:t>objects </a:t>
            </a:r>
          </a:p>
          <a:p>
            <a:pPr indent="-514350" marL="514350">
              <a:spcAft>
                <a:spcPts val="1200"/>
              </a:spcAft>
              <a:buFont typeface="+mj-lt"/>
              <a:buAutoNum type="arabicPeriod"/>
            </a:pPr>
            <a:r>
              <a:rPr dirty="0" lang="en-US" smtClean="0"/>
              <a:t>Weights </a:t>
            </a:r>
            <a:r>
              <a:rPr dirty="0" lang="en-US"/>
              <a:t>must </a:t>
            </a:r>
            <a:r>
              <a:rPr dirty="0" lang="en-US" smtClean="0"/>
              <a:t>always hang </a:t>
            </a:r>
            <a:r>
              <a:rPr dirty="0" lang="en-US"/>
              <a:t>freely </a:t>
            </a:r>
            <a:endParaRPr dirty="0" lang="en-US" smtClean="0"/>
          </a:p>
          <a:p>
            <a:pPr indent="-514350" marL="514350">
              <a:spcAft>
                <a:spcPts val="1200"/>
              </a:spcAft>
              <a:buFont typeface="+mj-lt"/>
              <a:buAutoNum type="arabicPeriod"/>
            </a:pPr>
            <a:r>
              <a:rPr dirty="0" lang="en-US" smtClean="0"/>
              <a:t>Skeletal </a:t>
            </a:r>
            <a:r>
              <a:rPr dirty="0" lang="en-US"/>
              <a:t>traction must never be released</a:t>
            </a:r>
            <a:br>
              <a:rPr dirty="0" lang="en-US"/>
            </a:br>
            <a:r>
              <a:rPr dirty="0" lang="en-US"/>
              <a:t/>
            </a:r>
            <a:br>
              <a:rPr dirty="0" lang="en-US"/>
            </a:br>
            <a:endParaRPr dirty="0"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386" name=""/>
        <p:cNvGrpSpPr/>
        <p:nvPr/>
      </p:nvGrpSpPr>
      <p:grpSpPr>
        <a:xfrm>
          <a:off x="0" y="0"/>
          <a:ext cx="0" cy="0"/>
          <a:chOff x="0" y="0"/>
          <a:chExt cx="0" cy="0"/>
        </a:xfrm>
      </p:grpSpPr>
      <p:sp>
        <p:nvSpPr>
          <p:cNvPr id="1048903" name="Content Placeholder 2"/>
          <p:cNvSpPr>
            <a:spLocks noGrp="1"/>
          </p:cNvSpPr>
          <p:nvPr>
            <p:ph sz="quarter" idx="1"/>
          </p:nvPr>
        </p:nvSpPr>
        <p:spPr>
          <a:xfrm>
            <a:off x="152400" y="228600"/>
            <a:ext cx="8613648" cy="6019800"/>
          </a:xfrm>
        </p:spPr>
        <p:txBody>
          <a:bodyPr>
            <a:normAutofit/>
          </a:bodyPr>
          <a:p>
            <a:pPr indent="-514350" marL="514350">
              <a:buFont typeface="+mj-lt"/>
              <a:buAutoNum type="arabicPeriod" startAt="5"/>
            </a:pPr>
            <a:r>
              <a:rPr dirty="0" lang="en-US" u="sng" smtClean="0"/>
              <a:t>Prevent complications </a:t>
            </a:r>
          </a:p>
          <a:p>
            <a:pPr indent="-514350" lvl="1" marL="834390">
              <a:buFont typeface="+mj-lt"/>
              <a:buAutoNum type="arabicPeriod" startAt="5"/>
            </a:pPr>
            <a:r>
              <a:rPr dirty="0" lang="en-US" smtClean="0"/>
              <a:t>From of immobility </a:t>
            </a:r>
            <a:r>
              <a:rPr dirty="0" lang="en-US" err="1" smtClean="0"/>
              <a:t>e.g</a:t>
            </a:r>
            <a:r>
              <a:rPr dirty="0" lang="en-US" smtClean="0"/>
              <a:t> venous stasis, thrombosis, pneumonia, </a:t>
            </a:r>
            <a:r>
              <a:rPr dirty="0" lang="en-US" err="1" smtClean="0"/>
              <a:t>contipation</a:t>
            </a:r>
            <a:r>
              <a:rPr dirty="0" lang="en-US" smtClean="0"/>
              <a:t>, UTI, decubitus ulcers, increased blood calcium leading to renal stones.</a:t>
            </a:r>
          </a:p>
          <a:p>
            <a:pPr indent="-514350" lvl="1" marL="834390">
              <a:buFont typeface="+mj-lt"/>
              <a:buAutoNum type="arabicPeriod" startAt="5"/>
            </a:pPr>
            <a:r>
              <a:rPr dirty="0" lang="en-US" smtClean="0"/>
              <a:t>From internal or external fixation.</a:t>
            </a:r>
          </a:p>
          <a:p>
            <a:pPr indent="-514350" lvl="1" marL="834390">
              <a:buFont typeface="Wingdings" panose="05000000000000000000" pitchFamily="2" charset="2"/>
              <a:buChar char="q"/>
            </a:pPr>
            <a:r>
              <a:rPr dirty="0" lang="en-US" smtClean="0"/>
              <a:t>Inspect exposed skin &amp; pin sites for infection </a:t>
            </a:r>
            <a:endParaRPr dirty="0" lang="en-US"/>
          </a:p>
          <a:p>
            <a:pPr indent="-514350" lvl="1" marL="834390">
              <a:buFont typeface="Wingdings" panose="05000000000000000000" pitchFamily="2" charset="2"/>
              <a:buChar char="q"/>
            </a:pPr>
            <a:r>
              <a:rPr dirty="0" lang="en-US" smtClean="0"/>
              <a:t>Cleanse </a:t>
            </a:r>
            <a:r>
              <a:rPr dirty="0" lang="en-US"/>
              <a:t>around pin sites </a:t>
            </a:r>
            <a:endParaRPr dirty="0" lang="en-US" smtClean="0"/>
          </a:p>
          <a:p>
            <a:pPr indent="-514350" lvl="1" marL="834390">
              <a:buFont typeface="Wingdings" panose="05000000000000000000" pitchFamily="2" charset="2"/>
              <a:buChar char="q"/>
            </a:pPr>
            <a:r>
              <a:rPr dirty="0" lang="en-US" smtClean="0"/>
              <a:t>Perform </a:t>
            </a:r>
            <a:r>
              <a:rPr dirty="0" lang="en-US"/>
              <a:t>wound care on incision area or area of </a:t>
            </a:r>
            <a:r>
              <a:rPr dirty="0" lang="en-US" smtClean="0"/>
              <a:t>trauma.</a:t>
            </a:r>
          </a:p>
          <a:p>
            <a:pPr indent="-514350" lvl="1" marL="834390">
              <a:buFont typeface="Wingdings" panose="05000000000000000000" pitchFamily="2" charset="2"/>
              <a:buChar char="q"/>
            </a:pPr>
            <a:r>
              <a:rPr dirty="0" lang="en-US" smtClean="0"/>
              <a:t>Observe </a:t>
            </a:r>
            <a:r>
              <a:rPr dirty="0" lang="en-US"/>
              <a:t>carefully for development of an </a:t>
            </a:r>
            <a:r>
              <a:rPr dirty="0" lang="en-US" smtClean="0"/>
              <a:t>infection</a:t>
            </a:r>
          </a:p>
          <a:p>
            <a:pPr indent="-514350" lvl="1" marL="834390">
              <a:buFont typeface="Wingdings" panose="05000000000000000000" pitchFamily="2" charset="2"/>
              <a:buChar char="q"/>
            </a:pPr>
            <a:r>
              <a:rPr dirty="0" lang="en-US" smtClean="0"/>
              <a:t>Evaluate </a:t>
            </a:r>
            <a:r>
              <a:rPr dirty="0" lang="en-US"/>
              <a:t>for circulatory &amp; neurosensory impairment</a:t>
            </a:r>
            <a:r>
              <a:rPr dirty="0" lang="en-US" smtClean="0"/>
              <a:t>.</a:t>
            </a:r>
            <a:endParaRPr dirty="0" lang="en-US"/>
          </a:p>
        </p:txBody>
      </p:sp>
    </p:spTree>
  </p:cSld>
  <p:clrMapOvr>
    <a:masterClrMapping/>
  </p:clrMapOvr>
  <p:timing/>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387" name=""/>
        <p:cNvGrpSpPr/>
        <p:nvPr/>
      </p:nvGrpSpPr>
      <p:grpSpPr>
        <a:xfrm>
          <a:off x="0" y="0"/>
          <a:ext cx="0" cy="0"/>
          <a:chOff x="0" y="0"/>
          <a:chExt cx="0" cy="0"/>
        </a:xfrm>
      </p:grpSpPr>
      <p:sp>
        <p:nvSpPr>
          <p:cNvPr id="1048904" name="Content Placeholder 2"/>
          <p:cNvSpPr>
            <a:spLocks noGrp="1"/>
          </p:cNvSpPr>
          <p:nvPr>
            <p:ph sz="quarter" idx="1"/>
          </p:nvPr>
        </p:nvSpPr>
        <p:spPr>
          <a:xfrm>
            <a:off x="228600" y="381000"/>
            <a:ext cx="8537448" cy="5715000"/>
          </a:xfrm>
        </p:spPr>
        <p:txBody>
          <a:bodyPr>
            <a:normAutofit/>
          </a:bodyPr>
          <a:p>
            <a:pPr indent="-514350" marL="514350">
              <a:buFont typeface="+mj-lt"/>
              <a:buAutoNum type="arabicPeriod" startAt="6"/>
            </a:pPr>
            <a:r>
              <a:rPr dirty="0" lang="en-US" u="sng" smtClean="0"/>
              <a:t>Education</a:t>
            </a:r>
          </a:p>
          <a:p>
            <a:pPr indent="-514350" marL="514350">
              <a:buAutoNum type="alphaLcPeriod"/>
            </a:pPr>
            <a:r>
              <a:rPr dirty="0" lang="en-US" smtClean="0"/>
              <a:t>Patient should not: </a:t>
            </a:r>
          </a:p>
          <a:p>
            <a:pPr lvl="1"/>
            <a:r>
              <a:rPr dirty="0" lang="en-US" smtClean="0"/>
              <a:t>Bear </a:t>
            </a:r>
            <a:r>
              <a:rPr dirty="0" lang="en-US"/>
              <a:t>weight on the affected extremity until allowed</a:t>
            </a:r>
          </a:p>
          <a:p>
            <a:pPr lvl="1"/>
            <a:r>
              <a:rPr dirty="0" lang="en-US"/>
              <a:t>Allow the cast to get wet. </a:t>
            </a:r>
          </a:p>
          <a:p>
            <a:pPr lvl="1"/>
            <a:r>
              <a:rPr dirty="0" lang="en-US" smtClean="0"/>
              <a:t>Insert </a:t>
            </a:r>
            <a:r>
              <a:rPr dirty="0" lang="en-US"/>
              <a:t>anything under or in the cast</a:t>
            </a:r>
          </a:p>
          <a:p>
            <a:pPr lvl="1"/>
            <a:r>
              <a:rPr dirty="0" lang="en-US"/>
              <a:t>Move or manipulate pins on an external fixator device</a:t>
            </a:r>
            <a:r>
              <a:rPr dirty="0" lang="en-US" smtClean="0"/>
              <a:t>.</a:t>
            </a:r>
          </a:p>
          <a:p>
            <a:pPr indent="-514350" marL="514350">
              <a:buFont typeface="+mj-lt"/>
              <a:buAutoNum type="alphaLcPeriod"/>
            </a:pPr>
            <a:r>
              <a:rPr dirty="0" lang="en-US" smtClean="0"/>
              <a:t>Patient should:</a:t>
            </a:r>
          </a:p>
          <a:p>
            <a:pPr lvl="1"/>
            <a:r>
              <a:rPr dirty="0" lang="en-US"/>
              <a:t>Assess pin sites for evidence of infection.</a:t>
            </a:r>
          </a:p>
          <a:p>
            <a:pPr lvl="1"/>
            <a:r>
              <a:rPr dirty="0" lang="en-US" smtClean="0"/>
              <a:t>Report symptoms </a:t>
            </a:r>
            <a:r>
              <a:rPr dirty="0" lang="en-US"/>
              <a:t>associated with swelling or an increase in </a:t>
            </a:r>
            <a:r>
              <a:rPr dirty="0" lang="en-US" smtClean="0"/>
              <a:t>pain—unrelieved </a:t>
            </a:r>
            <a:r>
              <a:rPr dirty="0" lang="en-US"/>
              <a:t>by analgesic. </a:t>
            </a:r>
          </a:p>
          <a:p>
            <a:pPr lvl="1"/>
            <a:endParaRPr dirty="0" lang="en-US"/>
          </a:p>
          <a:p>
            <a:pPr indent="-514350" marL="514350"/>
            <a:endParaRPr dirty="0" lang="en-US"/>
          </a:p>
        </p:txBody>
      </p:sp>
    </p:spTree>
  </p:cSld>
  <p:clrMapOvr>
    <a:masterClrMapping/>
  </p:clrMapOvr>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388" name=""/>
        <p:cNvGrpSpPr/>
        <p:nvPr/>
      </p:nvGrpSpPr>
      <p:grpSpPr>
        <a:xfrm>
          <a:off x="0" y="0"/>
          <a:ext cx="0" cy="0"/>
          <a:chOff x="0" y="0"/>
          <a:chExt cx="0" cy="0"/>
        </a:xfrm>
      </p:grpSpPr>
      <p:sp>
        <p:nvSpPr>
          <p:cNvPr id="1048905" name="Text Placeholder 3"/>
          <p:cNvSpPr>
            <a:spLocks noGrp="1"/>
          </p:cNvSpPr>
          <p:nvPr>
            <p:ph type="body" idx="1"/>
          </p:nvPr>
        </p:nvSpPr>
        <p:spPr>
          <a:xfrm>
            <a:off x="1371602" y="2743202"/>
            <a:ext cx="7123113" cy="3733798"/>
          </a:xfrm>
        </p:spPr>
        <p:txBody>
          <a:bodyPr>
            <a:normAutofit fontScale="96429" lnSpcReduction="20000"/>
          </a:bodyPr>
          <a:p>
            <a:pPr indent="-457200" marL="457200">
              <a:buFont typeface="Wingdings" panose="05000000000000000000" pitchFamily="2" charset="2"/>
              <a:buChar char="q"/>
            </a:pPr>
            <a:r>
              <a:rPr dirty="0" sz="3100" lang="en-US" smtClean="0"/>
              <a:t>RIBS</a:t>
            </a:r>
          </a:p>
          <a:p>
            <a:pPr indent="-457200" marL="457200">
              <a:buFont typeface="Wingdings" panose="05000000000000000000" pitchFamily="2" charset="2"/>
              <a:buChar char="q"/>
            </a:pPr>
            <a:r>
              <a:rPr dirty="0" sz="3100" lang="en-US"/>
              <a:t>HUMERAL </a:t>
            </a:r>
            <a:r>
              <a:rPr dirty="0" sz="3100" lang="en-US" smtClean="0"/>
              <a:t>NECK</a:t>
            </a:r>
          </a:p>
          <a:p>
            <a:pPr indent="-457200" marL="457200">
              <a:buFont typeface="Wingdings" panose="05000000000000000000" pitchFamily="2" charset="2"/>
              <a:buChar char="q"/>
            </a:pPr>
            <a:r>
              <a:rPr dirty="0" sz="3100" lang="en-US"/>
              <a:t>HUMERAL </a:t>
            </a:r>
            <a:r>
              <a:rPr dirty="0" sz="3100" lang="en-US" smtClean="0"/>
              <a:t>SHAFT</a:t>
            </a:r>
          </a:p>
          <a:p>
            <a:pPr indent="-457200" marL="457200">
              <a:buFont typeface="Wingdings" panose="05000000000000000000" pitchFamily="2" charset="2"/>
              <a:buChar char="q"/>
            </a:pPr>
            <a:r>
              <a:rPr dirty="0" sz="3100" lang="en-US" smtClean="0"/>
              <a:t>PELVIS</a:t>
            </a:r>
          </a:p>
          <a:p>
            <a:pPr indent="-457200" marL="457200">
              <a:buFont typeface="Wingdings" panose="05000000000000000000" pitchFamily="2" charset="2"/>
              <a:buChar char="q"/>
            </a:pPr>
            <a:r>
              <a:rPr dirty="0" sz="3100" lang="en-US" smtClean="0"/>
              <a:t>HIP</a:t>
            </a:r>
          </a:p>
          <a:p>
            <a:pPr indent="-457200" marL="457200">
              <a:buFont typeface="Wingdings" panose="05000000000000000000" pitchFamily="2" charset="2"/>
              <a:buChar char="q"/>
            </a:pPr>
            <a:r>
              <a:rPr dirty="0" sz="3100" lang="en-US" smtClean="0"/>
              <a:t>FEMORAL SHAFT </a:t>
            </a:r>
          </a:p>
          <a:p>
            <a:pPr indent="-457200" marL="457200">
              <a:buFont typeface="Wingdings" panose="05000000000000000000" pitchFamily="2" charset="2"/>
              <a:buChar char="q"/>
            </a:pPr>
            <a:r>
              <a:rPr dirty="0" sz="3100" lang="en-US" smtClean="0"/>
              <a:t>TIBIA-FIBULAR</a:t>
            </a:r>
          </a:p>
          <a:p>
            <a:pPr indent="-457200" marL="457200">
              <a:buFont typeface="Wingdings" panose="05000000000000000000" pitchFamily="2" charset="2"/>
              <a:buChar char="q"/>
            </a:pPr>
            <a:r>
              <a:rPr dirty="0" sz="3100" lang="en-US"/>
              <a:t>THORACOLUMBAR SPINE</a:t>
            </a:r>
            <a:endParaRPr dirty="0" sz="3100" lang="en-US" smtClean="0"/>
          </a:p>
          <a:p>
            <a:endParaRPr dirty="0" lang="en-US"/>
          </a:p>
        </p:txBody>
      </p:sp>
      <p:sp>
        <p:nvSpPr>
          <p:cNvPr id="1048906" name="Title 1"/>
          <p:cNvSpPr>
            <a:spLocks noGrp="1"/>
          </p:cNvSpPr>
          <p:nvPr>
            <p:ph type="title"/>
          </p:nvPr>
        </p:nvSpPr>
        <p:spPr/>
        <p:txBody>
          <a:bodyPr>
            <a:normAutofit fontScale="90000"/>
          </a:bodyPr>
          <a:p>
            <a:r>
              <a:rPr dirty="0" sz="5400" lang="en-US" smtClean="0"/>
              <a:t>SPECIFIC SITE FRACTURES</a:t>
            </a:r>
            <a:endParaRPr dirty="0" sz="5400" lang="en-US"/>
          </a:p>
        </p:txBody>
      </p:sp>
    </p:spTree>
  </p:cSld>
  <p:clrMapOvr>
    <a:masterClrMapping/>
  </p:clrMapOvr>
  <p:timing/>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389" name=""/>
        <p:cNvGrpSpPr/>
        <p:nvPr/>
      </p:nvGrpSpPr>
      <p:grpSpPr>
        <a:xfrm>
          <a:off x="0" y="0"/>
          <a:ext cx="0" cy="0"/>
          <a:chOff x="0" y="0"/>
          <a:chExt cx="0" cy="0"/>
        </a:xfrm>
      </p:grpSpPr>
      <p:sp>
        <p:nvSpPr>
          <p:cNvPr id="1048907" name="Title 1"/>
          <p:cNvSpPr>
            <a:spLocks noGrp="1"/>
          </p:cNvSpPr>
          <p:nvPr>
            <p:ph type="title"/>
          </p:nvPr>
        </p:nvSpPr>
        <p:spPr>
          <a:xfrm>
            <a:off x="228600" y="228600"/>
            <a:ext cx="8537448" cy="990600"/>
          </a:xfrm>
        </p:spPr>
        <p:txBody>
          <a:bodyPr/>
          <a:p>
            <a:r>
              <a:rPr dirty="0" lang="en-US" smtClean="0"/>
              <a:t> </a:t>
            </a:r>
            <a:r>
              <a:rPr b="1" dirty="0" lang="en-US" smtClean="0"/>
              <a:t>FRACTURE RIBS</a:t>
            </a:r>
            <a:endParaRPr dirty="0" lang="en-US"/>
          </a:p>
        </p:txBody>
      </p:sp>
      <p:sp>
        <p:nvSpPr>
          <p:cNvPr id="1048908" name="Content Placeholder 2"/>
          <p:cNvSpPr>
            <a:spLocks noGrp="1"/>
          </p:cNvSpPr>
          <p:nvPr>
            <p:ph sz="quarter" idx="1"/>
          </p:nvPr>
        </p:nvSpPr>
        <p:spPr>
          <a:xfrm>
            <a:off x="228600" y="1219200"/>
            <a:ext cx="8537448" cy="5410200"/>
          </a:xfrm>
        </p:spPr>
        <p:txBody>
          <a:bodyPr>
            <a:normAutofit/>
          </a:bodyPr>
          <a:p>
            <a:pPr>
              <a:spcAft>
                <a:spcPts val="1800"/>
              </a:spcAft>
            </a:pPr>
            <a:r>
              <a:rPr dirty="0" lang="en-US" smtClean="0"/>
              <a:t>Uncomplicated fractures heal 3 to 6 weeks without residue impairment </a:t>
            </a:r>
          </a:p>
          <a:p>
            <a:pPr>
              <a:spcAft>
                <a:spcPts val="1800"/>
              </a:spcAft>
            </a:pPr>
            <a:r>
              <a:rPr dirty="0" lang="en-US" smtClean="0"/>
              <a:t>Painful respirations cause pts breathing to be more shallow &amp; coughing to be restrained, this precipitates building up of secretions &amp; decreased ventilation.</a:t>
            </a:r>
          </a:p>
          <a:p>
            <a:pPr>
              <a:spcAft>
                <a:spcPts val="1800"/>
              </a:spcAft>
            </a:pPr>
            <a:r>
              <a:rPr dirty="0" lang="en-US" smtClean="0"/>
              <a:t>Multiple </a:t>
            </a:r>
            <a:r>
              <a:rPr dirty="0" lang="en-US"/>
              <a:t>rib fractures may </a:t>
            </a:r>
            <a:r>
              <a:rPr dirty="0" lang="en-US" smtClean="0"/>
              <a:t>cause </a:t>
            </a:r>
            <a:r>
              <a:rPr dirty="0" lang="en-US" err="1"/>
              <a:t>pnuemothorax</a:t>
            </a:r>
            <a:r>
              <a:rPr dirty="0" lang="en-US"/>
              <a:t>.</a:t>
            </a:r>
          </a:p>
          <a:p>
            <a:pPr>
              <a:spcAft>
                <a:spcPts val="1800"/>
              </a:spcAft>
              <a:buFont typeface="Wingdings" panose="05000000000000000000" pitchFamily="2" charset="2"/>
              <a:buChar char="q"/>
            </a:pPr>
            <a:endParaRPr dirty="0" lang="en-US"/>
          </a:p>
        </p:txBody>
      </p:sp>
      <p:sp>
        <p:nvSpPr>
          <p:cNvPr id="1048909" name="Title 1"/>
          <p:cNvSpPr txBox="1"/>
          <p:nvPr/>
        </p:nvSpPr>
        <p:spPr>
          <a:xfrm>
            <a:off x="0" y="0"/>
            <a:ext cx="2438400" cy="381000"/>
          </a:xfrm>
          <a:prstGeom prst="rect"/>
          <a:solidFill>
            <a:schemeClr val="accent6">
              <a:lumMod val="20000"/>
              <a:lumOff val="80000"/>
            </a:schemeClr>
          </a:solidFill>
        </p:spPr>
        <p:txBody>
          <a:bodyPr anchor="ctr" vert="horz">
            <a:normAutofit fontScale="54545"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lang="en-US" smtClean="0"/>
              <a:t> </a:t>
            </a:r>
            <a:r>
              <a:rPr b="1" dirty="0" lang="en-US" smtClean="0"/>
              <a:t>FRACTURE RIBS</a:t>
            </a:r>
            <a:endParaRPr dirty="0" lang="en-US"/>
          </a:p>
        </p:txBody>
      </p:sp>
    </p:spTree>
  </p:cSld>
  <p:clrMapOvr>
    <a:masterClrMapping/>
  </p:clrMapOvr>
  <p:timing/>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390" name=""/>
        <p:cNvGrpSpPr/>
        <p:nvPr/>
      </p:nvGrpSpPr>
      <p:grpSpPr>
        <a:xfrm>
          <a:off x="0" y="0"/>
          <a:ext cx="0" cy="0"/>
          <a:chOff x="0" y="0"/>
          <a:chExt cx="0" cy="0"/>
        </a:xfrm>
      </p:grpSpPr>
      <p:sp>
        <p:nvSpPr>
          <p:cNvPr id="1048910" name="Content Placeholder 2"/>
          <p:cNvSpPr>
            <a:spLocks noGrp="1"/>
          </p:cNvSpPr>
          <p:nvPr>
            <p:ph sz="quarter" idx="1"/>
          </p:nvPr>
        </p:nvSpPr>
        <p:spPr>
          <a:xfrm>
            <a:off x="304800" y="533400"/>
            <a:ext cx="8461248" cy="5562600"/>
          </a:xfrm>
        </p:spPr>
        <p:txBody>
          <a:bodyPr/>
          <a:p>
            <a:pPr>
              <a:spcBef>
                <a:spcPts val="1200"/>
              </a:spcBef>
              <a:spcAft>
                <a:spcPts val="1200"/>
              </a:spcAft>
            </a:pPr>
            <a:r>
              <a:rPr dirty="0" lang="en-US"/>
              <a:t>Nurse assists the </a:t>
            </a:r>
            <a:r>
              <a:rPr dirty="0" lang="en-US" err="1"/>
              <a:t>pt</a:t>
            </a:r>
            <a:r>
              <a:rPr dirty="0" lang="en-US"/>
              <a:t> to splint chest </a:t>
            </a:r>
            <a:r>
              <a:rPr dirty="0" lang="en-US" smtClean="0"/>
              <a:t>while </a:t>
            </a:r>
            <a:r>
              <a:rPr dirty="0" lang="en-US"/>
              <a:t>coughing &amp; deep breathing to prevent pneumonia &amp; atelectasis.</a:t>
            </a:r>
          </a:p>
          <a:p>
            <a:pPr>
              <a:spcBef>
                <a:spcPts val="1200"/>
              </a:spcBef>
              <a:spcAft>
                <a:spcPts val="1200"/>
              </a:spcAft>
            </a:pPr>
            <a:r>
              <a:rPr dirty="0" lang="en-US" smtClean="0"/>
              <a:t>Occasionally intercostal nerve blocks may be administered to relieve pain &amp; permit productive coughing.</a:t>
            </a:r>
          </a:p>
          <a:p>
            <a:pPr>
              <a:spcBef>
                <a:spcPts val="1200"/>
              </a:spcBef>
              <a:spcAft>
                <a:spcPts val="1200"/>
              </a:spcAft>
            </a:pPr>
            <a:r>
              <a:rPr dirty="0" lang="en-US" smtClean="0"/>
              <a:t>Chest taping or strapping is not usually done because it decreases thoracic excursion.</a:t>
            </a:r>
          </a:p>
        </p:txBody>
      </p:sp>
      <p:sp>
        <p:nvSpPr>
          <p:cNvPr id="1048911" name="Title 1"/>
          <p:cNvSpPr txBox="1"/>
          <p:nvPr/>
        </p:nvSpPr>
        <p:spPr>
          <a:xfrm>
            <a:off x="0" y="0"/>
            <a:ext cx="2438400" cy="381000"/>
          </a:xfrm>
          <a:prstGeom prst="rect"/>
          <a:solidFill>
            <a:schemeClr val="accent6">
              <a:lumMod val="20000"/>
              <a:lumOff val="80000"/>
            </a:schemeClr>
          </a:solidFill>
        </p:spPr>
        <p:txBody>
          <a:bodyPr anchor="ctr" vert="horz">
            <a:normAutofit fontScale="54545"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lang="en-US" smtClean="0"/>
              <a:t> </a:t>
            </a:r>
            <a:r>
              <a:rPr b="1" dirty="0" lang="en-US" smtClean="0"/>
              <a:t>FRACTURE RIBS</a:t>
            </a:r>
            <a:endParaRPr dirty="0" lang="en-US"/>
          </a:p>
        </p:txBody>
      </p:sp>
    </p:spTree>
  </p:cSld>
  <p:clrMapOvr>
    <a:masterClrMapping/>
  </p:clrMapOvr>
  <p:timing/>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391" name=""/>
        <p:cNvGrpSpPr/>
        <p:nvPr/>
      </p:nvGrpSpPr>
      <p:grpSpPr>
        <a:xfrm>
          <a:off x="0" y="0"/>
          <a:ext cx="0" cy="0"/>
          <a:chOff x="0" y="0"/>
          <a:chExt cx="0" cy="0"/>
        </a:xfrm>
      </p:grpSpPr>
      <p:sp>
        <p:nvSpPr>
          <p:cNvPr id="1048912" name="Title 1"/>
          <p:cNvSpPr>
            <a:spLocks noGrp="1"/>
          </p:cNvSpPr>
          <p:nvPr>
            <p:ph type="title"/>
          </p:nvPr>
        </p:nvSpPr>
        <p:spPr/>
        <p:txBody>
          <a:bodyPr/>
          <a:p>
            <a:r>
              <a:rPr b="1" dirty="0" lang="en-US" smtClean="0"/>
              <a:t>FRACTURE HUMERAL NECK</a:t>
            </a:r>
            <a:endParaRPr dirty="0" lang="en-US"/>
          </a:p>
        </p:txBody>
      </p:sp>
      <p:sp>
        <p:nvSpPr>
          <p:cNvPr id="1048913" name="Content Placeholder 2"/>
          <p:cNvSpPr>
            <a:spLocks noGrp="1"/>
          </p:cNvSpPr>
          <p:nvPr>
            <p:ph sz="quarter" idx="1"/>
          </p:nvPr>
        </p:nvSpPr>
        <p:spPr>
          <a:xfrm>
            <a:off x="381000" y="990600"/>
            <a:ext cx="8385048" cy="5105400"/>
          </a:xfrm>
        </p:spPr>
        <p:txBody>
          <a:bodyPr>
            <a:normAutofit/>
          </a:bodyPr>
          <a:p>
            <a:pPr>
              <a:buNone/>
            </a:pPr>
            <a:r>
              <a:rPr b="1" dirty="0" lang="en-US" smtClean="0"/>
              <a:t>  </a:t>
            </a:r>
          </a:p>
          <a:p>
            <a:pPr>
              <a:spcBef>
                <a:spcPts val="1800"/>
              </a:spcBef>
              <a:spcAft>
                <a:spcPts val="600"/>
              </a:spcAft>
            </a:pPr>
            <a:r>
              <a:rPr dirty="0" lang="en-US" smtClean="0"/>
              <a:t>May occur through anatomical or the surgical neck of the </a:t>
            </a:r>
            <a:r>
              <a:rPr dirty="0" lang="en-US" err="1" smtClean="0"/>
              <a:t>humerus</a:t>
            </a:r>
            <a:r>
              <a:rPr dirty="0" lang="en-US" smtClean="0"/>
              <a:t>.</a:t>
            </a:r>
          </a:p>
          <a:p>
            <a:pPr>
              <a:spcBef>
                <a:spcPts val="1800"/>
              </a:spcBef>
              <a:spcAft>
                <a:spcPts val="600"/>
              </a:spcAft>
            </a:pPr>
            <a:r>
              <a:rPr dirty="0" lang="en-US" smtClean="0"/>
              <a:t>Impact fractures common in the elderly after a fall.</a:t>
            </a:r>
          </a:p>
          <a:p>
            <a:pPr>
              <a:spcBef>
                <a:spcPts val="1800"/>
              </a:spcBef>
              <a:spcAft>
                <a:spcPts val="600"/>
              </a:spcAft>
            </a:pPr>
            <a:r>
              <a:rPr dirty="0" lang="en-US" smtClean="0"/>
              <a:t>Are essentially </a:t>
            </a:r>
            <a:r>
              <a:rPr dirty="0" lang="en-US" err="1" smtClean="0"/>
              <a:t>nondisplaced</a:t>
            </a:r>
            <a:r>
              <a:rPr dirty="0" lang="en-US" smtClean="0"/>
              <a:t> fractures.</a:t>
            </a:r>
          </a:p>
          <a:p>
            <a:pPr>
              <a:spcBef>
                <a:spcPts val="1800"/>
              </a:spcBef>
              <a:spcAft>
                <a:spcPts val="600"/>
              </a:spcAft>
            </a:pPr>
            <a:r>
              <a:rPr dirty="0" lang="en-US" smtClean="0"/>
              <a:t>Active middle aged pts may suffer severely displaced humeral neck fractures with associated rotator calf muscle damage.</a:t>
            </a:r>
            <a:endParaRPr dirty="0" lang="en-US"/>
          </a:p>
        </p:txBody>
      </p:sp>
      <p:sp>
        <p:nvSpPr>
          <p:cNvPr id="1048914" name="Title 1"/>
          <p:cNvSpPr txBox="1"/>
          <p:nvPr/>
        </p:nvSpPr>
        <p:spPr>
          <a:xfrm>
            <a:off x="0" y="20472"/>
            <a:ext cx="3200400" cy="457200"/>
          </a:xfrm>
          <a:prstGeom prst="rect"/>
          <a:solidFill>
            <a:schemeClr val="tx2">
              <a:lumMod val="20000"/>
              <a:lumOff val="80000"/>
            </a:schemeClr>
          </a:solidFill>
        </p:spPr>
        <p:txBody>
          <a:bodyPr anchor="ctr" vert="horz">
            <a:normAutofit fontScale="90000"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sz="2000" lang="en-US" smtClean="0"/>
              <a:t>FRACTURE HUMERAL NECK</a:t>
            </a:r>
            <a:endParaRPr dirty="0" sz="2000" lang="en-US"/>
          </a:p>
        </p:txBody>
      </p:sp>
    </p:spTree>
  </p:cSld>
  <p:clrMapOvr>
    <a:masterClrMapping/>
  </p:clrMapOvr>
  <p:timing/>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395" name=""/>
        <p:cNvGrpSpPr/>
        <p:nvPr/>
      </p:nvGrpSpPr>
      <p:grpSpPr>
        <a:xfrm>
          <a:off x="0" y="0"/>
          <a:ext cx="0" cy="0"/>
          <a:chOff x="0" y="0"/>
          <a:chExt cx="0" cy="0"/>
        </a:xfrm>
      </p:grpSpPr>
      <p:sp>
        <p:nvSpPr>
          <p:cNvPr id="1048920" name="Content Placeholder 2"/>
          <p:cNvSpPr>
            <a:spLocks noGrp="1"/>
          </p:cNvSpPr>
          <p:nvPr>
            <p:ph sz="quarter" idx="1"/>
          </p:nvPr>
        </p:nvSpPr>
        <p:spPr>
          <a:xfrm>
            <a:off x="228600" y="477672"/>
            <a:ext cx="8686800" cy="6380328"/>
          </a:xfrm>
        </p:spPr>
        <p:txBody>
          <a:bodyPr>
            <a:normAutofit fontScale="95833" lnSpcReduction="20000"/>
          </a:bodyPr>
          <a:p>
            <a:pPr>
              <a:buNone/>
            </a:pPr>
            <a:r>
              <a:rPr b="1" dirty="0" lang="en-US" smtClean="0"/>
              <a:t>MANAGEMENT </a:t>
            </a:r>
            <a:r>
              <a:rPr dirty="0" lang="en-US"/>
              <a:t>FRACTURE HUMERAL NECK</a:t>
            </a:r>
            <a:endParaRPr b="1" dirty="0" lang="en-US" smtClean="0"/>
          </a:p>
          <a:p>
            <a:pPr indent="-514350" marL="514350">
              <a:spcBef>
                <a:spcPts val="0"/>
              </a:spcBef>
              <a:spcAft>
                <a:spcPts val="1800"/>
              </a:spcAft>
              <a:buFont typeface="+mj-lt"/>
              <a:buAutoNum type="arabicPeriod"/>
            </a:pPr>
            <a:r>
              <a:rPr dirty="0" lang="en-US" err="1" smtClean="0"/>
              <a:t>Nondisplaced</a:t>
            </a:r>
            <a:r>
              <a:rPr dirty="0" lang="en-US" smtClean="0"/>
              <a:t> fracture is supported &amp; immobilized by a sling &amp; swathe that secure the supported arm to the trunk.</a:t>
            </a:r>
          </a:p>
          <a:p>
            <a:pPr indent="-514350" marL="514350">
              <a:spcBef>
                <a:spcPts val="0"/>
              </a:spcBef>
              <a:buFont typeface="+mj-lt"/>
              <a:buAutoNum type="arabicPeriod"/>
            </a:pPr>
            <a:r>
              <a:rPr dirty="0" lang="en-US" smtClean="0"/>
              <a:t>Require </a:t>
            </a:r>
            <a:r>
              <a:rPr dirty="0" lang="en-US"/>
              <a:t>6-10 </a:t>
            </a:r>
            <a:r>
              <a:rPr dirty="0" lang="en-US" err="1" smtClean="0"/>
              <a:t>wks</a:t>
            </a:r>
            <a:r>
              <a:rPr dirty="0" lang="en-US" smtClean="0"/>
              <a:t> </a:t>
            </a:r>
            <a:r>
              <a:rPr dirty="0" lang="en-US"/>
              <a:t>to heal &amp; </a:t>
            </a:r>
            <a:r>
              <a:rPr dirty="0" lang="en-US" err="1"/>
              <a:t>pt</a:t>
            </a:r>
            <a:r>
              <a:rPr dirty="0" lang="en-US"/>
              <a:t> should avoid vigorous activity for another 4 </a:t>
            </a:r>
            <a:r>
              <a:rPr dirty="0" lang="en-US" smtClean="0"/>
              <a:t>wks</a:t>
            </a:r>
            <a:r>
              <a:rPr dirty="0" lang="en-US"/>
              <a:t>. </a:t>
            </a:r>
            <a:endParaRPr dirty="0" lang="en-US" smtClean="0"/>
          </a:p>
          <a:p>
            <a:pPr indent="0" lvl="1" marL="320040">
              <a:spcBef>
                <a:spcPts val="0"/>
              </a:spcBef>
              <a:spcAft>
                <a:spcPts val="1200"/>
              </a:spcAft>
              <a:buNone/>
            </a:pPr>
            <a:r>
              <a:rPr dirty="0" lang="en-US" smtClean="0"/>
              <a:t>	Residual </a:t>
            </a:r>
            <a:r>
              <a:rPr dirty="0" lang="en-US"/>
              <a:t>stiffness, aching &amp; some limitation of ROM may </a:t>
            </a:r>
            <a:r>
              <a:rPr dirty="0" lang="en-US" smtClean="0"/>
              <a:t>	persist </a:t>
            </a:r>
            <a:r>
              <a:rPr dirty="0" lang="en-US"/>
              <a:t>for 6 or more months.</a:t>
            </a:r>
          </a:p>
          <a:p>
            <a:pPr indent="-514350" marL="514350">
              <a:spcBef>
                <a:spcPts val="600"/>
              </a:spcBef>
              <a:spcAft>
                <a:spcPts val="1800"/>
              </a:spcAft>
              <a:buAutoNum type="arabicPeriod" startAt="3"/>
            </a:pPr>
            <a:r>
              <a:rPr dirty="0" lang="en-US" smtClean="0"/>
              <a:t>Displaced </a:t>
            </a:r>
            <a:r>
              <a:rPr dirty="0" lang="en-US"/>
              <a:t>humeral neck </a:t>
            </a:r>
            <a:r>
              <a:rPr dirty="0" lang="en-US" smtClean="0"/>
              <a:t>fracture may need closed </a:t>
            </a:r>
            <a:r>
              <a:rPr dirty="0" lang="en-US"/>
              <a:t>reduction, </a:t>
            </a:r>
            <a:r>
              <a:rPr dirty="0" lang="en-US" smtClean="0"/>
              <a:t>ORIF, </a:t>
            </a:r>
            <a:r>
              <a:rPr dirty="0" lang="en-US"/>
              <a:t>or </a:t>
            </a:r>
            <a:r>
              <a:rPr dirty="0" lang="en-US" smtClean="0"/>
              <a:t>humeral </a:t>
            </a:r>
            <a:r>
              <a:rPr dirty="0" lang="en-US"/>
              <a:t>head </a:t>
            </a:r>
            <a:r>
              <a:rPr dirty="0" lang="en-US" smtClean="0"/>
              <a:t>prosthesis.</a:t>
            </a:r>
          </a:p>
          <a:p>
            <a:pPr indent="-514350" marL="514350">
              <a:spcBef>
                <a:spcPts val="0"/>
              </a:spcBef>
              <a:buAutoNum type="arabicPeriod" startAt="3"/>
            </a:pPr>
            <a:r>
              <a:rPr dirty="0" lang="en-US" smtClean="0"/>
              <a:t>Limitation </a:t>
            </a:r>
            <a:r>
              <a:rPr dirty="0" lang="en-US"/>
              <a:t>of motion &amp; stiffness of the shoulder occur from disuse. </a:t>
            </a:r>
          </a:p>
          <a:p>
            <a:pPr indent="-457200" lvl="1" marL="777240">
              <a:spcBef>
                <a:spcPts val="0"/>
              </a:spcBef>
              <a:buFont typeface="Courier New" panose="02070309020205020404" pitchFamily="49" charset="0"/>
              <a:buChar char="o"/>
            </a:pPr>
            <a:r>
              <a:rPr dirty="0" lang="en-US" smtClean="0"/>
              <a:t>	Pendulum </a:t>
            </a:r>
            <a:r>
              <a:rPr dirty="0" lang="en-US"/>
              <a:t>or circumduction exercises are </a:t>
            </a:r>
            <a:r>
              <a:rPr dirty="0" lang="en-US" smtClean="0"/>
              <a:t>done after 	period </a:t>
            </a:r>
            <a:r>
              <a:rPr dirty="0" lang="en-US"/>
              <a:t>of </a:t>
            </a:r>
            <a:r>
              <a:rPr dirty="0" lang="en-US" smtClean="0"/>
              <a:t>immobilization (</a:t>
            </a:r>
            <a:r>
              <a:rPr dirty="0" sz="2400" lang="en-US" smtClean="0"/>
              <a:t>Pt</a:t>
            </a:r>
            <a:r>
              <a:rPr dirty="0" sz="2400" lang="en-US"/>
              <a:t>.</a:t>
            </a:r>
            <a:r>
              <a:rPr dirty="0" sz="2400" lang="en-US" smtClean="0"/>
              <a:t> </a:t>
            </a:r>
            <a:r>
              <a:rPr dirty="0" sz="2400" lang="en-US"/>
              <a:t>leans forward &amp; allows </a:t>
            </a:r>
            <a:r>
              <a:rPr dirty="0" sz="2400" lang="en-US" smtClean="0"/>
              <a:t>affected </a:t>
            </a:r>
            <a:r>
              <a:rPr dirty="0" sz="2400" lang="en-US"/>
              <a:t>arm to </a:t>
            </a:r>
            <a:r>
              <a:rPr dirty="0" sz="2400" lang="en-US" smtClean="0"/>
              <a:t>abduct </a:t>
            </a:r>
            <a:r>
              <a:rPr dirty="0" sz="2400" lang="en-US"/>
              <a:t>&amp; rotate</a:t>
            </a:r>
            <a:r>
              <a:rPr dirty="0" lang="en-US" smtClean="0"/>
              <a:t>).</a:t>
            </a:r>
            <a:endParaRPr dirty="0" lang="en-US"/>
          </a:p>
        </p:txBody>
      </p:sp>
      <p:sp>
        <p:nvSpPr>
          <p:cNvPr id="1048921" name="Title 1"/>
          <p:cNvSpPr txBox="1"/>
          <p:nvPr/>
        </p:nvSpPr>
        <p:spPr>
          <a:xfrm>
            <a:off x="0" y="20472"/>
            <a:ext cx="3200400" cy="457200"/>
          </a:xfrm>
          <a:prstGeom prst="rect"/>
          <a:solidFill>
            <a:schemeClr val="tx2">
              <a:lumMod val="20000"/>
              <a:lumOff val="80000"/>
            </a:schemeClr>
          </a:solidFill>
        </p:spPr>
        <p:txBody>
          <a:bodyPr anchor="ctr" vert="horz">
            <a:normAutofit fontScale="90000"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sz="2000" lang="en-US" smtClean="0"/>
              <a:t>FRACTURE HUMERAL NECK</a:t>
            </a:r>
            <a:endParaRPr dirty="0" sz="2000" lang="en-US"/>
          </a:p>
        </p:txBody>
      </p:sp>
    </p:spTree>
  </p:cSld>
  <p:clrMapOvr>
    <a:masterClrMapping/>
  </p:clrMapOvr>
  <p:timing/>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396" name=""/>
        <p:cNvGrpSpPr/>
        <p:nvPr/>
      </p:nvGrpSpPr>
      <p:grpSpPr>
        <a:xfrm>
          <a:off x="0" y="0"/>
          <a:ext cx="0" cy="0"/>
          <a:chOff x="0" y="0"/>
          <a:chExt cx="0" cy="0"/>
        </a:xfrm>
      </p:grpSpPr>
      <p:sp>
        <p:nvSpPr>
          <p:cNvPr id="1048922" name="Title 1"/>
          <p:cNvSpPr>
            <a:spLocks noGrp="1"/>
          </p:cNvSpPr>
          <p:nvPr>
            <p:ph type="title"/>
          </p:nvPr>
        </p:nvSpPr>
        <p:spPr>
          <a:xfrm>
            <a:off x="152400" y="228600"/>
            <a:ext cx="8613648" cy="990600"/>
          </a:xfrm>
        </p:spPr>
        <p:txBody>
          <a:bodyPr/>
          <a:p>
            <a:r>
              <a:rPr b="1" dirty="0" lang="en-US" smtClean="0"/>
              <a:t>FRACTURE HUMERAL SHAFT</a:t>
            </a:r>
            <a:endParaRPr b="1" dirty="0" lang="en-US"/>
          </a:p>
        </p:txBody>
      </p:sp>
      <p:sp>
        <p:nvSpPr>
          <p:cNvPr id="1048923" name="Content Placeholder 2"/>
          <p:cNvSpPr>
            <a:spLocks noGrp="1"/>
          </p:cNvSpPr>
          <p:nvPr>
            <p:ph sz="quarter" idx="1"/>
          </p:nvPr>
        </p:nvSpPr>
        <p:spPr>
          <a:xfrm>
            <a:off x="152400" y="1219200"/>
            <a:ext cx="8763000" cy="4876800"/>
          </a:xfrm>
        </p:spPr>
        <p:txBody>
          <a:bodyPr/>
          <a:p>
            <a:pPr>
              <a:buNone/>
            </a:pPr>
            <a:r>
              <a:rPr dirty="0" lang="en-US" smtClean="0"/>
              <a:t>Frequently caused by: </a:t>
            </a:r>
          </a:p>
          <a:p>
            <a:pPr indent="-571500" marL="571500">
              <a:buFont typeface="+mj-lt"/>
              <a:buAutoNum type="alphaLcParenR"/>
            </a:pPr>
            <a:r>
              <a:rPr dirty="0" lang="en-US" smtClean="0"/>
              <a:t>Direct trauma resulting in transverse, oblique or comminuted fracture.</a:t>
            </a:r>
          </a:p>
          <a:p>
            <a:pPr indent="-571500" marL="571500">
              <a:buFont typeface="+mj-lt"/>
              <a:buAutoNum type="alphaLcParenR"/>
            </a:pPr>
            <a:r>
              <a:rPr dirty="0" lang="en-US" smtClean="0"/>
              <a:t>Indirect twisting force that results in a spiral fracture. The nerves &amp; brachial blood vessels may be injured with these fractures. Wrist drop indicates radial nerve injury.</a:t>
            </a:r>
            <a:endParaRPr dirty="0" lang="en-US"/>
          </a:p>
        </p:txBody>
      </p:sp>
      <p:sp>
        <p:nvSpPr>
          <p:cNvPr id="1048924" name="Title 1"/>
          <p:cNvSpPr txBox="1"/>
          <p:nvPr/>
        </p:nvSpPr>
        <p:spPr>
          <a:xfrm>
            <a:off x="3048" y="0"/>
            <a:ext cx="3273552" cy="381000"/>
          </a:xfrm>
          <a:prstGeom prst="rect"/>
          <a:solidFill>
            <a:schemeClr val="accent3">
              <a:lumMod val="40000"/>
              <a:lumOff val="60000"/>
            </a:schemeClr>
          </a:solidFill>
        </p:spPr>
        <p:txBody>
          <a:bodyPr anchor="ctr" vert="horz">
            <a:normAutofit fontScale="43182"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lang="en-US" smtClean="0"/>
              <a:t>FRACTURE HUMERAL SHAFT</a:t>
            </a:r>
            <a:endParaRPr b="1" dirty="0" lang="en-US"/>
          </a:p>
        </p:txBody>
      </p:sp>
    </p:spTree>
  </p:cSld>
  <p:clrMapOvr>
    <a:masterClrMapping/>
  </p:clrMapOvr>
  <p:timing/>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397" name=""/>
        <p:cNvGrpSpPr/>
        <p:nvPr/>
      </p:nvGrpSpPr>
      <p:grpSpPr>
        <a:xfrm>
          <a:off x="0" y="0"/>
          <a:ext cx="0" cy="0"/>
          <a:chOff x="0" y="0"/>
          <a:chExt cx="0" cy="0"/>
        </a:xfrm>
      </p:grpSpPr>
      <p:sp>
        <p:nvSpPr>
          <p:cNvPr id="1048925" name="Content Placeholder 2"/>
          <p:cNvSpPr>
            <a:spLocks noGrp="1"/>
          </p:cNvSpPr>
          <p:nvPr>
            <p:ph sz="quarter" idx="1"/>
          </p:nvPr>
        </p:nvSpPr>
        <p:spPr>
          <a:xfrm>
            <a:off x="152400" y="304800"/>
            <a:ext cx="8991600" cy="6400800"/>
          </a:xfrm>
        </p:spPr>
        <p:txBody>
          <a:bodyPr>
            <a:normAutofit/>
          </a:bodyPr>
          <a:p>
            <a:pPr indent="-514350" marL="514350">
              <a:buNone/>
            </a:pPr>
            <a:r>
              <a:rPr b="1" dirty="0" lang="en-US" smtClean="0"/>
              <a:t>MANAGEMENT </a:t>
            </a:r>
            <a:endParaRPr dirty="0" lang="en-US" smtClean="0"/>
          </a:p>
          <a:p>
            <a:pPr indent="-514350" marL="514350">
              <a:buFont typeface="+mj-lt"/>
              <a:buAutoNum type="arabicPeriod"/>
            </a:pPr>
            <a:r>
              <a:rPr dirty="0" lang="en-US" smtClean="0"/>
              <a:t>Hanging cast</a:t>
            </a:r>
          </a:p>
          <a:p>
            <a:pPr indent="0" lvl="1" marL="320040">
              <a:spcBef>
                <a:spcPts val="1200"/>
              </a:spcBef>
              <a:spcAft>
                <a:spcPts val="600"/>
              </a:spcAft>
              <a:buNone/>
            </a:pPr>
            <a:r>
              <a:rPr dirty="0" lang="en-US" smtClean="0"/>
              <a:t>Provides traction to the arm when the pt is upright hence reducing &amp; immobilizing the fracture. </a:t>
            </a:r>
          </a:p>
          <a:p>
            <a:pPr lvl="1">
              <a:spcBef>
                <a:spcPts val="1200"/>
              </a:spcBef>
              <a:spcAft>
                <a:spcPts val="600"/>
              </a:spcAft>
            </a:pPr>
            <a:r>
              <a:rPr dirty="0" lang="en-US" smtClean="0"/>
              <a:t>Must be independent (free from support) </a:t>
            </a:r>
          </a:p>
          <a:p>
            <a:pPr lvl="1">
              <a:spcBef>
                <a:spcPts val="1200"/>
              </a:spcBef>
              <a:spcAft>
                <a:spcPts val="600"/>
              </a:spcAft>
            </a:pPr>
            <a:r>
              <a:rPr dirty="0" lang="en-US" smtClean="0"/>
              <a:t>Sleep in upright position so that traction is maintained. </a:t>
            </a:r>
          </a:p>
          <a:p>
            <a:pPr lvl="1">
              <a:spcBef>
                <a:spcPts val="1200"/>
              </a:spcBef>
              <a:spcAft>
                <a:spcPts val="600"/>
              </a:spcAft>
            </a:pPr>
            <a:r>
              <a:rPr dirty="0" lang="en-US" smtClean="0"/>
              <a:t>Watch out for complication—non-union. </a:t>
            </a:r>
          </a:p>
          <a:p>
            <a:pPr lvl="1">
              <a:spcBef>
                <a:spcPts val="1200"/>
              </a:spcBef>
              <a:spcAft>
                <a:spcPts val="600"/>
              </a:spcAft>
            </a:pPr>
            <a:r>
              <a:rPr dirty="0" lang="en-US"/>
              <a:t>Finger &amp; pendulum shoulder exercise start as soon as possible </a:t>
            </a:r>
          </a:p>
          <a:p>
            <a:pPr lvl="1">
              <a:spcBef>
                <a:spcPts val="1200"/>
              </a:spcBef>
              <a:spcAft>
                <a:spcPts val="600"/>
              </a:spcAft>
            </a:pPr>
            <a:r>
              <a:rPr dirty="0" lang="en-US" smtClean="0"/>
              <a:t>Need 10 </a:t>
            </a:r>
            <a:r>
              <a:rPr dirty="0" lang="en-US"/>
              <a:t>weeks to heal </a:t>
            </a:r>
            <a:r>
              <a:rPr dirty="0" lang="en-US" smtClean="0"/>
              <a:t>with </a:t>
            </a:r>
            <a:r>
              <a:rPr dirty="0" lang="en-US"/>
              <a:t>hanging cast</a:t>
            </a:r>
            <a:r>
              <a:rPr dirty="0" lang="en-US" smtClean="0"/>
              <a:t>.</a:t>
            </a:r>
            <a:r>
              <a:rPr dirty="0" lang="en-US"/>
              <a:t> </a:t>
            </a:r>
            <a:endParaRPr dirty="0" lang="en-US" smtClean="0"/>
          </a:p>
          <a:p>
            <a:pPr lvl="1">
              <a:spcBef>
                <a:spcPts val="1200"/>
              </a:spcBef>
              <a:spcAft>
                <a:spcPts val="600"/>
              </a:spcAft>
            </a:pPr>
            <a:r>
              <a:rPr dirty="0" lang="en-US" smtClean="0"/>
              <a:t>After cast removal, </a:t>
            </a:r>
            <a:r>
              <a:rPr dirty="0" lang="en-US"/>
              <a:t>a sling is applied &amp; exercise of wrist, elbow, &amp; shoulder </a:t>
            </a:r>
            <a:r>
              <a:rPr dirty="0" lang="en-US" smtClean="0"/>
              <a:t>started.</a:t>
            </a:r>
            <a:endParaRPr dirty="0" lang="en-US"/>
          </a:p>
          <a:p>
            <a:pPr lvl="1"/>
            <a:endParaRPr dirty="0" lang="en-US"/>
          </a:p>
        </p:txBody>
      </p:sp>
      <p:sp>
        <p:nvSpPr>
          <p:cNvPr id="1048926" name="Title 1"/>
          <p:cNvSpPr txBox="1"/>
          <p:nvPr/>
        </p:nvSpPr>
        <p:spPr>
          <a:xfrm>
            <a:off x="3048" y="0"/>
            <a:ext cx="3273552" cy="381000"/>
          </a:xfrm>
          <a:prstGeom prst="rect"/>
          <a:solidFill>
            <a:schemeClr val="accent3">
              <a:lumMod val="40000"/>
              <a:lumOff val="60000"/>
            </a:schemeClr>
          </a:solidFill>
        </p:spPr>
        <p:txBody>
          <a:bodyPr anchor="ctr" vert="horz">
            <a:normAutofit fontScale="43182"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lang="en-US" smtClean="0"/>
              <a:t>FRACTURE HUMERAL SHAFT</a:t>
            </a:r>
            <a:endParaRPr b="1" dirty="0" lang="en-US"/>
          </a:p>
        </p:txBody>
      </p:sp>
    </p:spTree>
  </p:cSld>
  <p:clrMapOvr>
    <a:masterClrMapping/>
  </p:clrMapOvr>
  <p:timing/>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398" name=""/>
        <p:cNvGrpSpPr/>
        <p:nvPr/>
      </p:nvGrpSpPr>
      <p:grpSpPr>
        <a:xfrm>
          <a:off x="0" y="0"/>
          <a:ext cx="0" cy="0"/>
          <a:chOff x="0" y="0"/>
          <a:chExt cx="0" cy="0"/>
        </a:xfrm>
      </p:grpSpPr>
      <p:sp>
        <p:nvSpPr>
          <p:cNvPr id="1048927" name="Content Placeholder 2"/>
          <p:cNvSpPr>
            <a:spLocks noGrp="1"/>
          </p:cNvSpPr>
          <p:nvPr>
            <p:ph sz="quarter" idx="1"/>
          </p:nvPr>
        </p:nvSpPr>
        <p:spPr>
          <a:xfrm>
            <a:off x="304800" y="381000"/>
            <a:ext cx="8461248" cy="6172200"/>
          </a:xfrm>
        </p:spPr>
        <p:txBody>
          <a:bodyPr>
            <a:normAutofit/>
          </a:bodyPr>
          <a:p>
            <a:pPr indent="-514350" marL="514350">
              <a:buFont typeface="+mj-lt"/>
              <a:buAutoNum type="arabicPeriod" startAt="2"/>
            </a:pPr>
            <a:r>
              <a:rPr dirty="0" lang="en-US" smtClean="0"/>
              <a:t>Functional bracing.</a:t>
            </a:r>
          </a:p>
          <a:p>
            <a:pPr indent="0" lvl="1" marL="320040">
              <a:buNone/>
            </a:pPr>
            <a:r>
              <a:rPr dirty="0" lang="en-US"/>
              <a:t>A contoured thermoplastic sleeve is secured in place with interlocking fabric closures around the upper arm immobilizing the reduced fracture</a:t>
            </a:r>
            <a:r>
              <a:rPr dirty="0" lang="en-US" smtClean="0"/>
              <a:t>.</a:t>
            </a:r>
          </a:p>
          <a:p>
            <a:pPr indent="-514350" marL="514350">
              <a:buAutoNum type="arabicPeriod" startAt="3"/>
            </a:pPr>
            <a:r>
              <a:rPr dirty="0" lang="en-US"/>
              <a:t>Shoulder </a:t>
            </a:r>
            <a:r>
              <a:rPr dirty="0" lang="en-US" err="1"/>
              <a:t>spica</a:t>
            </a:r>
            <a:r>
              <a:rPr dirty="0" lang="en-US"/>
              <a:t> </a:t>
            </a:r>
            <a:r>
              <a:rPr dirty="0" lang="en-US" smtClean="0"/>
              <a:t>cast: may </a:t>
            </a:r>
            <a:r>
              <a:rPr dirty="0" lang="en-US"/>
              <a:t>be used during early treatment of unstable </a:t>
            </a:r>
            <a:r>
              <a:rPr dirty="0" lang="en-US" err="1"/>
              <a:t>humerus</a:t>
            </a:r>
            <a:r>
              <a:rPr dirty="0" lang="en-US"/>
              <a:t> fracture.</a:t>
            </a:r>
          </a:p>
          <a:p>
            <a:pPr indent="-514350" marL="514350">
              <a:buAutoNum type="arabicPeriod" startAt="3"/>
            </a:pPr>
            <a:r>
              <a:rPr dirty="0" lang="en-US"/>
              <a:t>Skeletal </a:t>
            </a:r>
            <a:r>
              <a:rPr dirty="0" lang="en-US" smtClean="0"/>
              <a:t>traction: may </a:t>
            </a:r>
            <a:r>
              <a:rPr dirty="0" lang="en-US"/>
              <a:t>be </a:t>
            </a:r>
            <a:r>
              <a:rPr dirty="0" lang="en-US" smtClean="0"/>
              <a:t>used </a:t>
            </a:r>
            <a:r>
              <a:rPr dirty="0" lang="en-US"/>
              <a:t>for </a:t>
            </a:r>
            <a:r>
              <a:rPr dirty="0" lang="en-US" err="1"/>
              <a:t>pts</a:t>
            </a:r>
            <a:r>
              <a:rPr dirty="0" lang="en-US"/>
              <a:t> who must remain in bed because of their injuries. </a:t>
            </a:r>
            <a:endParaRPr dirty="0" lang="en-US" smtClean="0"/>
          </a:p>
          <a:p>
            <a:pPr indent="-514350" marL="514350">
              <a:buAutoNum type="arabicPeriod" startAt="5"/>
            </a:pPr>
            <a:r>
              <a:rPr dirty="0" lang="en-US"/>
              <a:t>Open fractures </a:t>
            </a:r>
            <a:r>
              <a:rPr dirty="0" lang="en-US" smtClean="0"/>
              <a:t>are </a:t>
            </a:r>
            <a:r>
              <a:rPr dirty="0" lang="en-US"/>
              <a:t>treated by external fixators.</a:t>
            </a:r>
          </a:p>
          <a:p>
            <a:pPr indent="-514350" marL="514350">
              <a:buAutoNum type="arabicPeriod" startAt="5"/>
            </a:pPr>
            <a:r>
              <a:rPr dirty="0" lang="en-US" smtClean="0"/>
              <a:t>ORIF is </a:t>
            </a:r>
            <a:r>
              <a:rPr dirty="0" lang="en-US"/>
              <a:t>necessary with nerve palsy or pathologic fractures</a:t>
            </a:r>
          </a:p>
          <a:p>
            <a:pPr indent="-514350" marL="514350">
              <a:buAutoNum type="arabicPeriod" startAt="3"/>
            </a:pPr>
            <a:endParaRPr dirty="0" lang="en-US"/>
          </a:p>
          <a:p>
            <a:pPr indent="-514350" marL="514350">
              <a:buFont typeface="+mj-lt"/>
              <a:buAutoNum type="arabicPeriod" startAt="2"/>
            </a:pPr>
            <a:endParaRPr dirty="0" lang="en-US"/>
          </a:p>
          <a:p>
            <a:pPr indent="-514350" marL="514350">
              <a:buFont typeface="+mj-lt"/>
              <a:buAutoNum type="arabicPeriod" startAt="2"/>
            </a:pPr>
            <a:endParaRPr dirty="0" lang="en-US"/>
          </a:p>
        </p:txBody>
      </p:sp>
      <p:sp>
        <p:nvSpPr>
          <p:cNvPr id="1048928" name="Title 1"/>
          <p:cNvSpPr txBox="1"/>
          <p:nvPr/>
        </p:nvSpPr>
        <p:spPr>
          <a:xfrm>
            <a:off x="3048" y="0"/>
            <a:ext cx="3273552" cy="381000"/>
          </a:xfrm>
          <a:prstGeom prst="rect"/>
          <a:solidFill>
            <a:schemeClr val="accent3">
              <a:lumMod val="40000"/>
              <a:lumOff val="60000"/>
            </a:schemeClr>
          </a:solidFill>
        </p:spPr>
        <p:txBody>
          <a:bodyPr anchor="ctr" vert="horz">
            <a:normAutofit fontScale="43182" lnSpcReduction="20000"/>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lang="en-US" smtClean="0"/>
              <a:t>FRACTURE HUMERAL SHAFT</a:t>
            </a:r>
            <a:endParaRPr b="1" dirty="0" lang="en-US"/>
          </a:p>
        </p:txBody>
      </p:sp>
    </p:spTree>
  </p:cSld>
  <p:clrMapOvr>
    <a:masterClrMapping/>
  </p:clrMapOvr>
  <p:timing/>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399" name=""/>
        <p:cNvGrpSpPr/>
        <p:nvPr/>
      </p:nvGrpSpPr>
      <p:grpSpPr>
        <a:xfrm>
          <a:off x="0" y="0"/>
          <a:ext cx="0" cy="0"/>
          <a:chOff x="0" y="0"/>
          <a:chExt cx="0" cy="0"/>
        </a:xfrm>
      </p:grpSpPr>
      <p:sp>
        <p:nvSpPr>
          <p:cNvPr id="1048929" name="Title 1"/>
          <p:cNvSpPr>
            <a:spLocks noGrp="1"/>
          </p:cNvSpPr>
          <p:nvPr>
            <p:ph type="title"/>
          </p:nvPr>
        </p:nvSpPr>
        <p:spPr>
          <a:xfrm>
            <a:off x="228600" y="762000"/>
            <a:ext cx="8537448" cy="990600"/>
          </a:xfrm>
        </p:spPr>
        <p:txBody>
          <a:bodyPr>
            <a:normAutofit/>
          </a:bodyPr>
          <a:p>
            <a:r>
              <a:rPr b="1" dirty="0" sz="4800" lang="en-US" smtClean="0"/>
              <a:t>FRACTURE PELVIS</a:t>
            </a:r>
            <a:endParaRPr b="1" dirty="0" sz="4800" lang="en-US"/>
          </a:p>
        </p:txBody>
      </p:sp>
      <p:sp>
        <p:nvSpPr>
          <p:cNvPr id="1048930" name="Content Placeholder 2"/>
          <p:cNvSpPr>
            <a:spLocks noGrp="1"/>
          </p:cNvSpPr>
          <p:nvPr>
            <p:ph sz="quarter" idx="1"/>
          </p:nvPr>
        </p:nvSpPr>
        <p:spPr>
          <a:xfrm>
            <a:off x="304800" y="2133600"/>
            <a:ext cx="8461248" cy="3962400"/>
          </a:xfrm>
        </p:spPr>
        <p:txBody>
          <a:bodyPr>
            <a:normAutofit/>
          </a:bodyPr>
          <a:p>
            <a:pPr>
              <a:buNone/>
            </a:pPr>
            <a:r>
              <a:rPr dirty="0" lang="en-US" smtClean="0"/>
              <a:t>The sacrum, ilium, pubis, &amp; ischium bones form the pelvic bone, a fused, stable, bony ring in adults.</a:t>
            </a:r>
          </a:p>
        </p:txBody>
      </p:sp>
      <p:sp>
        <p:nvSpPr>
          <p:cNvPr id="1048931" name="Title 1"/>
          <p:cNvSpPr txBox="1"/>
          <p:nvPr/>
        </p:nvSpPr>
        <p:spPr>
          <a:xfrm>
            <a:off x="0" y="14514"/>
            <a:ext cx="1978152" cy="457200"/>
          </a:xfrm>
          <a:prstGeom prst="rect"/>
          <a:solidFill>
            <a:schemeClr val="bg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sz="1800" lang="en-US" smtClean="0"/>
              <a:t>FRACTURE PELVIS</a:t>
            </a:r>
            <a:endParaRPr b="1" dirty="0" sz="1800" lang="en-US"/>
          </a:p>
        </p:txBody>
      </p:sp>
    </p:spTree>
  </p:cSld>
  <p:clrMapOvr>
    <a:masterClrMapping/>
  </p:clrMapOvr>
  <p:timing/>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400" name=""/>
        <p:cNvGrpSpPr/>
        <p:nvPr/>
      </p:nvGrpSpPr>
      <p:grpSpPr>
        <a:xfrm>
          <a:off x="0" y="0"/>
          <a:ext cx="0" cy="0"/>
          <a:chOff x="0" y="0"/>
          <a:chExt cx="0" cy="0"/>
        </a:xfrm>
      </p:grpSpPr>
      <p:sp>
        <p:nvSpPr>
          <p:cNvPr id="1048932" name="Title 1"/>
          <p:cNvSpPr>
            <a:spLocks noGrp="1"/>
          </p:cNvSpPr>
          <p:nvPr>
            <p:ph type="title"/>
          </p:nvPr>
        </p:nvSpPr>
        <p:spPr/>
        <p:txBody>
          <a:bodyPr/>
          <a:p>
            <a:r>
              <a:rPr dirty="0" lang="en-US" smtClean="0"/>
              <a:t>PELVIC BONES</a:t>
            </a:r>
            <a:endParaRPr dirty="0" lang="en-US"/>
          </a:p>
        </p:txBody>
      </p:sp>
      <p:pic>
        <p:nvPicPr>
          <p:cNvPr id="2097194" name="Content Placeholder 3"/>
          <p:cNvPicPr>
            <a:picLocks noGrp="1"/>
          </p:cNvPicPr>
          <p:nvPr>
            <p:ph sz="quarter" idx="1"/>
          </p:nvPr>
        </p:nvPicPr>
        <p:blipFill>
          <a:blip xmlns:r="http://schemas.openxmlformats.org/officeDocument/2006/relationships" r:embed="rId1" cstate="print"/>
          <a:stretch>
            <a:fillRect/>
          </a:stretch>
        </p:blipFill>
        <p:spPr bwMode="auto">
          <a:xfrm>
            <a:off x="927100" y="1738312"/>
            <a:ext cx="7524750" cy="4219575"/>
          </a:xfrm>
          <a:prstGeom prst="rect"/>
          <a:noFill/>
          <a:ln w="9525">
            <a:noFill/>
            <a:miter lim="800000"/>
            <a:headEnd/>
            <a:tailEnd/>
          </a:ln>
        </p:spPr>
      </p:pic>
      <p:sp>
        <p:nvSpPr>
          <p:cNvPr id="1048933" name="Title 1"/>
          <p:cNvSpPr txBox="1"/>
          <p:nvPr/>
        </p:nvSpPr>
        <p:spPr>
          <a:xfrm>
            <a:off x="0" y="14514"/>
            <a:ext cx="1978152" cy="457200"/>
          </a:xfrm>
          <a:prstGeom prst="rect"/>
          <a:solidFill>
            <a:schemeClr val="bg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sz="1800" lang="en-US" smtClean="0"/>
              <a:t>FRACTURE PELVIS</a:t>
            </a:r>
            <a:endParaRPr b="1" dirty="0" sz="1800" lang="en-US"/>
          </a:p>
        </p:txBody>
      </p:sp>
    </p:spTree>
  </p:cSld>
  <p:clrMapOvr>
    <a:masterClrMapping/>
  </p:clrMapOvr>
  <p:timing/>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401" name=""/>
        <p:cNvGrpSpPr/>
        <p:nvPr/>
      </p:nvGrpSpPr>
      <p:grpSpPr>
        <a:xfrm>
          <a:off x="0" y="0"/>
          <a:ext cx="0" cy="0"/>
          <a:chOff x="0" y="0"/>
          <a:chExt cx="0" cy="0"/>
        </a:xfrm>
      </p:grpSpPr>
      <p:sp>
        <p:nvSpPr>
          <p:cNvPr id="1048934" name="Content Placeholder 2"/>
          <p:cNvSpPr>
            <a:spLocks noChangeAspect="1" noMove="1" noResize="1" noRot="1" noGrp="1" noAdjustHandles="1" noEditPoints="1" noChangeArrowheads="1" noChangeShapeType="1" noTextEdit="1"/>
          </p:cNvSpPr>
          <p:nvPr>
            <p:ph sz="quarter" idx="1"/>
          </p:nvPr>
        </p:nvSpPr>
        <p:spPr>
          <a:xfrm>
            <a:off x="304800" y="471714"/>
            <a:ext cx="8461248" cy="5624286"/>
          </a:xfrm>
          <a:blipFill rotWithShape="0">
            <a:blip xmlns:r="http://schemas.openxmlformats.org/officeDocument/2006/relationships" r:embed="rId1"/>
            <a:stretch>
              <a:fillRect l="-1513" t="-1083"/>
            </a:stretch>
          </a:blipFill>
        </p:spPr>
        <p:txBody>
          <a:bodyPr/>
          <a:p>
            <a:r>
              <a:rPr lang="en-US">
                <a:noFill/>
              </a:rPr>
              <a:t> </a:t>
            </a:r>
          </a:p>
        </p:txBody>
      </p:sp>
      <p:sp>
        <p:nvSpPr>
          <p:cNvPr id="1048935"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Tree>
  </p:cSld>
  <p:clrMapOvr>
    <a:masterClrMapping/>
  </p:clrMapOvr>
  <p:timing/>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402" name=""/>
        <p:cNvGrpSpPr/>
        <p:nvPr/>
      </p:nvGrpSpPr>
      <p:grpSpPr>
        <a:xfrm>
          <a:off x="0" y="0"/>
          <a:ext cx="0" cy="0"/>
          <a:chOff x="0" y="0"/>
          <a:chExt cx="0" cy="0"/>
        </a:xfrm>
      </p:grpSpPr>
      <p:sp>
        <p:nvSpPr>
          <p:cNvPr id="1048936" name="Content Placeholder 2"/>
          <p:cNvSpPr>
            <a:spLocks noGrp="1"/>
          </p:cNvSpPr>
          <p:nvPr>
            <p:ph sz="quarter" idx="1"/>
          </p:nvPr>
        </p:nvSpPr>
        <p:spPr>
          <a:xfrm>
            <a:off x="228600" y="533400"/>
            <a:ext cx="8839200" cy="5562600"/>
          </a:xfrm>
        </p:spPr>
        <p:txBody>
          <a:bodyPr>
            <a:normAutofit/>
          </a:bodyPr>
          <a:p>
            <a:pPr>
              <a:buNone/>
            </a:pPr>
            <a:r>
              <a:rPr b="1" dirty="0" lang="en-US"/>
              <a:t>MANIFESTATIONS OF PELVIC FRACTURE</a:t>
            </a:r>
          </a:p>
          <a:p>
            <a:pPr>
              <a:spcAft>
                <a:spcPts val="1200"/>
              </a:spcAft>
            </a:pPr>
            <a:r>
              <a:rPr dirty="0" lang="en-US"/>
              <a:t>Ecchymosis</a:t>
            </a:r>
          </a:p>
          <a:p>
            <a:pPr>
              <a:spcAft>
                <a:spcPts val="1200"/>
              </a:spcAft>
            </a:pPr>
            <a:r>
              <a:rPr dirty="0" lang="en-US"/>
              <a:t>Tenderness over the </a:t>
            </a:r>
            <a:r>
              <a:rPr dirty="0" lang="en-US" err="1"/>
              <a:t>symphysis</a:t>
            </a:r>
            <a:r>
              <a:rPr dirty="0" lang="en-US"/>
              <a:t> pubis, anterior iliac spine, iliac crest, sacrum or coccyx.</a:t>
            </a:r>
          </a:p>
          <a:p>
            <a:pPr>
              <a:spcAft>
                <a:spcPts val="1200"/>
              </a:spcAft>
            </a:pPr>
            <a:r>
              <a:rPr dirty="0" lang="en-US"/>
              <a:t>Local </a:t>
            </a:r>
            <a:r>
              <a:rPr dirty="0" lang="en-US" smtClean="0"/>
              <a:t>swelling</a:t>
            </a:r>
          </a:p>
          <a:p>
            <a:pPr>
              <a:spcAft>
                <a:spcPts val="1200"/>
              </a:spcAft>
            </a:pPr>
            <a:r>
              <a:rPr dirty="0" lang="en-US" smtClean="0"/>
              <a:t>Numbness or tingling of pubis, genitalia, &amp; proximal thighs.</a:t>
            </a:r>
          </a:p>
          <a:p>
            <a:pPr>
              <a:spcAft>
                <a:spcPts val="1200"/>
              </a:spcAft>
            </a:pPr>
            <a:r>
              <a:rPr dirty="0" lang="en-US" smtClean="0"/>
              <a:t>Inability to bear weight without discomfort.</a:t>
            </a:r>
          </a:p>
        </p:txBody>
      </p:sp>
      <p:sp>
        <p:nvSpPr>
          <p:cNvPr id="1048937"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Tree>
  </p:cSld>
  <p:clrMapOvr>
    <a:masterClrMapping/>
  </p:clrMapOvr>
  <p:timing/>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403" name=""/>
        <p:cNvGrpSpPr/>
        <p:nvPr/>
      </p:nvGrpSpPr>
      <p:grpSpPr>
        <a:xfrm>
          <a:off x="0" y="0"/>
          <a:ext cx="0" cy="0"/>
          <a:chOff x="0" y="0"/>
          <a:chExt cx="0" cy="0"/>
        </a:xfrm>
      </p:grpSpPr>
      <p:sp>
        <p:nvSpPr>
          <p:cNvPr id="1048938" name="Content Placeholder 2"/>
          <p:cNvSpPr>
            <a:spLocks noGrp="1"/>
          </p:cNvSpPr>
          <p:nvPr>
            <p:ph sz="quarter" idx="1"/>
          </p:nvPr>
        </p:nvSpPr>
        <p:spPr>
          <a:xfrm>
            <a:off x="152400" y="457200"/>
            <a:ext cx="8839200" cy="6172200"/>
          </a:xfrm>
        </p:spPr>
        <p:txBody>
          <a:bodyPr>
            <a:normAutofit fontScale="96552" lnSpcReduction="10000"/>
          </a:bodyPr>
          <a:p>
            <a:pPr indent="-514350" marL="514350">
              <a:buNone/>
            </a:pPr>
            <a:r>
              <a:rPr b="1" dirty="0" lang="en-US" smtClean="0"/>
              <a:t>TYPES </a:t>
            </a:r>
            <a:r>
              <a:rPr b="1" dirty="0" lang="en-US"/>
              <a:t>OF PELVIC FRACTURES </a:t>
            </a:r>
          </a:p>
          <a:p>
            <a:pPr indent="-514350" marL="514350">
              <a:buFont typeface="+mj-lt"/>
              <a:buAutoNum type="arabicPeriod"/>
            </a:pPr>
            <a:r>
              <a:rPr b="1" dirty="0" lang="en-US"/>
              <a:t>Stable pelvic fractures</a:t>
            </a:r>
          </a:p>
          <a:p>
            <a:pPr>
              <a:spcAft>
                <a:spcPts val="1200"/>
              </a:spcAft>
            </a:pPr>
            <a:r>
              <a:rPr dirty="0" lang="en-US"/>
              <a:t>May include fractures of a single pubic or </a:t>
            </a:r>
            <a:r>
              <a:rPr dirty="0" lang="en-US" err="1"/>
              <a:t>ischial</a:t>
            </a:r>
            <a:r>
              <a:rPr dirty="0" lang="en-US"/>
              <a:t> </a:t>
            </a:r>
            <a:r>
              <a:rPr dirty="0" lang="en-US" smtClean="0"/>
              <a:t>ramus; </a:t>
            </a:r>
            <a:r>
              <a:rPr dirty="0" lang="en-US" err="1" smtClean="0"/>
              <a:t>ipsilateral</a:t>
            </a:r>
            <a:r>
              <a:rPr dirty="0" lang="en-US" smtClean="0"/>
              <a:t> </a:t>
            </a:r>
            <a:r>
              <a:rPr dirty="0" lang="en-US"/>
              <a:t>pubic &amp; </a:t>
            </a:r>
            <a:r>
              <a:rPr dirty="0" lang="en-US" err="1"/>
              <a:t>ischial</a:t>
            </a:r>
            <a:r>
              <a:rPr dirty="0" lang="en-US"/>
              <a:t> </a:t>
            </a:r>
            <a:r>
              <a:rPr dirty="0" lang="en-US" smtClean="0"/>
              <a:t>rami; pelvic </a:t>
            </a:r>
            <a:r>
              <a:rPr dirty="0" lang="en-US"/>
              <a:t>wing of </a:t>
            </a:r>
            <a:r>
              <a:rPr dirty="0" lang="en-US" smtClean="0"/>
              <a:t>ilium (</a:t>
            </a:r>
            <a:r>
              <a:rPr dirty="0" lang="en-US" err="1" smtClean="0"/>
              <a:t>Duverney’s</a:t>
            </a:r>
            <a:r>
              <a:rPr dirty="0" lang="en-US" smtClean="0"/>
              <a:t> fracture); or fracture of the sacrum or coccyx. </a:t>
            </a:r>
          </a:p>
          <a:p>
            <a:pPr>
              <a:spcAft>
                <a:spcPts val="1200"/>
              </a:spcAft>
            </a:pPr>
            <a:r>
              <a:rPr dirty="0" lang="en-US"/>
              <a:t>T</a:t>
            </a:r>
            <a:r>
              <a:rPr dirty="0" lang="en-US" smtClean="0"/>
              <a:t>reated with a few days of bed rest &amp; symptom management until the pain &amp; discomfort are controlled. </a:t>
            </a:r>
          </a:p>
          <a:p>
            <a:pPr>
              <a:spcAft>
                <a:spcPts val="1200"/>
              </a:spcAft>
            </a:pPr>
            <a:r>
              <a:rPr dirty="0" lang="en-US"/>
              <a:t>Most </a:t>
            </a:r>
            <a:r>
              <a:rPr dirty="0" lang="en-US" smtClean="0"/>
              <a:t>heal </a:t>
            </a:r>
            <a:r>
              <a:rPr dirty="0" lang="en-US"/>
              <a:t>rapidly because the </a:t>
            </a:r>
            <a:r>
              <a:rPr dirty="0" lang="en-US" smtClean="0"/>
              <a:t>hip is </a:t>
            </a:r>
            <a:r>
              <a:rPr dirty="0" lang="en-US"/>
              <a:t>made up mostly of </a:t>
            </a:r>
            <a:r>
              <a:rPr dirty="0" lang="en-US" err="1"/>
              <a:t>cancellous</a:t>
            </a:r>
            <a:r>
              <a:rPr dirty="0" lang="en-US"/>
              <a:t> bone, </a:t>
            </a:r>
            <a:r>
              <a:rPr dirty="0" lang="en-US" smtClean="0"/>
              <a:t>with rich </a:t>
            </a:r>
            <a:r>
              <a:rPr dirty="0" lang="en-US"/>
              <a:t>blood supply.</a:t>
            </a:r>
          </a:p>
          <a:p>
            <a:pPr>
              <a:spcAft>
                <a:spcPts val="1200"/>
              </a:spcAft>
            </a:pPr>
            <a:r>
              <a:rPr dirty="0" lang="en-US" smtClean="0"/>
              <a:t>Ambulation </a:t>
            </a:r>
            <a:r>
              <a:rPr dirty="0" lang="en-US"/>
              <a:t>is resumed using ambulatory aids for protected weight bearing</a:t>
            </a:r>
            <a:r>
              <a:rPr dirty="0" lang="en-US" smtClean="0"/>
              <a:t>.</a:t>
            </a:r>
          </a:p>
          <a:p>
            <a:pPr>
              <a:buFont typeface="Wingdings" pitchFamily="2" charset="2"/>
              <a:buChar char="Ø"/>
            </a:pPr>
            <a:endParaRPr dirty="0" lang="en-US"/>
          </a:p>
        </p:txBody>
      </p:sp>
      <p:sp>
        <p:nvSpPr>
          <p:cNvPr id="1048939"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Tree>
  </p:cSld>
  <p:clrMapOvr>
    <a:masterClrMapping/>
  </p:clrMapOvr>
  <p:timing/>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404" name=""/>
        <p:cNvGrpSpPr/>
        <p:nvPr/>
      </p:nvGrpSpPr>
      <p:grpSpPr>
        <a:xfrm>
          <a:off x="0" y="0"/>
          <a:ext cx="0" cy="0"/>
          <a:chOff x="0" y="0"/>
          <a:chExt cx="0" cy="0"/>
        </a:xfrm>
      </p:grpSpPr>
      <p:sp>
        <p:nvSpPr>
          <p:cNvPr id="1048940" name="Content Placeholder 2"/>
          <p:cNvSpPr>
            <a:spLocks noGrp="1"/>
          </p:cNvSpPr>
          <p:nvPr>
            <p:ph sz="quarter" idx="1"/>
          </p:nvPr>
        </p:nvSpPr>
        <p:spPr>
          <a:xfrm>
            <a:off x="228600" y="471714"/>
            <a:ext cx="8763000" cy="5624286"/>
          </a:xfrm>
        </p:spPr>
        <p:txBody>
          <a:bodyPr>
            <a:normAutofit/>
          </a:bodyPr>
          <a:p>
            <a:pPr indent="-514350" marL="514350">
              <a:buAutoNum type="arabicPeriod" startAt="2"/>
            </a:pPr>
            <a:r>
              <a:rPr b="1" dirty="0" lang="en-US" smtClean="0"/>
              <a:t>Unstable pelvic fractures </a:t>
            </a:r>
          </a:p>
          <a:p>
            <a:pPr indent="-514350" marL="514350">
              <a:buNone/>
            </a:pPr>
            <a:r>
              <a:rPr dirty="0" lang="en-US" smtClean="0"/>
              <a:t>May be any of three (3) types</a:t>
            </a:r>
          </a:p>
          <a:p>
            <a:pPr indent="-571500" marL="571500">
              <a:spcAft>
                <a:spcPts val="1200"/>
              </a:spcAft>
              <a:buFont typeface="+mj-lt"/>
              <a:buAutoNum type="romanLcPeriod"/>
            </a:pPr>
            <a:r>
              <a:rPr dirty="0" lang="en-US" smtClean="0"/>
              <a:t>Rotationally unstable: </a:t>
            </a:r>
            <a:r>
              <a:rPr dirty="0" sz="2800" lang="en-US" smtClean="0"/>
              <a:t>from lateral or AP compression. e.g. open book type (separation at the </a:t>
            </a:r>
            <a:r>
              <a:rPr dirty="0" sz="2800" lang="en-US" err="1" smtClean="0"/>
              <a:t>symphysis</a:t>
            </a:r>
            <a:r>
              <a:rPr dirty="0" sz="2800" lang="en-US" smtClean="0"/>
              <a:t> pubis) </a:t>
            </a:r>
            <a:endParaRPr dirty="0" lang="en-US" smtClean="0"/>
          </a:p>
          <a:p>
            <a:pPr indent="-571500" marL="571500">
              <a:spcAft>
                <a:spcPts val="1200"/>
              </a:spcAft>
              <a:buFont typeface="+mj-lt"/>
              <a:buAutoNum type="romanLcPeriod"/>
            </a:pPr>
            <a:r>
              <a:rPr dirty="0" lang="en-US" smtClean="0"/>
              <a:t>Vertically </a:t>
            </a:r>
            <a:r>
              <a:rPr dirty="0" lang="en-US"/>
              <a:t>unstable </a:t>
            </a:r>
            <a:r>
              <a:rPr dirty="0" lang="en-US" smtClean="0"/>
              <a:t>e.g. </a:t>
            </a:r>
            <a:r>
              <a:rPr dirty="0" lang="en-US"/>
              <a:t>vertical shear type </a:t>
            </a:r>
            <a:r>
              <a:rPr dirty="0" lang="en-US" smtClean="0"/>
              <a:t>(superior-inferior </a:t>
            </a:r>
            <a:r>
              <a:rPr dirty="0" lang="en-US"/>
              <a:t>displacement of the </a:t>
            </a:r>
            <a:r>
              <a:rPr dirty="0" lang="en-US" smtClean="0"/>
              <a:t>pelvic sides).</a:t>
            </a:r>
            <a:endParaRPr dirty="0" lang="en-US"/>
          </a:p>
          <a:p>
            <a:pPr indent="-571500" marL="571500">
              <a:spcAft>
                <a:spcPts val="1200"/>
              </a:spcAft>
              <a:buAutoNum type="romanLcPeriod" startAt="2"/>
            </a:pPr>
            <a:r>
              <a:rPr dirty="0" lang="en-US"/>
              <a:t>A combination of both.</a:t>
            </a:r>
          </a:p>
          <a:p>
            <a:pPr indent="-571500" marL="571500">
              <a:buNone/>
            </a:pPr>
            <a:r>
              <a:rPr dirty="0" lang="en-US"/>
              <a:t>Treatment: </a:t>
            </a:r>
            <a:r>
              <a:rPr dirty="0" lang="en-US" smtClean="0"/>
              <a:t>External </a:t>
            </a:r>
            <a:r>
              <a:rPr dirty="0" lang="en-US"/>
              <a:t>fixation or </a:t>
            </a:r>
            <a:r>
              <a:rPr dirty="0" lang="en-US" smtClean="0"/>
              <a:t>ORIF</a:t>
            </a:r>
            <a:endParaRPr dirty="0" lang="en-US"/>
          </a:p>
          <a:p>
            <a:pPr indent="-571500" marL="571500">
              <a:buFont typeface="+mj-lt"/>
              <a:buAutoNum type="romanLcPeriod"/>
            </a:pPr>
            <a:endParaRPr dirty="0" lang="en-US"/>
          </a:p>
        </p:txBody>
      </p:sp>
      <p:sp>
        <p:nvSpPr>
          <p:cNvPr id="1048941"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Tree>
  </p:cSld>
  <p:clrMapOvr>
    <a:masterClrMapping/>
  </p:clrMapOvr>
  <p:timing/>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405" name=""/>
        <p:cNvGrpSpPr/>
        <p:nvPr/>
      </p:nvGrpSpPr>
      <p:grpSpPr>
        <a:xfrm>
          <a:off x="0" y="0"/>
          <a:ext cx="0" cy="0"/>
          <a:chOff x="0" y="0"/>
          <a:chExt cx="0" cy="0"/>
        </a:xfrm>
      </p:grpSpPr>
      <p:sp>
        <p:nvSpPr>
          <p:cNvPr id="1048942" name="Content Placeholder 2"/>
          <p:cNvSpPr>
            <a:spLocks noGrp="1"/>
          </p:cNvSpPr>
          <p:nvPr>
            <p:ph sz="quarter" idx="1"/>
          </p:nvPr>
        </p:nvSpPr>
        <p:spPr>
          <a:xfrm>
            <a:off x="228600" y="685800"/>
            <a:ext cx="8461248" cy="5943600"/>
          </a:xfrm>
        </p:spPr>
        <p:txBody>
          <a:bodyPr>
            <a:normAutofit/>
          </a:bodyPr>
          <a:p>
            <a:pPr indent="-571500" marL="571500">
              <a:buAutoNum type="arabicPeriod" startAt="3"/>
            </a:pPr>
            <a:r>
              <a:rPr b="1" dirty="0" lang="en-US" smtClean="0"/>
              <a:t>Vertical shear pelvic fractures</a:t>
            </a:r>
          </a:p>
          <a:p>
            <a:r>
              <a:rPr dirty="0" lang="en-US" smtClean="0"/>
              <a:t>Involves the anterior &amp; posterior pelvic ring with </a:t>
            </a:r>
            <a:r>
              <a:rPr dirty="0" lang="en-US"/>
              <a:t>vertical displacement, usually through the </a:t>
            </a:r>
            <a:r>
              <a:rPr dirty="0" lang="en-US" err="1"/>
              <a:t>sacro</a:t>
            </a:r>
            <a:r>
              <a:rPr dirty="0" lang="en-US"/>
              <a:t>-iliac </a:t>
            </a:r>
            <a:r>
              <a:rPr dirty="0" lang="en-US" smtClean="0"/>
              <a:t>joint with disruption of ligaments.</a:t>
            </a:r>
          </a:p>
          <a:p>
            <a:r>
              <a:rPr dirty="0" lang="en-US" smtClean="0"/>
              <a:t>Management: External </a:t>
            </a:r>
            <a:r>
              <a:rPr dirty="0" lang="en-US"/>
              <a:t>fixation with or without skeletal traction </a:t>
            </a:r>
            <a:r>
              <a:rPr dirty="0" lang="en-US" smtClean="0"/>
              <a:t>&amp; ORIF.</a:t>
            </a:r>
          </a:p>
          <a:p>
            <a:endParaRPr dirty="0" lang="en-US" smtClean="0"/>
          </a:p>
          <a:p>
            <a:pPr indent="-514350" marL="514350">
              <a:buAutoNum type="arabicPeriod" startAt="4"/>
            </a:pPr>
            <a:r>
              <a:rPr b="1" dirty="0" lang="en-US"/>
              <a:t>Fracture acetabulum</a:t>
            </a:r>
          </a:p>
          <a:p>
            <a:r>
              <a:rPr dirty="0" lang="en-US"/>
              <a:t>Often seen after motor vehicle crashes in which the femur is jammed into the dashboard.</a:t>
            </a:r>
          </a:p>
          <a:p>
            <a:r>
              <a:rPr dirty="0" lang="en-US" smtClean="0"/>
              <a:t>Management: </a:t>
            </a:r>
            <a:r>
              <a:rPr dirty="0" lang="en-US"/>
              <a:t>depends on the pattern of </a:t>
            </a:r>
            <a:r>
              <a:rPr dirty="0" lang="en-US" smtClean="0"/>
              <a:t>fractures; </a:t>
            </a:r>
            <a:r>
              <a:rPr dirty="0" lang="en-US"/>
              <a:t>(traction, open reduction, </a:t>
            </a:r>
            <a:r>
              <a:rPr dirty="0" lang="en-US" err="1"/>
              <a:t>orthoplasty</a:t>
            </a:r>
            <a:r>
              <a:rPr dirty="0" lang="en-US" smtClean="0"/>
              <a:t>). </a:t>
            </a:r>
            <a:endParaRPr dirty="0" lang="en-US"/>
          </a:p>
          <a:p>
            <a:endParaRPr dirty="0" lang="en-US"/>
          </a:p>
        </p:txBody>
      </p:sp>
      <p:sp>
        <p:nvSpPr>
          <p:cNvPr id="1048943"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Tree>
  </p:cSld>
  <p:clrMapOvr>
    <a:masterClrMapping/>
  </p:clrMapOvr>
  <p:timing/>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406" name=""/>
        <p:cNvGrpSpPr/>
        <p:nvPr/>
      </p:nvGrpSpPr>
      <p:grpSpPr>
        <a:xfrm>
          <a:off x="0" y="0"/>
          <a:ext cx="0" cy="0"/>
          <a:chOff x="0" y="0"/>
          <a:chExt cx="0" cy="0"/>
        </a:xfrm>
      </p:grpSpPr>
      <p:sp>
        <p:nvSpPr>
          <p:cNvPr id="1048944" name="Content Placeholder 2"/>
          <p:cNvSpPr>
            <a:spLocks noGrp="1"/>
          </p:cNvSpPr>
          <p:nvPr>
            <p:ph sz="quarter" idx="1"/>
          </p:nvPr>
        </p:nvSpPr>
        <p:spPr>
          <a:xfrm>
            <a:off x="304800" y="533400"/>
            <a:ext cx="8461248" cy="5562600"/>
          </a:xfrm>
        </p:spPr>
        <p:txBody>
          <a:bodyPr>
            <a:normAutofit/>
          </a:bodyPr>
          <a:p>
            <a:pPr>
              <a:buNone/>
            </a:pPr>
            <a:r>
              <a:rPr b="1" dirty="0" lang="en-US" smtClean="0"/>
              <a:t>DIAGNOSIS</a:t>
            </a:r>
          </a:p>
          <a:p>
            <a:pPr indent="-514350" marL="514350">
              <a:buFont typeface="+mj-lt"/>
              <a:buAutoNum type="alphaLcParenR"/>
            </a:pPr>
            <a:r>
              <a:rPr dirty="0" lang="en-US" smtClean="0"/>
              <a:t>Clinical manifestations</a:t>
            </a:r>
          </a:p>
          <a:p>
            <a:pPr indent="-514350" marL="514350">
              <a:buAutoNum type="alphaLcParenR" startAt="2"/>
            </a:pPr>
            <a:r>
              <a:rPr dirty="0" lang="en-US" smtClean="0"/>
              <a:t>X-ray</a:t>
            </a:r>
          </a:p>
          <a:p>
            <a:pPr indent="-514350" marL="514350">
              <a:buAutoNum type="alphaLcParenR" startAt="2"/>
            </a:pPr>
            <a:r>
              <a:rPr dirty="0" lang="en-US" smtClean="0"/>
              <a:t>CT-scan: sacroiliac joint disruption, soft tissue          trauma, hematoma, &amp; fractures.</a:t>
            </a:r>
          </a:p>
          <a:p>
            <a:pPr indent="-514350" marL="514350">
              <a:buNone/>
            </a:pPr>
            <a:endParaRPr b="1" dirty="0" lang="en-US" smtClean="0"/>
          </a:p>
          <a:p>
            <a:pPr indent="-514350" marL="514350">
              <a:buNone/>
            </a:pPr>
            <a:endParaRPr b="1" dirty="0" lang="en-US"/>
          </a:p>
        </p:txBody>
      </p:sp>
      <p:sp>
        <p:nvSpPr>
          <p:cNvPr id="1048945"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Tree>
  </p:cSld>
  <p:clrMapOvr>
    <a:masterClrMapping/>
  </p:clrMapOvr>
  <p:timing/>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407" name=""/>
        <p:cNvGrpSpPr/>
        <p:nvPr/>
      </p:nvGrpSpPr>
      <p:grpSpPr>
        <a:xfrm>
          <a:off x="0" y="0"/>
          <a:ext cx="0" cy="0"/>
          <a:chOff x="0" y="0"/>
          <a:chExt cx="0" cy="0"/>
        </a:xfrm>
      </p:grpSpPr>
      <p:sp>
        <p:nvSpPr>
          <p:cNvPr id="1048946" name="Title 1"/>
          <p:cNvSpPr>
            <a:spLocks noGrp="1"/>
          </p:cNvSpPr>
          <p:nvPr>
            <p:ph type="title"/>
          </p:nvPr>
        </p:nvSpPr>
        <p:spPr>
          <a:xfrm>
            <a:off x="0" y="0"/>
            <a:ext cx="2286000" cy="381000"/>
          </a:xfrm>
          <a:solidFill>
            <a:schemeClr val="bg2"/>
          </a:solidFill>
        </p:spPr>
        <p:txBody>
          <a:bodyPr>
            <a:normAutofit/>
          </a:bodyPr>
          <a:p>
            <a:r>
              <a:rPr b="1" dirty="0" sz="1800" lang="en-US" smtClean="0"/>
              <a:t>FRACTURE PELVIS</a:t>
            </a:r>
            <a:endParaRPr b="1" dirty="0" sz="1800" lang="en-US"/>
          </a:p>
        </p:txBody>
      </p:sp>
      <p:sp>
        <p:nvSpPr>
          <p:cNvPr id="1048947" name="Content Placeholder 2"/>
          <p:cNvSpPr>
            <a:spLocks noGrp="1"/>
          </p:cNvSpPr>
          <p:nvPr>
            <p:ph sz="quarter" idx="1"/>
          </p:nvPr>
        </p:nvSpPr>
        <p:spPr>
          <a:xfrm>
            <a:off x="152400" y="381000"/>
            <a:ext cx="8613648" cy="5715000"/>
          </a:xfrm>
        </p:spPr>
        <p:txBody>
          <a:bodyPr>
            <a:normAutofit/>
          </a:bodyPr>
          <a:p>
            <a:pPr indent="-514350" marL="514350">
              <a:buNone/>
            </a:pPr>
            <a:r>
              <a:rPr b="1" dirty="0" lang="en-US"/>
              <a:t>MANAGEMENT</a:t>
            </a:r>
          </a:p>
          <a:p>
            <a:pPr indent="-514350" marL="514350">
              <a:spcAft>
                <a:spcPts val="1200"/>
              </a:spcAft>
              <a:buFont typeface="+mj-lt"/>
              <a:buAutoNum type="arabicPeriod"/>
            </a:pPr>
            <a:r>
              <a:rPr dirty="0" lang="en-US"/>
              <a:t>Check for possible hemorrhage from torn iliac artery </a:t>
            </a:r>
            <a:r>
              <a:rPr dirty="0" lang="en-US" smtClean="0"/>
              <a:t>&amp; </a:t>
            </a:r>
            <a:r>
              <a:rPr dirty="0" lang="en-US"/>
              <a:t>shock </a:t>
            </a:r>
            <a:r>
              <a:rPr dirty="0" lang="en-US" err="1"/>
              <a:t>occurance</a:t>
            </a:r>
            <a:r>
              <a:rPr dirty="0" lang="en-US"/>
              <a:t>- palpate </a:t>
            </a:r>
            <a:r>
              <a:rPr dirty="0" lang="en-US" smtClean="0"/>
              <a:t>pulses.</a:t>
            </a:r>
          </a:p>
          <a:p>
            <a:pPr indent="-514350" marL="514350">
              <a:spcAft>
                <a:spcPts val="1200"/>
              </a:spcAft>
              <a:buFont typeface="+mj-lt"/>
              <a:buAutoNum type="arabicPeriod"/>
            </a:pPr>
            <a:r>
              <a:rPr dirty="0" lang="en-US" smtClean="0"/>
              <a:t>Peritoneal lavage may be done to detect intra-abdominal hemorrhage.</a:t>
            </a:r>
          </a:p>
          <a:p>
            <a:pPr indent="-514350" marL="514350">
              <a:spcAft>
                <a:spcPts val="1200"/>
              </a:spcAft>
              <a:buAutoNum type="arabicPeriod" startAt="3"/>
            </a:pPr>
            <a:r>
              <a:rPr dirty="0" lang="en-US" smtClean="0"/>
              <a:t>Assess for injuries to the bladder, rectum, intestines, other abdominal organs, &amp; pelvic vessels &amp; nerves.</a:t>
            </a:r>
          </a:p>
          <a:p>
            <a:pPr indent="-514350" marL="514350">
              <a:spcAft>
                <a:spcPts val="1200"/>
              </a:spcAft>
              <a:buAutoNum type="arabicPeriod" startAt="3"/>
            </a:pPr>
            <a:r>
              <a:rPr dirty="0" lang="en-US" smtClean="0"/>
              <a:t>Assess injury to urinary tract by urinalysis.</a:t>
            </a:r>
          </a:p>
          <a:p>
            <a:pPr indent="-514350" marL="514350">
              <a:buAutoNum type="arabicPeriod" startAt="3"/>
            </a:pPr>
            <a:endParaRPr dirty="0" lang="en-US" smtClean="0"/>
          </a:p>
          <a:p>
            <a:endParaRPr dirty="0" lang="en-US"/>
          </a:p>
        </p:txBody>
      </p:sp>
    </p:spTree>
  </p:cSld>
  <p:clrMapOvr>
    <a:masterClrMapping/>
  </p:clrMapOvr>
  <p:timing/>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408" name=""/>
        <p:cNvGrpSpPr/>
        <p:nvPr/>
      </p:nvGrpSpPr>
      <p:grpSpPr>
        <a:xfrm>
          <a:off x="0" y="0"/>
          <a:ext cx="0" cy="0"/>
          <a:chOff x="0" y="0"/>
          <a:chExt cx="0" cy="0"/>
        </a:xfrm>
      </p:grpSpPr>
      <p:sp>
        <p:nvSpPr>
          <p:cNvPr id="1048948" name="Content Placeholder 2"/>
          <p:cNvSpPr>
            <a:spLocks noGrp="1"/>
          </p:cNvSpPr>
          <p:nvPr>
            <p:ph sz="quarter" idx="1"/>
          </p:nvPr>
        </p:nvSpPr>
        <p:spPr>
          <a:xfrm>
            <a:off x="228600" y="609600"/>
            <a:ext cx="8537448" cy="5486400"/>
          </a:xfrm>
        </p:spPr>
        <p:txBody>
          <a:bodyPr>
            <a:normAutofit/>
          </a:bodyPr>
          <a:p>
            <a:pPr indent="-514350" marL="514350">
              <a:spcAft>
                <a:spcPts val="1200"/>
              </a:spcAft>
              <a:buFont typeface="+mj-lt"/>
              <a:buAutoNum type="arabicPeriod" startAt="5"/>
            </a:pPr>
            <a:r>
              <a:rPr dirty="0" lang="en-US" smtClean="0"/>
              <a:t>Avoid urethral catheter till </a:t>
            </a:r>
            <a:r>
              <a:rPr dirty="0" lang="en-US"/>
              <a:t>status of the urethra is known.</a:t>
            </a:r>
          </a:p>
          <a:p>
            <a:pPr indent="-514350" marL="514350">
              <a:spcAft>
                <a:spcPts val="1200"/>
              </a:spcAft>
              <a:buFont typeface="+mj-lt"/>
              <a:buAutoNum type="arabicPeriod" startAt="5"/>
            </a:pPr>
            <a:r>
              <a:rPr dirty="0" lang="en-US" smtClean="0"/>
              <a:t>Exercises (ROM</a:t>
            </a:r>
            <a:r>
              <a:rPr dirty="0" lang="en-US"/>
              <a:t>, &amp; strengthening), elastic stockings &amp; elevation of the foot of the bed to aid venous return </a:t>
            </a:r>
            <a:r>
              <a:rPr dirty="0" lang="en-US" smtClean="0"/>
              <a:t>and diminish </a:t>
            </a:r>
            <a:r>
              <a:rPr dirty="0" lang="en-US"/>
              <a:t>the effects of bed rest.</a:t>
            </a:r>
          </a:p>
          <a:p>
            <a:pPr indent="-514350" marL="514350">
              <a:spcAft>
                <a:spcPts val="1200"/>
              </a:spcAft>
              <a:buFont typeface="+mj-lt"/>
              <a:buAutoNum type="arabicPeriod" startAt="5"/>
            </a:pPr>
            <a:r>
              <a:rPr dirty="0" lang="en-US" smtClean="0"/>
              <a:t>Pt. may be </a:t>
            </a:r>
            <a:r>
              <a:rPr dirty="0" lang="en-US"/>
              <a:t>mobilized with progressive weight bearing, usually with crutches.</a:t>
            </a:r>
          </a:p>
          <a:p>
            <a:pPr indent="-514350" marL="514350">
              <a:buAutoNum type="arabicPeriod" startAt="5"/>
            </a:pPr>
            <a:endParaRPr dirty="0" lang="en-US"/>
          </a:p>
        </p:txBody>
      </p:sp>
      <p:sp>
        <p:nvSpPr>
          <p:cNvPr id="1048949" name="Title 1"/>
          <p:cNvSpPr txBox="1"/>
          <p:nvPr/>
        </p:nvSpPr>
        <p:spPr>
          <a:xfrm>
            <a:off x="0" y="14514"/>
            <a:ext cx="1978152" cy="457200"/>
          </a:xfrm>
          <a:prstGeom prst="rect"/>
          <a:solidFill>
            <a:schemeClr val="bg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b="1" dirty="0" sz="1800" lang="en-US" smtClean="0"/>
              <a:t>FRACTURE PELVIS</a:t>
            </a:r>
            <a:endParaRPr b="1" dirty="0" sz="1800" lang="en-US"/>
          </a:p>
        </p:txBody>
      </p:sp>
    </p:spTree>
  </p:cSld>
  <p:clrMapOvr>
    <a:masterClrMapping/>
  </p:clrMapOvr>
  <p:timing/>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409" name=""/>
        <p:cNvGrpSpPr/>
        <p:nvPr/>
      </p:nvGrpSpPr>
      <p:grpSpPr>
        <a:xfrm>
          <a:off x="0" y="0"/>
          <a:ext cx="0" cy="0"/>
          <a:chOff x="0" y="0"/>
          <a:chExt cx="0" cy="0"/>
        </a:xfrm>
      </p:grpSpPr>
      <p:sp>
        <p:nvSpPr>
          <p:cNvPr id="1048950" name="Title 1"/>
          <p:cNvSpPr>
            <a:spLocks noGrp="1"/>
          </p:cNvSpPr>
          <p:nvPr>
            <p:ph type="title"/>
          </p:nvPr>
        </p:nvSpPr>
        <p:spPr>
          <a:xfrm>
            <a:off x="0" y="14514"/>
            <a:ext cx="1978152" cy="457200"/>
          </a:xfrm>
          <a:solidFill>
            <a:schemeClr val="bg2"/>
          </a:solidFill>
        </p:spPr>
        <p:txBody>
          <a:bodyPr>
            <a:noAutofit/>
          </a:bodyPr>
          <a:p>
            <a:r>
              <a:rPr b="1" dirty="0" sz="1800" lang="en-US" smtClean="0"/>
              <a:t>FRACTURE PELVIS</a:t>
            </a:r>
            <a:endParaRPr b="1" dirty="0" sz="1800" lang="en-US"/>
          </a:p>
        </p:txBody>
      </p:sp>
      <p:sp>
        <p:nvSpPr>
          <p:cNvPr id="1048951" name="Content Placeholder 2"/>
          <p:cNvSpPr>
            <a:spLocks noGrp="1"/>
          </p:cNvSpPr>
          <p:nvPr>
            <p:ph sz="quarter" idx="1"/>
          </p:nvPr>
        </p:nvSpPr>
        <p:spPr>
          <a:xfrm>
            <a:off x="228600" y="609600"/>
            <a:ext cx="8537448" cy="5486400"/>
          </a:xfrm>
        </p:spPr>
        <p:txBody>
          <a:bodyPr/>
          <a:p>
            <a:pPr>
              <a:buNone/>
            </a:pPr>
            <a:r>
              <a:rPr b="1" dirty="0" lang="en-US" smtClean="0"/>
              <a:t>LONGTERM COMPLICATIONS</a:t>
            </a:r>
          </a:p>
          <a:p>
            <a:pPr indent="-514350" marL="514350">
              <a:buFont typeface="+mj-lt"/>
              <a:buAutoNum type="arabicPeriod"/>
            </a:pPr>
            <a:r>
              <a:rPr dirty="0" lang="en-US" err="1" smtClean="0"/>
              <a:t>Malunion</a:t>
            </a:r>
            <a:endParaRPr dirty="0" lang="en-US" smtClean="0"/>
          </a:p>
          <a:p>
            <a:pPr indent="-514350" marL="514350">
              <a:buFont typeface="+mj-lt"/>
              <a:buAutoNum type="arabicPeriod"/>
            </a:pPr>
            <a:r>
              <a:rPr dirty="0" lang="en-US" smtClean="0"/>
              <a:t>Nonunion</a:t>
            </a:r>
          </a:p>
          <a:p>
            <a:pPr indent="-514350" marL="514350">
              <a:buFont typeface="+mj-lt"/>
              <a:buAutoNum type="arabicPeriod"/>
            </a:pPr>
            <a:r>
              <a:rPr dirty="0" lang="en-US" smtClean="0"/>
              <a:t>Residual gait disturbances</a:t>
            </a:r>
          </a:p>
          <a:p>
            <a:pPr indent="-514350" marL="514350">
              <a:buFont typeface="+mj-lt"/>
              <a:buAutoNum type="arabicPeriod"/>
            </a:pPr>
            <a:r>
              <a:rPr dirty="0" lang="en-US" smtClean="0"/>
              <a:t>Back pain from ligament injury</a:t>
            </a:r>
            <a:endParaRPr dirty="0" lang="en-US"/>
          </a:p>
        </p:txBody>
      </p:sp>
    </p:spTree>
  </p:cSld>
  <p:clrMapOvr>
    <a:masterClrMapping/>
  </p:clrMapOvr>
  <p:timing/>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410" name=""/>
        <p:cNvGrpSpPr/>
        <p:nvPr/>
      </p:nvGrpSpPr>
      <p:grpSpPr>
        <a:xfrm>
          <a:off x="0" y="0"/>
          <a:ext cx="0" cy="0"/>
          <a:chOff x="0" y="0"/>
          <a:chExt cx="0" cy="0"/>
        </a:xfrm>
      </p:grpSpPr>
      <p:sp>
        <p:nvSpPr>
          <p:cNvPr id="1048952" name="Title 1"/>
          <p:cNvSpPr>
            <a:spLocks noGrp="1"/>
          </p:cNvSpPr>
          <p:nvPr>
            <p:ph type="title"/>
          </p:nvPr>
        </p:nvSpPr>
        <p:spPr>
          <a:xfrm>
            <a:off x="228600" y="228600"/>
            <a:ext cx="8537448" cy="990600"/>
          </a:xfrm>
        </p:spPr>
        <p:txBody>
          <a:bodyPr/>
          <a:p>
            <a:r>
              <a:rPr b="1" dirty="0" lang="en-US" smtClean="0"/>
              <a:t>FRACTURE HIP</a:t>
            </a:r>
            <a:endParaRPr b="1" dirty="0" lang="en-US"/>
          </a:p>
        </p:txBody>
      </p:sp>
      <p:sp>
        <p:nvSpPr>
          <p:cNvPr id="1048953" name="Content Placeholder 2"/>
          <p:cNvSpPr>
            <a:spLocks noGrp="1"/>
          </p:cNvSpPr>
          <p:nvPr>
            <p:ph sz="quarter" idx="1"/>
          </p:nvPr>
        </p:nvSpPr>
        <p:spPr>
          <a:xfrm>
            <a:off x="228600" y="1600200"/>
            <a:ext cx="8537448" cy="4495800"/>
          </a:xfrm>
        </p:spPr>
        <p:txBody>
          <a:bodyPr>
            <a:normAutofit/>
          </a:bodyPr>
          <a:p>
            <a:pPr>
              <a:buNone/>
            </a:pPr>
            <a:r>
              <a:rPr b="1" dirty="0" lang="en-US" smtClean="0"/>
              <a:t>RISK FACTORS (</a:t>
            </a:r>
            <a:r>
              <a:rPr b="1" dirty="0" sz="1800" lang="en-US" smtClean="0"/>
              <a:t>COMMOBIDITIES</a:t>
            </a:r>
            <a:r>
              <a:rPr b="1" dirty="0" lang="en-US" smtClean="0"/>
              <a:t>)</a:t>
            </a:r>
          </a:p>
          <a:p>
            <a:pPr indent="-514350" marL="514350">
              <a:spcAft>
                <a:spcPts val="1200"/>
              </a:spcAft>
              <a:buFont typeface="+mj-lt"/>
              <a:buAutoNum type="arabicPeriod"/>
            </a:pPr>
            <a:r>
              <a:rPr dirty="0" lang="en-US" smtClean="0"/>
              <a:t>Osteoporosis especially in elderly women.</a:t>
            </a:r>
          </a:p>
          <a:p>
            <a:pPr indent="-514350" marL="514350">
              <a:spcAft>
                <a:spcPts val="1200"/>
              </a:spcAft>
              <a:buFont typeface="+mj-lt"/>
              <a:buAutoNum type="arabicPeriod"/>
            </a:pPr>
            <a:r>
              <a:rPr dirty="0" lang="en-US" smtClean="0"/>
              <a:t>Weak quadriceps muscles also age related </a:t>
            </a:r>
          </a:p>
          <a:p>
            <a:pPr indent="-514350" marL="514350">
              <a:spcAft>
                <a:spcPts val="1200"/>
              </a:spcAft>
              <a:buFont typeface="+mj-lt"/>
              <a:buAutoNum type="arabicPeriod"/>
            </a:pPr>
            <a:r>
              <a:rPr dirty="0" lang="en-US" smtClean="0"/>
              <a:t>Conditions that produce decreased cerebral arterial perfusion (</a:t>
            </a:r>
            <a:r>
              <a:rPr dirty="0" sz="2400" lang="en-US" smtClean="0"/>
              <a:t>TIA, anemia, emboli, cardiovascular disease, effects of medications</a:t>
            </a:r>
            <a:r>
              <a:rPr dirty="0" lang="en-US" smtClean="0"/>
              <a:t>).</a:t>
            </a:r>
          </a:p>
          <a:p>
            <a:pPr indent="0" marL="0">
              <a:spcAft>
                <a:spcPts val="1200"/>
              </a:spcAft>
              <a:buNone/>
            </a:pPr>
            <a:r>
              <a:rPr dirty="0" lang="en-US" smtClean="0"/>
              <a:t>All attribute to incidence of falls in elderly people.</a:t>
            </a:r>
            <a:endParaRPr dirty="0" lang="en-US"/>
          </a:p>
        </p:txBody>
      </p:sp>
      <p:sp>
        <p:nvSpPr>
          <p:cNvPr id="1048954" name="Title 1"/>
          <p:cNvSpPr txBox="1"/>
          <p:nvPr/>
        </p:nvSpPr>
        <p:spPr>
          <a:xfrm>
            <a:off x="3048" y="14514"/>
            <a:ext cx="1673352" cy="328386"/>
          </a:xfrm>
          <a:prstGeom prst="rect"/>
          <a:solidFill>
            <a:schemeClr val="accent2">
              <a:lumMod val="60000"/>
              <a:lumOff val="4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sz="2000" lang="en-US" smtClean="0"/>
              <a:t>FRACTURE HIP</a:t>
            </a:r>
            <a:endParaRPr dirty="0" sz="2000" lang="en-US"/>
          </a:p>
        </p:txBody>
      </p:sp>
    </p:spTree>
  </p:cSld>
  <p:clrMapOvr>
    <a:masterClrMapping/>
  </p:clrMapOvr>
  <p:timing/>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412" name=""/>
        <p:cNvGrpSpPr/>
        <p:nvPr/>
      </p:nvGrpSpPr>
      <p:grpSpPr>
        <a:xfrm>
          <a:off x="0" y="0"/>
          <a:ext cx="0" cy="0"/>
          <a:chOff x="0" y="0"/>
          <a:chExt cx="0" cy="0"/>
        </a:xfrm>
      </p:grpSpPr>
      <p:sp>
        <p:nvSpPr>
          <p:cNvPr id="1048963" name="Title 1"/>
          <p:cNvSpPr>
            <a:spLocks noGrp="1"/>
          </p:cNvSpPr>
          <p:nvPr>
            <p:ph type="title"/>
          </p:nvPr>
        </p:nvSpPr>
        <p:spPr>
          <a:xfrm>
            <a:off x="0" y="0"/>
            <a:ext cx="1676400" cy="412749"/>
          </a:xfrm>
          <a:solidFill>
            <a:schemeClr val="accent2">
              <a:lumMod val="60000"/>
              <a:lumOff val="40000"/>
            </a:schemeClr>
          </a:solidFill>
        </p:spPr>
        <p:txBody>
          <a:bodyPr>
            <a:noAutofit/>
          </a:bodyPr>
          <a:p>
            <a:r>
              <a:rPr dirty="0" sz="2000" lang="en-US" smtClean="0"/>
              <a:t>FRACTURE HIP</a:t>
            </a:r>
            <a:endParaRPr dirty="0" sz="2000" lang="en-US"/>
          </a:p>
        </p:txBody>
      </p:sp>
      <p:sp>
        <p:nvSpPr>
          <p:cNvPr id="1048964" name="Content Placeholder 2"/>
          <p:cNvSpPr>
            <a:spLocks noGrp="1"/>
          </p:cNvSpPr>
          <p:nvPr>
            <p:ph sz="quarter" idx="2"/>
          </p:nvPr>
        </p:nvSpPr>
        <p:spPr>
          <a:xfrm>
            <a:off x="109236" y="1143000"/>
            <a:ext cx="4538963" cy="2438400"/>
          </a:xfrm>
          <a:solidFill>
            <a:schemeClr val="accent2">
              <a:lumMod val="20000"/>
              <a:lumOff val="80000"/>
            </a:schemeClr>
          </a:solidFill>
        </p:spPr>
        <p:txBody>
          <a:bodyPr>
            <a:normAutofit fontScale="77419" lnSpcReduction="20000"/>
          </a:bodyPr>
          <a:p>
            <a:pPr indent="-514350" marL="514350">
              <a:buFont typeface="+mj-lt"/>
              <a:buAutoNum type="alphaLcParenR"/>
            </a:pPr>
            <a:r>
              <a:rPr b="1" dirty="0" sz="3100" i="1" lang="en-US" err="1" smtClean="0"/>
              <a:t>Intracapsular</a:t>
            </a:r>
            <a:r>
              <a:rPr b="1" dirty="0" sz="3100" i="1" lang="en-US" smtClean="0"/>
              <a:t> fractures:</a:t>
            </a:r>
            <a:r>
              <a:rPr b="1" dirty="0" sz="3100" lang="en-US" smtClean="0"/>
              <a:t> </a:t>
            </a:r>
            <a:r>
              <a:rPr dirty="0" sz="3100" lang="en-US" smtClean="0"/>
              <a:t>head and </a:t>
            </a:r>
            <a:r>
              <a:rPr dirty="0" sz="3100" lang="en-US"/>
              <a:t>n</a:t>
            </a:r>
            <a:r>
              <a:rPr dirty="0" sz="3100" lang="en-US" smtClean="0"/>
              <a:t>eck of the femur</a:t>
            </a:r>
            <a:r>
              <a:rPr dirty="0" sz="3100" lang="en-US"/>
              <a:t>. </a:t>
            </a:r>
            <a:endParaRPr dirty="0" sz="3100" lang="en-US" smtClean="0"/>
          </a:p>
          <a:p>
            <a:pPr indent="0" lvl="1" marL="320040">
              <a:buNone/>
            </a:pPr>
            <a:r>
              <a:rPr dirty="0" sz="3100" lang="en-US" smtClean="0"/>
              <a:t>May </a:t>
            </a:r>
            <a:r>
              <a:rPr dirty="0" sz="3100" lang="en-US"/>
              <a:t>damage the vascular system denying nutrient supply &amp; bone may </a:t>
            </a:r>
            <a:r>
              <a:rPr dirty="0" sz="3100" lang="en-US" smtClean="0"/>
              <a:t>die</a:t>
            </a:r>
          </a:p>
          <a:p>
            <a:pPr indent="0" lvl="1" marL="320040">
              <a:spcAft>
                <a:spcPts val="1800"/>
              </a:spcAft>
              <a:buNone/>
            </a:pPr>
            <a:r>
              <a:rPr dirty="0" sz="3100" lang="en-US" smtClean="0"/>
              <a:t>Nonunion </a:t>
            </a:r>
            <a:r>
              <a:rPr dirty="0" sz="3100" lang="en-US"/>
              <a:t>or aseptic necrosis is </a:t>
            </a:r>
            <a:r>
              <a:rPr dirty="0" sz="3100" lang="en-US" smtClean="0"/>
              <a:t>common</a:t>
            </a:r>
          </a:p>
        </p:txBody>
      </p:sp>
      <p:sp>
        <p:nvSpPr>
          <p:cNvPr id="1048965" name="Content Placeholder 6"/>
          <p:cNvSpPr>
            <a:spLocks noGrp="1"/>
          </p:cNvSpPr>
          <p:nvPr>
            <p:ph sz="quarter" idx="4"/>
          </p:nvPr>
        </p:nvSpPr>
        <p:spPr>
          <a:xfrm>
            <a:off x="4648199" y="1143000"/>
            <a:ext cx="4393334" cy="2667000"/>
          </a:xfrm>
          <a:solidFill>
            <a:schemeClr val="accent1">
              <a:lumMod val="20000"/>
              <a:lumOff val="80000"/>
            </a:schemeClr>
          </a:solidFill>
        </p:spPr>
        <p:txBody>
          <a:bodyPr>
            <a:normAutofit/>
          </a:bodyPr>
          <a:p>
            <a:pPr indent="-514350" marL="514350">
              <a:buFont typeface="+mj-lt"/>
              <a:buAutoNum type="alphaLcParenR" startAt="2"/>
            </a:pPr>
            <a:r>
              <a:rPr b="1" dirty="0" sz="2800" i="1" lang="en-US" err="1"/>
              <a:t>Extracapsular</a:t>
            </a:r>
            <a:r>
              <a:rPr b="1" dirty="0" sz="2800" i="1" lang="en-US"/>
              <a:t> fractures: </a:t>
            </a:r>
            <a:r>
              <a:rPr dirty="0" sz="2400" lang="en-US"/>
              <a:t>trochanteric region &amp; </a:t>
            </a:r>
            <a:r>
              <a:rPr dirty="0" sz="2400" lang="en-US" err="1"/>
              <a:t>subtrochanteric</a:t>
            </a:r>
            <a:r>
              <a:rPr dirty="0" sz="2400" lang="en-US"/>
              <a:t> region.</a:t>
            </a:r>
          </a:p>
          <a:p>
            <a:pPr indent="0" lvl="1" marL="320040">
              <a:buNone/>
            </a:pPr>
            <a:r>
              <a:rPr dirty="0" sz="2400" lang="en-US" smtClean="0"/>
              <a:t>Have </a:t>
            </a:r>
            <a:r>
              <a:rPr dirty="0" sz="2400" lang="en-US"/>
              <a:t>an excellent blood </a:t>
            </a:r>
            <a:r>
              <a:rPr dirty="0" sz="2400" lang="en-US" smtClean="0"/>
              <a:t>supply </a:t>
            </a:r>
            <a:r>
              <a:rPr dirty="0" sz="2400" lang="en-US"/>
              <a:t>&amp; heal readily.</a:t>
            </a:r>
          </a:p>
          <a:p>
            <a:pPr indent="-514350" marL="514350">
              <a:buFont typeface="+mj-lt"/>
              <a:buAutoNum type="alphaLcParenR" startAt="2"/>
            </a:pPr>
            <a:endParaRPr dirty="0" lang="en-US"/>
          </a:p>
          <a:p>
            <a:endParaRPr dirty="0" lang="en-US"/>
          </a:p>
        </p:txBody>
      </p:sp>
      <p:pic>
        <p:nvPicPr>
          <p:cNvPr id="2097195" name="Picture 5"/>
          <p:cNvPicPr>
            <a:picLocks noChangeAspect="1"/>
          </p:cNvPicPr>
          <p:nvPr/>
        </p:nvPicPr>
        <p:blipFill>
          <a:blip xmlns:r="http://schemas.openxmlformats.org/officeDocument/2006/relationships" r:embed="rId1" cstate="print"/>
          <a:stretch>
            <a:fillRect/>
          </a:stretch>
        </p:blipFill>
        <p:spPr>
          <a:xfrm>
            <a:off x="-2199713" y="3215225"/>
            <a:ext cx="8187070" cy="3352800"/>
          </a:xfrm>
          <a:prstGeom prst="rect"/>
        </p:spPr>
      </p:pic>
      <p:sp>
        <p:nvSpPr>
          <p:cNvPr id="1048966" name="Content Placeholder 2"/>
          <p:cNvSpPr txBox="1"/>
          <p:nvPr/>
        </p:nvSpPr>
        <p:spPr>
          <a:xfrm>
            <a:off x="419669" y="304801"/>
            <a:ext cx="7733731" cy="685799"/>
          </a:xfrm>
          <a:prstGeom prst="rect"/>
        </p:spPr>
        <p:txBody>
          <a:bodyPr vert="horz">
            <a:normAutofit fontScale="65517" lnSpcReduction="20000"/>
          </a:bodyPr>
          <a:lstStyle>
            <a:lvl1pPr algn="l" eaLnBrk="1" hangingPunct="1" indent="-320040" latinLnBrk="0" marL="320040" rtl="0">
              <a:spcBef>
                <a:spcPts val="700"/>
              </a:spcBef>
              <a:buClr>
                <a:schemeClr val="accent2"/>
              </a:buClr>
              <a:buSzPct val="60000"/>
              <a:buFont typeface="Wingdings"/>
              <a:buChar char=""/>
              <a:defRPr sz="2900" kern="1200" kumimoji="0">
                <a:solidFill>
                  <a:schemeClr val="tx1"/>
                </a:solidFill>
                <a:latin typeface="+mn-lt"/>
                <a:ea typeface="+mn-ea"/>
                <a:cs typeface="+mn-cs"/>
              </a:defRPr>
            </a:lvl1pPr>
            <a:lvl2pPr algn="l" eaLnBrk="1" hangingPunct="1" indent="-274320" latinLnBrk="0" marL="640080" rtl="0">
              <a:spcBef>
                <a:spcPts val="550"/>
              </a:spcBef>
              <a:buClr>
                <a:schemeClr val="accent1"/>
              </a:buClr>
              <a:buSzPct val="70000"/>
              <a:buFont typeface="Wingdings 2"/>
              <a:buChar char=""/>
              <a:defRPr sz="2600" kern="1200" kumimoji="0">
                <a:solidFill>
                  <a:schemeClr val="tx1"/>
                </a:solidFill>
                <a:latin typeface="+mn-lt"/>
                <a:ea typeface="+mn-ea"/>
                <a:cs typeface="+mn-cs"/>
              </a:defRPr>
            </a:lvl2pPr>
            <a:lvl3pPr algn="l" eaLnBrk="1" hangingPunct="1" indent="-228600" latinLnBrk="0" marL="914400" rtl="0">
              <a:spcBef>
                <a:spcPts val="500"/>
              </a:spcBef>
              <a:buClr>
                <a:schemeClr val="accent2"/>
              </a:buClr>
              <a:buSzPct val="75000"/>
              <a:buFont typeface="Wingdings"/>
              <a:buChar char=""/>
              <a:defRPr sz="2300" kern="1200" kumimoji="0">
                <a:solidFill>
                  <a:schemeClr val="tx1"/>
                </a:solidFill>
                <a:latin typeface="+mn-lt"/>
                <a:ea typeface="+mn-ea"/>
                <a:cs typeface="+mn-cs"/>
              </a:defRPr>
            </a:lvl3pPr>
            <a:lvl4pPr algn="l" eaLnBrk="1" hangingPunct="1" indent="-228600" latinLnBrk="0" marL="1371600" rtl="0">
              <a:spcBef>
                <a:spcPts val="400"/>
              </a:spcBef>
              <a:buClr>
                <a:schemeClr val="accent3"/>
              </a:buClr>
              <a:buSzPct val="75000"/>
              <a:buFont typeface="Wingdings"/>
              <a:buChar char=""/>
              <a:defRPr sz="2000" kern="1200" kumimoji="0">
                <a:solidFill>
                  <a:schemeClr val="tx1"/>
                </a:solidFill>
                <a:latin typeface="+mn-lt"/>
                <a:ea typeface="+mn-ea"/>
                <a:cs typeface="+mn-cs"/>
              </a:defRPr>
            </a:lvl4pPr>
            <a:lvl5pPr algn="l" eaLnBrk="1" hangingPunct="1" indent="-228600" latinLnBrk="0" marL="1828800" rtl="0">
              <a:spcBef>
                <a:spcPts val="400"/>
              </a:spcBef>
              <a:buClr>
                <a:schemeClr val="accent4"/>
              </a:buClr>
              <a:buSzPct val="65000"/>
              <a:buFont typeface="Wingdings"/>
              <a:buChar char=""/>
              <a:defRPr sz="2000" kern="1200" kumimoji="0">
                <a:solidFill>
                  <a:schemeClr val="tx1"/>
                </a:solidFill>
                <a:latin typeface="+mn-lt"/>
                <a:ea typeface="+mn-ea"/>
                <a:cs typeface="+mn-cs"/>
              </a:defRPr>
            </a:lvl5pPr>
            <a:lvl6pPr algn="l" eaLnBrk="1" hangingPunct="1" indent="-228600" latinLnBrk="0" marL="2103120" rtl="0">
              <a:spcBef>
                <a:spcPct val="20000"/>
              </a:spcBef>
              <a:buClr>
                <a:schemeClr val="accent1"/>
              </a:buClr>
              <a:buFont typeface="Wingdings"/>
              <a:buChar char="§"/>
              <a:defRPr baseline="0" sz="1800" kern="1200" kumimoji="0">
                <a:solidFill>
                  <a:schemeClr val="tx1"/>
                </a:solidFill>
                <a:latin typeface="+mn-lt"/>
                <a:ea typeface="+mn-ea"/>
                <a:cs typeface="+mn-cs"/>
              </a:defRPr>
            </a:lvl6pPr>
            <a:lvl7pPr algn="l" eaLnBrk="1" hangingPunct="1" indent="-228600" latinLnBrk="0" marL="2377440" rtl="0">
              <a:spcBef>
                <a:spcPct val="20000"/>
              </a:spcBef>
              <a:buClr>
                <a:schemeClr val="accent2"/>
              </a:buClr>
              <a:buFont typeface="Wingdings"/>
              <a:buChar char="§"/>
              <a:defRPr baseline="0" sz="1800" kern="1200" kumimoji="0">
                <a:solidFill>
                  <a:schemeClr val="tx1"/>
                </a:solidFill>
                <a:latin typeface="+mn-lt"/>
                <a:ea typeface="+mn-ea"/>
                <a:cs typeface="+mn-cs"/>
              </a:defRPr>
            </a:lvl7pPr>
            <a:lvl8pPr algn="l" eaLnBrk="1" hangingPunct="1" indent="-228600" latinLnBrk="0" marL="2651760" rtl="0">
              <a:spcBef>
                <a:spcPct val="20000"/>
              </a:spcBef>
              <a:buClr>
                <a:schemeClr val="accent3"/>
              </a:buClr>
              <a:buFont typeface="Wingdings"/>
              <a:buChar char="§"/>
              <a:defRPr baseline="0" sz="1800" kern="1200" kumimoji="0">
                <a:solidFill>
                  <a:schemeClr val="tx1"/>
                </a:solidFill>
                <a:latin typeface="+mn-lt"/>
                <a:ea typeface="+mn-ea"/>
                <a:cs typeface="+mn-cs"/>
              </a:defRPr>
            </a:lvl8pPr>
            <a:lvl9pPr algn="l" eaLnBrk="1" hangingPunct="1" indent="-228600" latinLnBrk="0" marL="2926080" rtl="0">
              <a:spcBef>
                <a:spcPct val="20000"/>
              </a:spcBef>
              <a:buClr>
                <a:schemeClr val="accent4"/>
              </a:buClr>
              <a:buFont typeface="Wingdings"/>
              <a:buChar char="§"/>
              <a:defRPr baseline="0" sz="1800" kern="1200" kumimoji="0">
                <a:solidFill>
                  <a:schemeClr val="tx1"/>
                </a:solidFill>
                <a:latin typeface="+mn-lt"/>
                <a:ea typeface="+mn-ea"/>
                <a:cs typeface="+mn-cs"/>
              </a:defRPr>
            </a:lvl9pPr>
          </a:lstStyle>
          <a:p>
            <a:pPr indent="-514350" marL="514350">
              <a:buFont typeface="+mj-lt"/>
              <a:buAutoNum type="alphaLcParenR"/>
            </a:pPr>
            <a:endParaRPr b="1" dirty="0" i="1" lang="en-US" smtClean="0"/>
          </a:p>
          <a:p>
            <a:pPr indent="0" marL="0">
              <a:buNone/>
            </a:pPr>
            <a:r>
              <a:rPr b="1" dirty="0" sz="4300" lang="en-US" smtClean="0"/>
              <a:t>There are two (2) types of hip fractures.</a:t>
            </a:r>
          </a:p>
        </p:txBody>
      </p:sp>
    </p:spTree>
  </p:cSld>
  <p:clrMapOvr>
    <a:masterClrMapping/>
  </p:clrMapOvr>
  <p:timing/>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413" name=""/>
        <p:cNvGrpSpPr/>
        <p:nvPr/>
      </p:nvGrpSpPr>
      <p:grpSpPr>
        <a:xfrm>
          <a:off x="0" y="0"/>
          <a:ext cx="0" cy="0"/>
          <a:chOff x="0" y="0"/>
          <a:chExt cx="0" cy="0"/>
        </a:xfrm>
      </p:grpSpPr>
      <p:sp>
        <p:nvSpPr>
          <p:cNvPr id="1048967" name="Content Placeholder 2"/>
          <p:cNvSpPr>
            <a:spLocks noGrp="1"/>
          </p:cNvSpPr>
          <p:nvPr>
            <p:ph sz="quarter" idx="1"/>
          </p:nvPr>
        </p:nvSpPr>
        <p:spPr>
          <a:xfrm>
            <a:off x="304800" y="533400"/>
            <a:ext cx="8610600" cy="5638800"/>
          </a:xfrm>
        </p:spPr>
        <p:txBody>
          <a:bodyPr>
            <a:normAutofit fontScale="96552" lnSpcReduction="20000"/>
          </a:bodyPr>
          <a:p>
            <a:pPr>
              <a:buNone/>
            </a:pPr>
            <a:r>
              <a:rPr b="1" dirty="0" lang="en-US" smtClean="0"/>
              <a:t>CLINICAL MANIFESTATION</a:t>
            </a:r>
          </a:p>
          <a:p>
            <a:pPr indent="-514350" marL="514350">
              <a:spcAft>
                <a:spcPts val="1200"/>
              </a:spcAft>
              <a:buFont typeface="+mj-lt"/>
              <a:buAutoNum type="arabicPeriod"/>
            </a:pPr>
            <a:r>
              <a:rPr b="1" dirty="0" lang="en-US" smtClean="0"/>
              <a:t>With fractures of the femoral neck</a:t>
            </a:r>
            <a:r>
              <a:rPr dirty="0" lang="en-US" smtClean="0"/>
              <a:t>: leg is shortened, adducted, &amp; externally rotated. </a:t>
            </a:r>
            <a:r>
              <a:rPr dirty="0" lang="en-US" err="1" smtClean="0"/>
              <a:t>Pt</a:t>
            </a:r>
            <a:r>
              <a:rPr dirty="0" lang="en-US" smtClean="0"/>
              <a:t> most </a:t>
            </a:r>
            <a:r>
              <a:rPr dirty="0" lang="en-US"/>
              <a:t>comfortable with leg slightly flexed in external rotation.</a:t>
            </a:r>
          </a:p>
          <a:p>
            <a:pPr indent="-514350" marL="514350">
              <a:spcAft>
                <a:spcPts val="1200"/>
              </a:spcAft>
              <a:buAutoNum type="arabicPeriod" startAt="2"/>
            </a:pPr>
            <a:r>
              <a:rPr b="1" dirty="0" lang="en-US"/>
              <a:t>Impacted femoral neck fractures</a:t>
            </a:r>
            <a:r>
              <a:rPr dirty="0" lang="en-US"/>
              <a:t>: moderate discomfort even on </a:t>
            </a:r>
            <a:r>
              <a:rPr dirty="0" lang="en-US" smtClean="0"/>
              <a:t>movement, </a:t>
            </a:r>
            <a:r>
              <a:rPr dirty="0" lang="en-US"/>
              <a:t>may allow </a:t>
            </a:r>
            <a:r>
              <a:rPr dirty="0" lang="en-US" smtClean="0"/>
              <a:t>Pt. </a:t>
            </a:r>
            <a:r>
              <a:rPr dirty="0" lang="en-US"/>
              <a:t>to bear weight, </a:t>
            </a:r>
            <a:r>
              <a:rPr dirty="0" lang="en-US" smtClean="0"/>
              <a:t>no obvious </a:t>
            </a:r>
            <a:r>
              <a:rPr dirty="0" lang="en-US"/>
              <a:t>shortening or rotational changes.</a:t>
            </a:r>
          </a:p>
          <a:p>
            <a:pPr indent="-514350" marL="514350">
              <a:spcAft>
                <a:spcPts val="1200"/>
              </a:spcAft>
              <a:buFont typeface="Wingdings"/>
              <a:buAutoNum type="arabicPeriod" startAt="2"/>
            </a:pPr>
            <a:r>
              <a:rPr b="1" dirty="0" lang="en-US"/>
              <a:t>Extracapsular femoral fractures</a:t>
            </a:r>
            <a:r>
              <a:rPr dirty="0" lang="en-US"/>
              <a:t>: significantly shortened extremity, </a:t>
            </a:r>
            <a:r>
              <a:rPr dirty="0" lang="en-US" smtClean="0"/>
              <a:t>greater external rotation, </a:t>
            </a:r>
            <a:r>
              <a:rPr dirty="0" lang="en-US"/>
              <a:t>muscle spasms, large hematoma or ecchymosis</a:t>
            </a:r>
            <a:r>
              <a:rPr dirty="0" lang="en-US" smtClean="0"/>
              <a:t>.</a:t>
            </a:r>
            <a:endParaRPr dirty="0" lang="en-US"/>
          </a:p>
        </p:txBody>
      </p:sp>
      <p:sp>
        <p:nvSpPr>
          <p:cNvPr id="1048968" name="Title 1"/>
          <p:cNvSpPr txBox="1"/>
          <p:nvPr/>
        </p:nvSpPr>
        <p:spPr>
          <a:xfrm>
            <a:off x="3048" y="14514"/>
            <a:ext cx="1673352" cy="328386"/>
          </a:xfrm>
          <a:prstGeom prst="rect"/>
          <a:solidFill>
            <a:schemeClr val="accent2">
              <a:lumMod val="60000"/>
              <a:lumOff val="4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2000" lang="en-US" smtClean="0"/>
              <a:t>FRACTURE HIP</a:t>
            </a:r>
            <a:endParaRPr dirty="0" sz="2000" lang="en-US"/>
          </a:p>
        </p:txBody>
      </p:sp>
    </p:spTree>
  </p:cSld>
  <p:clrMapOvr>
    <a:masterClrMapping/>
  </p:clrMapOvr>
  <p:timing/>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414" name=""/>
        <p:cNvGrpSpPr/>
        <p:nvPr/>
      </p:nvGrpSpPr>
      <p:grpSpPr>
        <a:xfrm>
          <a:off x="0" y="0"/>
          <a:ext cx="0" cy="0"/>
          <a:chOff x="0" y="0"/>
          <a:chExt cx="0" cy="0"/>
        </a:xfrm>
      </p:grpSpPr>
      <p:sp>
        <p:nvSpPr>
          <p:cNvPr id="1048969" name="Content Placeholder 2"/>
          <p:cNvSpPr>
            <a:spLocks noGrp="1"/>
          </p:cNvSpPr>
          <p:nvPr>
            <p:ph sz="quarter" idx="1"/>
          </p:nvPr>
        </p:nvSpPr>
        <p:spPr>
          <a:xfrm>
            <a:off x="304800" y="609600"/>
            <a:ext cx="8461248" cy="5486400"/>
          </a:xfrm>
        </p:spPr>
        <p:txBody>
          <a:bodyPr/>
          <a:p>
            <a:pPr>
              <a:buNone/>
            </a:pPr>
            <a:r>
              <a:rPr b="1" dirty="0" lang="en-US" smtClean="0"/>
              <a:t>DIAGNOSIS</a:t>
            </a:r>
          </a:p>
          <a:p>
            <a:pPr>
              <a:buNone/>
            </a:pPr>
            <a:r>
              <a:rPr dirty="0" lang="en-US" smtClean="0"/>
              <a:t>X-ray.</a:t>
            </a:r>
          </a:p>
          <a:p>
            <a:pPr>
              <a:buNone/>
            </a:pPr>
            <a:r>
              <a:rPr dirty="0" lang="en-US" smtClean="0"/>
              <a:t>CT scan</a:t>
            </a:r>
          </a:p>
          <a:p>
            <a:pPr>
              <a:buNone/>
            </a:pPr>
            <a:endParaRPr b="1" dirty="0" lang="en-US" smtClean="0"/>
          </a:p>
          <a:p>
            <a:pPr>
              <a:buNone/>
            </a:pPr>
            <a:r>
              <a:rPr b="1" dirty="0" lang="en-US" smtClean="0"/>
              <a:t>MEDICAL MANAGEMENT</a:t>
            </a:r>
          </a:p>
          <a:p>
            <a:pPr indent="-514350" marL="514350">
              <a:buFont typeface="+mj-lt"/>
              <a:buAutoNum type="arabicPeriod"/>
            </a:pPr>
            <a:r>
              <a:rPr dirty="0" lang="en-US" smtClean="0"/>
              <a:t>Temporary skin traction (Buck’s extension)</a:t>
            </a:r>
          </a:p>
          <a:p>
            <a:pPr indent="-514350" marL="514350">
              <a:buFont typeface="+mj-lt"/>
              <a:buAutoNum type="arabicPeriod"/>
            </a:pPr>
            <a:r>
              <a:rPr dirty="0" lang="en-US" smtClean="0"/>
              <a:t>ORIF</a:t>
            </a:r>
          </a:p>
          <a:p>
            <a:pPr indent="-514350" marL="514350">
              <a:buFont typeface="+mj-lt"/>
              <a:buAutoNum type="arabicPeriod"/>
            </a:pPr>
            <a:r>
              <a:rPr dirty="0" lang="en-US"/>
              <a:t>Replacement of the femoral head with a prosthesis (</a:t>
            </a:r>
            <a:r>
              <a:rPr dirty="0" lang="en-US" err="1"/>
              <a:t>hemiarthroplasty</a:t>
            </a:r>
            <a:r>
              <a:rPr dirty="0" lang="en-US" smtClean="0"/>
              <a:t>).</a:t>
            </a:r>
          </a:p>
          <a:p>
            <a:pPr>
              <a:buNone/>
            </a:pPr>
            <a:endParaRPr dirty="0" lang="en-US"/>
          </a:p>
        </p:txBody>
      </p:sp>
      <p:sp>
        <p:nvSpPr>
          <p:cNvPr id="1048970" name="Title 1"/>
          <p:cNvSpPr txBox="1"/>
          <p:nvPr/>
        </p:nvSpPr>
        <p:spPr>
          <a:xfrm>
            <a:off x="3048" y="14514"/>
            <a:ext cx="1673352" cy="328386"/>
          </a:xfrm>
          <a:prstGeom prst="rect"/>
          <a:solidFill>
            <a:schemeClr val="accent2">
              <a:lumMod val="60000"/>
              <a:lumOff val="4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2000" lang="en-US" smtClean="0"/>
              <a:t>FRACTURE HIP</a:t>
            </a:r>
            <a:endParaRPr dirty="0" sz="2000" lang="en-US"/>
          </a:p>
        </p:txBody>
      </p:sp>
    </p:spTree>
  </p:cSld>
  <p:clrMapOvr>
    <a:masterClrMapping/>
  </p:clrMapOvr>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416" name=""/>
        <p:cNvGrpSpPr/>
        <p:nvPr/>
      </p:nvGrpSpPr>
      <p:grpSpPr>
        <a:xfrm>
          <a:off x="0" y="0"/>
          <a:ext cx="0" cy="0"/>
          <a:chOff x="0" y="0"/>
          <a:chExt cx="0" cy="0"/>
        </a:xfrm>
      </p:grpSpPr>
      <p:sp>
        <p:nvSpPr>
          <p:cNvPr id="1048973" name="Title 1"/>
          <p:cNvSpPr>
            <a:spLocks noGrp="1"/>
          </p:cNvSpPr>
          <p:nvPr>
            <p:ph type="title"/>
          </p:nvPr>
        </p:nvSpPr>
        <p:spPr>
          <a:xfrm>
            <a:off x="612648" y="228600"/>
            <a:ext cx="8153400" cy="533400"/>
          </a:xfrm>
        </p:spPr>
        <p:txBody>
          <a:bodyPr>
            <a:noAutofit/>
          </a:bodyPr>
          <a:p>
            <a:r>
              <a:rPr b="1" dirty="0" sz="2000" lang="en-US" smtClean="0"/>
              <a:t>HIP REPLACEMENT/ </a:t>
            </a:r>
            <a:r>
              <a:rPr b="1" dirty="0" sz="2000" lang="en-US"/>
              <a:t>FEMORAL-HEAD </a:t>
            </a:r>
            <a:r>
              <a:rPr b="1" dirty="0" sz="2000" lang="en-US" smtClean="0"/>
              <a:t>PROSTHESIS</a:t>
            </a:r>
            <a:endParaRPr b="1" dirty="0" sz="2000" lang="en-US"/>
          </a:p>
        </p:txBody>
      </p:sp>
      <p:pic>
        <p:nvPicPr>
          <p:cNvPr id="2097196" name="Content Placeholder 3"/>
          <p:cNvPicPr>
            <a:picLocks noChangeAspect="1" noGrp="1"/>
          </p:cNvPicPr>
          <p:nvPr>
            <p:ph sz="quarter" idx="1"/>
          </p:nvPr>
        </p:nvPicPr>
        <p:blipFill>
          <a:blip xmlns:r="http://schemas.openxmlformats.org/officeDocument/2006/relationships" r:embed="rId1" cstate="print"/>
          <a:stretch>
            <a:fillRect/>
          </a:stretch>
        </p:blipFill>
        <p:spPr>
          <a:xfrm>
            <a:off x="130277" y="762000"/>
            <a:ext cx="8831138" cy="4994148"/>
          </a:xfr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417" name=""/>
        <p:cNvGrpSpPr/>
        <p:nvPr/>
      </p:nvGrpSpPr>
      <p:grpSpPr>
        <a:xfrm>
          <a:off x="0" y="0"/>
          <a:ext cx="0" cy="0"/>
          <a:chOff x="0" y="0"/>
          <a:chExt cx="0" cy="0"/>
        </a:xfrm>
      </p:grpSpPr>
      <p:sp>
        <p:nvSpPr>
          <p:cNvPr id="1048974" name="Content Placeholder 2"/>
          <p:cNvSpPr>
            <a:spLocks noGrp="1"/>
          </p:cNvSpPr>
          <p:nvPr>
            <p:ph sz="quarter" idx="1"/>
          </p:nvPr>
        </p:nvSpPr>
        <p:spPr>
          <a:xfrm>
            <a:off x="152400" y="457200"/>
            <a:ext cx="8613648" cy="5638800"/>
          </a:xfrm>
        </p:spPr>
        <p:txBody>
          <a:bodyPr>
            <a:normAutofit/>
          </a:bodyPr>
          <a:p>
            <a:pPr indent="-514350" marL="514350">
              <a:buNone/>
            </a:pPr>
            <a:r>
              <a:rPr b="1" dirty="0" lang="en-US" smtClean="0"/>
              <a:t>POST-OP NURSING CARE</a:t>
            </a:r>
          </a:p>
          <a:p>
            <a:pPr indent="-514350" marL="514350">
              <a:buNone/>
            </a:pPr>
            <a:endParaRPr b="1" dirty="0" lang="en-US" smtClean="0"/>
          </a:p>
          <a:p>
            <a:pPr indent="-514350" marL="514350">
              <a:buFont typeface="+mj-lt"/>
              <a:buAutoNum type="arabicPeriod"/>
            </a:pPr>
            <a:r>
              <a:rPr dirty="0" lang="en-US" smtClean="0"/>
              <a:t>Like all pts undergoing orthopedic surgery.</a:t>
            </a:r>
          </a:p>
          <a:p>
            <a:pPr indent="-514350" marL="514350">
              <a:buFont typeface="+mj-lt"/>
              <a:buAutoNum type="arabicPeriod"/>
            </a:pPr>
            <a:r>
              <a:rPr dirty="0" lang="en-US" smtClean="0"/>
              <a:t>1</a:t>
            </a:r>
            <a:r>
              <a:rPr baseline="30000" dirty="0" lang="en-US" smtClean="0"/>
              <a:t>st</a:t>
            </a:r>
            <a:r>
              <a:rPr dirty="0" lang="en-US" smtClean="0"/>
              <a:t> 24-48 hrs, relieving pain &amp; preventing complications are priorities.</a:t>
            </a:r>
          </a:p>
          <a:p>
            <a:pPr indent="-514350" marL="514350">
              <a:buFont typeface="+mj-lt"/>
              <a:buAutoNum type="arabicPeriod"/>
            </a:pPr>
            <a:r>
              <a:rPr dirty="0" lang="en-US" smtClean="0"/>
              <a:t>Deep breathing, coughing (incentive </a:t>
            </a:r>
            <a:r>
              <a:rPr dirty="0" lang="en-US" err="1" smtClean="0"/>
              <a:t>spirometry</a:t>
            </a:r>
            <a:r>
              <a:rPr dirty="0" lang="en-US" smtClean="0"/>
              <a:t>) &amp; foot flexion exercises every 1-2 hrs.</a:t>
            </a:r>
          </a:p>
          <a:p>
            <a:pPr indent="-514350" marL="514350">
              <a:buFont typeface="+mj-lt"/>
              <a:buAutoNum type="arabicPeriod"/>
            </a:pPr>
            <a:r>
              <a:rPr dirty="0" lang="en-US"/>
              <a:t>Prophylactic antibiotics, </a:t>
            </a:r>
            <a:r>
              <a:rPr dirty="0" lang="en-US" smtClean="0"/>
              <a:t>analgesics, anticoagulants</a:t>
            </a:r>
          </a:p>
          <a:p>
            <a:pPr indent="-514350" marL="514350">
              <a:buFont typeface="+mj-lt"/>
              <a:buAutoNum type="arabicPeriod"/>
            </a:pPr>
            <a:endParaRPr dirty="0" lang="en-US"/>
          </a:p>
        </p:txBody>
      </p:sp>
      <p:sp>
        <p:nvSpPr>
          <p:cNvPr id="1048975" name="Title 1"/>
          <p:cNvSpPr txBox="1"/>
          <p:nvPr/>
        </p:nvSpPr>
        <p:spPr>
          <a:xfrm>
            <a:off x="3048" y="14514"/>
            <a:ext cx="1673352" cy="328386"/>
          </a:xfrm>
          <a:prstGeom prst="rect"/>
          <a:solidFill>
            <a:schemeClr val="accent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sz="2000" lang="en-US" smtClean="0"/>
              <a:t>FRACTURE HIP</a:t>
            </a:r>
            <a:endParaRPr dirty="0" sz="2000" lang="en-US"/>
          </a:p>
        </p:txBody>
      </p:sp>
    </p:spTree>
  </p:cSld>
  <p:clrMapOvr>
    <a:masterClrMapping/>
  </p:clrMapOvr>
  <p:timing/>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418" name=""/>
        <p:cNvGrpSpPr/>
        <p:nvPr/>
      </p:nvGrpSpPr>
      <p:grpSpPr>
        <a:xfrm>
          <a:off x="0" y="0"/>
          <a:ext cx="0" cy="0"/>
          <a:chOff x="0" y="0"/>
          <a:chExt cx="0" cy="0"/>
        </a:xfrm>
      </p:grpSpPr>
      <p:sp>
        <p:nvSpPr>
          <p:cNvPr id="1048976" name="Content Placeholder 2"/>
          <p:cNvSpPr>
            <a:spLocks noGrp="1"/>
          </p:cNvSpPr>
          <p:nvPr>
            <p:ph sz="quarter" idx="1"/>
          </p:nvPr>
        </p:nvSpPr>
        <p:spPr>
          <a:xfrm>
            <a:off x="228600" y="762000"/>
            <a:ext cx="8686800" cy="5334000"/>
          </a:xfrm>
        </p:spPr>
        <p:txBody>
          <a:bodyPr>
            <a:normAutofit/>
          </a:bodyPr>
          <a:p>
            <a:pPr indent="-514350" marL="514350">
              <a:buFont typeface="+mj-lt"/>
              <a:buAutoNum type="arabicPeriod" startAt="5"/>
            </a:pPr>
            <a:endParaRPr dirty="0" lang="en-US" smtClean="0"/>
          </a:p>
          <a:p>
            <a:pPr indent="-514350" marL="514350">
              <a:spcAft>
                <a:spcPts val="1200"/>
              </a:spcAft>
              <a:buFont typeface="+mj-lt"/>
              <a:buAutoNum type="arabicPeriod" startAt="5"/>
            </a:pPr>
            <a:r>
              <a:rPr dirty="0" lang="en-US" smtClean="0"/>
              <a:t>Home modification </a:t>
            </a:r>
            <a:r>
              <a:rPr dirty="0" lang="en-US" err="1" smtClean="0"/>
              <a:t>e.g</a:t>
            </a:r>
            <a:r>
              <a:rPr dirty="0" lang="en-US" smtClean="0"/>
              <a:t> </a:t>
            </a:r>
            <a:r>
              <a:rPr dirty="0" lang="en-US"/>
              <a:t>putting a toilet raiser on the </a:t>
            </a:r>
            <a:r>
              <a:rPr dirty="0" lang="en-US" smtClean="0"/>
              <a:t>toilet </a:t>
            </a:r>
            <a:r>
              <a:rPr dirty="0" lang="en-US"/>
              <a:t>sit, use walker, sleep </a:t>
            </a:r>
            <a:r>
              <a:rPr dirty="0" lang="en-US" smtClean="0"/>
              <a:t>down-stairs.</a:t>
            </a:r>
            <a:endParaRPr dirty="0" lang="en-US"/>
          </a:p>
          <a:p>
            <a:pPr indent="-514350" marL="514350">
              <a:spcAft>
                <a:spcPts val="1200"/>
              </a:spcAft>
              <a:buFont typeface="+mj-lt"/>
              <a:buAutoNum type="arabicPeriod" startAt="5"/>
            </a:pPr>
            <a:r>
              <a:rPr dirty="0" lang="en-US" smtClean="0"/>
              <a:t>Thigh high elastic compression stockings.</a:t>
            </a:r>
          </a:p>
          <a:p>
            <a:pPr indent="-514350" marL="514350">
              <a:spcAft>
                <a:spcPts val="1200"/>
              </a:spcAft>
              <a:buFont typeface="+mj-lt"/>
              <a:buAutoNum type="arabicPeriod" startAt="5"/>
            </a:pPr>
            <a:r>
              <a:rPr dirty="0" lang="en-US" smtClean="0"/>
              <a:t>A pillow between legs to maintain abduction &amp; alignment even when turning.</a:t>
            </a:r>
          </a:p>
          <a:p>
            <a:pPr indent="-514350" marL="514350">
              <a:spcAft>
                <a:spcPts val="1200"/>
              </a:spcAft>
              <a:buFont typeface="+mj-lt"/>
              <a:buAutoNum type="arabicPeriod" startAt="5"/>
            </a:pPr>
            <a:r>
              <a:rPr dirty="0" lang="en-US" smtClean="0"/>
              <a:t>Progressive assisted walking as indicated by therapist.</a:t>
            </a:r>
            <a:endParaRPr dirty="0" lang="en-US"/>
          </a:p>
        </p:txBody>
      </p:sp>
      <p:sp>
        <p:nvSpPr>
          <p:cNvPr id="1048977" name="Title 1"/>
          <p:cNvSpPr txBox="1"/>
          <p:nvPr/>
        </p:nvSpPr>
        <p:spPr>
          <a:xfrm>
            <a:off x="3048" y="14514"/>
            <a:ext cx="1673352" cy="328386"/>
          </a:xfrm>
          <a:prstGeom prst="rect"/>
          <a:solidFill>
            <a:schemeClr val="accent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2000" lang="en-US" smtClean="0"/>
              <a:t>FRACTURE HIP</a:t>
            </a:r>
            <a:endParaRPr dirty="0" sz="2000" lang="en-US"/>
          </a:p>
        </p:txBody>
      </p:sp>
    </p:spTree>
  </p:cSld>
  <p:clrMapOvr>
    <a:masterClrMapping/>
  </p:clrMapOvr>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216" name=""/>
        <p:cNvGrpSpPr/>
        <p:nvPr/>
      </p:nvGrpSpPr>
      <p:grpSpPr>
        <a:xfrm>
          <a:off x="0" y="0"/>
          <a:ext cx="0" cy="0"/>
          <a:chOff x="0" y="0"/>
          <a:chExt cx="0" cy="0"/>
        </a:xfrm>
      </p:grpSpPr>
      <p:sp>
        <p:nvSpPr>
          <p:cNvPr id="1048607" name="Title 3"/>
          <p:cNvSpPr>
            <a:spLocks noGrp="1"/>
          </p:cNvSpPr>
          <p:nvPr>
            <p:ph type="title"/>
          </p:nvPr>
        </p:nvSpPr>
        <p:spPr>
          <a:xfrm>
            <a:off x="609600" y="228600"/>
            <a:ext cx="8153400" cy="1524000"/>
          </a:xfrm>
        </p:spPr>
        <p:txBody>
          <a:bodyPr>
            <a:normAutofit/>
          </a:bodyPr>
          <a:p>
            <a:pPr algn="ctr"/>
            <a:r>
              <a:rPr dirty="0" sz="3200" lang="en-US" smtClean="0"/>
              <a:t>SELF-CARE</a:t>
            </a:r>
            <a:br>
              <a:rPr dirty="0" sz="3200" lang="en-US" smtClean="0"/>
            </a:br>
            <a:r>
              <a:rPr dirty="0" sz="3200" lang="en-US" smtClean="0"/>
              <a:t>AFTER FEMORAL-HEAD PROSTHESIS</a:t>
            </a:r>
            <a:br>
              <a:rPr dirty="0" sz="3200" lang="en-US" smtClean="0"/>
            </a:br>
            <a:endParaRPr dirty="0" sz="3200" lang="en-US"/>
          </a:p>
        </p:txBody>
      </p:sp>
      <p:pic>
        <p:nvPicPr>
          <p:cNvPr id="2097153" name="Content Placeholder 6"/>
          <p:cNvPicPr>
            <a:picLocks noChangeAspect="1" noGrp="1"/>
          </p:cNvPicPr>
          <p:nvPr>
            <p:ph sz="quarter" idx="1"/>
          </p:nvPr>
        </p:nvPicPr>
        <p:blipFill rotWithShape="1">
          <a:blip xmlns:r="http://schemas.openxmlformats.org/officeDocument/2006/relationships" r:embed="rId1"/>
          <a:srcRect l="1844" t="14861" r="1645"/>
          <a:stretch>
            <a:fillRect/>
          </a:stretch>
        </p:blipFill>
        <p:spPr>
          <a:xfrm>
            <a:off x="228601" y="1995028"/>
            <a:ext cx="4191000" cy="3423110"/>
          </a:xfrm>
          <a:prstGeom prst="rect"/>
        </p:spPr>
      </p:pic>
      <p:pic>
        <p:nvPicPr>
          <p:cNvPr id="2097154" name="Content Placeholder 7"/>
          <p:cNvPicPr>
            <a:picLocks noChangeAspect="1" noGrp="1"/>
          </p:cNvPicPr>
          <p:nvPr>
            <p:ph sz="quarter" idx="2"/>
          </p:nvPr>
        </p:nvPicPr>
        <p:blipFill>
          <a:blip xmlns:r="http://schemas.openxmlformats.org/officeDocument/2006/relationships" r:embed="rId2"/>
          <a:stretch>
            <a:fillRect/>
          </a:stretch>
        </p:blipFill>
        <p:spPr>
          <a:xfrm>
            <a:off x="4724400" y="1975133"/>
            <a:ext cx="4267200" cy="3575420"/>
          </a:xfrm>
          <a:prstGeom prst="rect"/>
          <a:solidFill>
            <a:schemeClr val="bg2">
              <a:lumMod val="90000"/>
            </a:schemeClr>
          </a:solidFill>
        </p:spPr>
      </p:pic>
      <p:sp>
        <p:nvSpPr>
          <p:cNvPr id="1048608" name="Title 1"/>
          <p:cNvSpPr txBox="1"/>
          <p:nvPr/>
        </p:nvSpPr>
        <p:spPr>
          <a:xfrm>
            <a:off x="3048" y="14514"/>
            <a:ext cx="1673352" cy="328386"/>
          </a:xfrm>
          <a:prstGeom prst="rect"/>
          <a:solidFill>
            <a:schemeClr val="accent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2000" lang="en-US" smtClean="0"/>
              <a:t>FRACTURE HIP</a:t>
            </a:r>
            <a:endParaRPr dirty="0" sz="2000"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213" name=""/>
        <p:cNvGrpSpPr/>
        <p:nvPr/>
      </p:nvGrpSpPr>
      <p:grpSpPr>
        <a:xfrm>
          <a:off x="0" y="0"/>
          <a:ext cx="0" cy="0"/>
          <a:chOff x="0" y="0"/>
          <a:chExt cx="0" cy="0"/>
        </a:xfrm>
      </p:grpSpPr>
      <p:sp>
        <p:nvSpPr>
          <p:cNvPr id="1048597" name="Content Placeholder 2"/>
          <p:cNvSpPr>
            <a:spLocks noGrp="1"/>
          </p:cNvSpPr>
          <p:nvPr>
            <p:ph sz="quarter" idx="1"/>
          </p:nvPr>
        </p:nvSpPr>
        <p:spPr>
          <a:xfrm>
            <a:off x="381000" y="609600"/>
            <a:ext cx="8385048" cy="5486400"/>
          </a:xfrm>
        </p:spPr>
        <p:txBody>
          <a:bodyPr>
            <a:normAutofit fontScale="96154" lnSpcReduction="20000"/>
          </a:bodyPr>
          <a:p>
            <a:pPr indent="-514350" marL="514350">
              <a:buNone/>
            </a:pPr>
            <a:r>
              <a:rPr b="1" dirty="0" lang="en-US" smtClean="0"/>
              <a:t>COMPLICATIONS</a:t>
            </a:r>
          </a:p>
          <a:p>
            <a:pPr indent="-514350" marL="514350">
              <a:buFont typeface="+mj-lt"/>
              <a:buAutoNum type="arabicPeriod"/>
            </a:pPr>
            <a:r>
              <a:rPr dirty="0" lang="en-US" smtClean="0"/>
              <a:t>Neurovascular complications</a:t>
            </a:r>
          </a:p>
          <a:p>
            <a:pPr indent="-514350" lvl="1" marL="834390">
              <a:buFont typeface="+mj-lt"/>
              <a:buAutoNum type="alphaLcParenR"/>
            </a:pPr>
            <a:r>
              <a:rPr dirty="0" lang="en-US" smtClean="0"/>
              <a:t>Direct injury to nerves &amp; blood vessels or tissues (pressure).</a:t>
            </a:r>
          </a:p>
          <a:p>
            <a:pPr indent="-514350" lvl="1" marL="834390">
              <a:buFont typeface="+mj-lt"/>
              <a:buAutoNum type="alphaLcParenR"/>
            </a:pPr>
            <a:r>
              <a:rPr dirty="0" lang="en-US" smtClean="0"/>
              <a:t>DVT</a:t>
            </a:r>
          </a:p>
          <a:p>
            <a:pPr indent="-514350" marL="514350">
              <a:buAutoNum type="arabicPeriod" startAt="2"/>
            </a:pPr>
            <a:r>
              <a:rPr dirty="0" lang="en-US"/>
              <a:t>Pulmonary complications: pneumonia</a:t>
            </a:r>
          </a:p>
          <a:p>
            <a:pPr indent="-514350" marL="514350">
              <a:buAutoNum type="arabicPeriod" startAt="2"/>
            </a:pPr>
            <a:r>
              <a:rPr dirty="0" lang="en-US"/>
              <a:t>Skin breakdown: blisters </a:t>
            </a:r>
            <a:r>
              <a:rPr dirty="0" lang="en-US" smtClean="0"/>
              <a:t>from </a:t>
            </a:r>
            <a:r>
              <a:rPr dirty="0" lang="en-US"/>
              <a:t>tape, pressure ulcer.</a:t>
            </a:r>
          </a:p>
          <a:p>
            <a:pPr indent="-514350" marL="514350">
              <a:buAutoNum type="arabicPeriod" startAt="2"/>
            </a:pPr>
            <a:r>
              <a:rPr dirty="0" lang="en-US"/>
              <a:t>Infection</a:t>
            </a:r>
          </a:p>
          <a:p>
            <a:pPr indent="-514350" marL="514350">
              <a:buAutoNum type="arabicPeriod" startAt="2"/>
            </a:pPr>
            <a:r>
              <a:rPr dirty="0" lang="en-US"/>
              <a:t>Nonunion</a:t>
            </a:r>
          </a:p>
          <a:p>
            <a:pPr indent="-514350" marL="514350">
              <a:buAutoNum type="arabicPeriod" startAt="2"/>
            </a:pPr>
            <a:r>
              <a:rPr dirty="0" lang="en-US"/>
              <a:t>Avascular necrosis</a:t>
            </a:r>
          </a:p>
          <a:p>
            <a:pPr indent="-514350" marL="514350">
              <a:buAutoNum type="arabicPeriod" startAt="2"/>
            </a:pPr>
            <a:r>
              <a:rPr dirty="0" lang="en-US"/>
              <a:t>Fixation device problem (protrusion of the fixation device through the </a:t>
            </a:r>
            <a:r>
              <a:rPr dirty="0" lang="en-US" smtClean="0"/>
              <a:t>acetabulum; loosening </a:t>
            </a:r>
            <a:r>
              <a:rPr dirty="0" lang="en-US"/>
              <a:t>of hardware</a:t>
            </a:r>
            <a:r>
              <a:rPr dirty="0" lang="en-US" smtClean="0"/>
              <a:t>.</a:t>
            </a:r>
          </a:p>
          <a:p>
            <a:pPr indent="-514350" marL="514350">
              <a:buAutoNum type="arabicPeriod" startAt="8"/>
            </a:pPr>
            <a:endParaRPr dirty="0" lang="en-US"/>
          </a:p>
        </p:txBody>
      </p:sp>
      <p:sp>
        <p:nvSpPr>
          <p:cNvPr id="1048598" name="Title 1"/>
          <p:cNvSpPr txBox="1"/>
          <p:nvPr/>
        </p:nvSpPr>
        <p:spPr>
          <a:xfrm>
            <a:off x="3048" y="14514"/>
            <a:ext cx="1673352" cy="328386"/>
          </a:xfrm>
          <a:prstGeom prst="rect"/>
          <a:solidFill>
            <a:schemeClr val="accent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sz="2000" lang="en-US" smtClean="0"/>
              <a:t>FRACTURE HIP</a:t>
            </a:r>
            <a:endParaRPr dirty="0" sz="2000" lang="en-US"/>
          </a:p>
        </p:txBody>
      </p:sp>
    </p:spTree>
  </p:cSld>
  <p:clrMapOvr>
    <a:masterClrMapping/>
  </p:clrMapOvr>
  <p:timing/>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211" name=""/>
        <p:cNvGrpSpPr/>
        <p:nvPr/>
      </p:nvGrpSpPr>
      <p:grpSpPr>
        <a:xfrm>
          <a:off x="0" y="0"/>
          <a:ext cx="0" cy="0"/>
          <a:chOff x="0" y="0"/>
          <a:chExt cx="0" cy="0"/>
        </a:xfrm>
      </p:grpSpPr>
      <p:pic>
        <p:nvPicPr>
          <p:cNvPr id="2097152" name="Content Placeholder 3"/>
          <p:cNvPicPr>
            <a:picLocks noGrp="1"/>
          </p:cNvPicPr>
          <p:nvPr>
            <p:ph sz="quarter" idx="1"/>
          </p:nvPr>
        </p:nvPicPr>
        <p:blipFill>
          <a:blip xmlns:r="http://schemas.openxmlformats.org/officeDocument/2006/relationships" r:embed="rId1" cstate="print"/>
          <a:srcRect/>
          <a:stretch>
            <a:fillRect/>
          </a:stretch>
        </p:blipFill>
        <p:spPr bwMode="auto">
          <a:xfrm>
            <a:off x="457200" y="178707"/>
            <a:ext cx="8000999" cy="5943600"/>
          </a:xfrm>
          <a:prstGeom prst="rect"/>
          <a:noFill/>
          <a:ln w="9525">
            <a:noFill/>
            <a:miter lim="800000"/>
            <a:headEnd/>
            <a:tailEnd/>
          </a:ln>
        </p:spPr>
      </p:pic>
      <p:sp>
        <p:nvSpPr>
          <p:cNvPr id="1048594" name="Title 1"/>
          <p:cNvSpPr txBox="1"/>
          <p:nvPr/>
        </p:nvSpPr>
        <p:spPr>
          <a:xfrm>
            <a:off x="3048" y="14514"/>
            <a:ext cx="1673352" cy="328386"/>
          </a:xfrm>
          <a:prstGeom prst="rect"/>
          <a:solidFill>
            <a:schemeClr val="accent2"/>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sz="2000" lang="en-US" smtClean="0"/>
              <a:t>FRACTURE HIP</a:t>
            </a:r>
            <a:endParaRPr dirty="0" sz="2000" lang="en-US"/>
          </a:p>
        </p:txBody>
      </p:sp>
    </p:spTree>
  </p:cSld>
  <p:clrMapOvr>
    <a:masterClrMapping/>
  </p:clrMapOvr>
  <p:timing/>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206" name=""/>
        <p:cNvGrpSpPr/>
        <p:nvPr/>
      </p:nvGrpSpPr>
      <p:grpSpPr>
        <a:xfrm>
          <a:off x="0" y="0"/>
          <a:ext cx="0" cy="0"/>
          <a:chOff x="0" y="0"/>
          <a:chExt cx="0" cy="0"/>
        </a:xfrm>
      </p:grpSpPr>
      <p:sp>
        <p:nvSpPr>
          <p:cNvPr id="1048589" name="Title 1"/>
          <p:cNvSpPr>
            <a:spLocks noGrp="1"/>
          </p:cNvSpPr>
          <p:nvPr>
            <p:ph type="title"/>
          </p:nvPr>
        </p:nvSpPr>
        <p:spPr>
          <a:xfrm>
            <a:off x="152400" y="228600"/>
            <a:ext cx="8613648" cy="990600"/>
          </a:xfrm>
        </p:spPr>
        <p:txBody>
          <a:bodyPr/>
          <a:p>
            <a:r>
              <a:rPr b="1" dirty="0" lang="en-US" smtClean="0"/>
              <a:t>FRACTURE FEMURAL SHAFT </a:t>
            </a:r>
            <a:endParaRPr b="1" dirty="0" lang="en-US"/>
          </a:p>
        </p:txBody>
      </p:sp>
      <p:sp>
        <p:nvSpPr>
          <p:cNvPr id="1048590" name="Content Placeholder 2"/>
          <p:cNvSpPr>
            <a:spLocks noGrp="1"/>
          </p:cNvSpPr>
          <p:nvPr>
            <p:ph sz="quarter" idx="1"/>
          </p:nvPr>
        </p:nvSpPr>
        <p:spPr>
          <a:xfrm>
            <a:off x="304800" y="1219200"/>
            <a:ext cx="8461248" cy="4876800"/>
          </a:xfrm>
        </p:spPr>
        <p:txBody>
          <a:bodyPr/>
          <a:p>
            <a:r>
              <a:rPr dirty="0" lang="en-US" smtClean="0"/>
              <a:t>Great force is required in adults for this fracture to occur.</a:t>
            </a:r>
          </a:p>
          <a:p>
            <a:r>
              <a:rPr dirty="0" lang="en-US" smtClean="0"/>
              <a:t>May be transverse, oblique, spiral or comminuted. </a:t>
            </a:r>
          </a:p>
          <a:p>
            <a:r>
              <a:rPr dirty="0" lang="en-US" smtClean="0"/>
              <a:t>Massive blood loss common leading to shock.</a:t>
            </a:r>
          </a:p>
          <a:p>
            <a:pPr>
              <a:buNone/>
            </a:pPr>
            <a:endParaRPr b="1" dirty="0" lang="en-US" smtClean="0"/>
          </a:p>
          <a:p>
            <a:pPr>
              <a:buNone/>
            </a:pPr>
            <a:r>
              <a:rPr b="1" dirty="0" lang="en-US" smtClean="0"/>
              <a:t>SIGNS </a:t>
            </a:r>
            <a:r>
              <a:rPr b="1" dirty="0" lang="en-US"/>
              <a:t>AND SYMPTOMS</a:t>
            </a:r>
          </a:p>
          <a:p>
            <a:pPr indent="-514350" marL="514350">
              <a:buFont typeface="+mj-lt"/>
              <a:buAutoNum type="arabicPeriod"/>
            </a:pPr>
            <a:r>
              <a:rPr dirty="0" lang="en-US"/>
              <a:t>Enlarged, deformed, painful thigh.</a:t>
            </a:r>
          </a:p>
          <a:p>
            <a:pPr indent="-514350" marL="514350">
              <a:buFont typeface="+mj-lt"/>
              <a:buAutoNum type="arabicPeriod"/>
            </a:pPr>
            <a:r>
              <a:rPr dirty="0" lang="en-US"/>
              <a:t>Can not move hip or knee.</a:t>
            </a:r>
          </a:p>
          <a:p>
            <a:endParaRPr dirty="0" lang="en-US"/>
          </a:p>
        </p:txBody>
      </p:sp>
      <p:sp>
        <p:nvSpPr>
          <p:cNvPr id="1048591" name="Title 1"/>
          <p:cNvSpPr txBox="1"/>
          <p:nvPr/>
        </p:nvSpPr>
        <p:spPr>
          <a:xfrm>
            <a:off x="0" y="0"/>
            <a:ext cx="2819400" cy="381000"/>
          </a:xfrm>
          <a:prstGeom prst="rect"/>
          <a:solidFill>
            <a:schemeClr val="accent3">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FEMURAL SHAFT </a:t>
            </a:r>
            <a:endParaRPr dirty="0" sz="1800" lang="en-US"/>
          </a:p>
        </p:txBody>
      </p:sp>
    </p:spTree>
  </p:cSld>
  <p:clrMapOvr>
    <a:masterClrMapping/>
  </p:clrMapOvr>
  <p:timing/>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210" name=""/>
        <p:cNvGrpSpPr/>
        <p:nvPr/>
      </p:nvGrpSpPr>
      <p:grpSpPr>
        <a:xfrm>
          <a:off x="0" y="0"/>
          <a:ext cx="0" cy="0"/>
          <a:chOff x="0" y="0"/>
          <a:chExt cx="0" cy="0"/>
        </a:xfrm>
      </p:grpSpPr>
      <p:sp>
        <p:nvSpPr>
          <p:cNvPr id="1048592" name="Title 1"/>
          <p:cNvSpPr>
            <a:spLocks noGrp="1"/>
          </p:cNvSpPr>
          <p:nvPr>
            <p:ph type="title"/>
          </p:nvPr>
        </p:nvSpPr>
        <p:spPr>
          <a:xfrm>
            <a:off x="0" y="0"/>
            <a:ext cx="2819400" cy="381000"/>
          </a:xfrm>
          <a:solidFill>
            <a:schemeClr val="accent3">
              <a:lumMod val="40000"/>
              <a:lumOff val="60000"/>
            </a:schemeClr>
          </a:solidFill>
        </p:spPr>
        <p:txBody>
          <a:bodyPr>
            <a:noAutofit/>
          </a:bodyPr>
          <a:p>
            <a:r>
              <a:rPr dirty="0" sz="1800" lang="en-US" smtClean="0"/>
              <a:t>FRACTURE FEMURAL SHAFT </a:t>
            </a:r>
            <a:endParaRPr dirty="0" sz="1800" lang="en-US"/>
          </a:p>
        </p:txBody>
      </p:sp>
      <p:sp>
        <p:nvSpPr>
          <p:cNvPr id="1048593" name="Content Placeholder 2"/>
          <p:cNvSpPr>
            <a:spLocks noGrp="1"/>
          </p:cNvSpPr>
          <p:nvPr>
            <p:ph sz="quarter" idx="1"/>
          </p:nvPr>
        </p:nvSpPr>
        <p:spPr>
          <a:xfrm>
            <a:off x="304800" y="1143000"/>
            <a:ext cx="8461248" cy="4953000"/>
          </a:xfrm>
        </p:spPr>
        <p:txBody>
          <a:bodyPr>
            <a:normAutofit/>
          </a:bodyPr>
          <a:p>
            <a:pPr indent="-514350" marL="514350">
              <a:buNone/>
            </a:pPr>
            <a:endParaRPr b="1" dirty="0" lang="en-US" smtClean="0"/>
          </a:p>
          <a:p>
            <a:pPr indent="-514350" marL="514350">
              <a:buNone/>
            </a:pPr>
            <a:r>
              <a:rPr b="1" dirty="0" lang="en-US" smtClean="0"/>
              <a:t>ASSESSMENT &amp; DIAGNOSIS</a:t>
            </a:r>
            <a:endParaRPr dirty="0" lang="en-US" smtClean="0"/>
          </a:p>
          <a:p>
            <a:pPr indent="-514350" marL="514350">
              <a:buFont typeface="+mj-lt"/>
              <a:buAutoNum type="arabicPeriod"/>
            </a:pPr>
            <a:r>
              <a:rPr dirty="0" lang="en-US" smtClean="0"/>
              <a:t>Neurovascular status check </a:t>
            </a:r>
          </a:p>
          <a:p>
            <a:pPr indent="-514350" marL="514350">
              <a:buFont typeface="+mj-lt"/>
              <a:buAutoNum type="arabicPeriod"/>
            </a:pPr>
            <a:r>
              <a:rPr dirty="0" lang="en-US" smtClean="0"/>
              <a:t>Doppler ultrasound to assess blood flow</a:t>
            </a:r>
          </a:p>
          <a:p>
            <a:pPr indent="-514350" marL="514350">
              <a:buFont typeface="+mj-lt"/>
              <a:buAutoNum type="arabicPeriod"/>
            </a:pPr>
            <a:r>
              <a:rPr dirty="0" lang="en-US" smtClean="0"/>
              <a:t>X-rays: associated dislocation of the hip &amp; knee.</a:t>
            </a:r>
            <a:endParaRPr dirty="0" lang="en-US"/>
          </a:p>
        </p:txBody>
      </p:sp>
    </p:spTree>
  </p:cSld>
  <p:clrMapOvr>
    <a:masterClrMapping/>
  </p:clrMapOvr>
  <p:timing/>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212" name=""/>
        <p:cNvGrpSpPr/>
        <p:nvPr/>
      </p:nvGrpSpPr>
      <p:grpSpPr>
        <a:xfrm>
          <a:off x="0" y="0"/>
          <a:ext cx="0" cy="0"/>
          <a:chOff x="0" y="0"/>
          <a:chExt cx="0" cy="0"/>
        </a:xfrm>
      </p:grpSpPr>
      <p:sp>
        <p:nvSpPr>
          <p:cNvPr id="1048595" name="Content Placeholder 2"/>
          <p:cNvSpPr>
            <a:spLocks noGrp="1"/>
          </p:cNvSpPr>
          <p:nvPr>
            <p:ph sz="quarter" idx="1"/>
          </p:nvPr>
        </p:nvSpPr>
        <p:spPr>
          <a:xfrm>
            <a:off x="228600" y="381000"/>
            <a:ext cx="8537448" cy="5715000"/>
          </a:xfrm>
        </p:spPr>
        <p:txBody>
          <a:bodyPr>
            <a:normAutofit/>
          </a:bodyPr>
          <a:p>
            <a:pPr>
              <a:buNone/>
            </a:pPr>
            <a:r>
              <a:rPr b="1" dirty="0" lang="en-US" smtClean="0"/>
              <a:t>MANAGEMENT</a:t>
            </a:r>
          </a:p>
          <a:p>
            <a:pPr indent="-514350" marL="514350">
              <a:buFont typeface="+mj-lt"/>
              <a:buAutoNum type="arabicPeriod"/>
            </a:pPr>
            <a:r>
              <a:rPr dirty="0" lang="en-US" smtClean="0"/>
              <a:t>Neurovascular monitoring.</a:t>
            </a:r>
          </a:p>
          <a:p>
            <a:pPr indent="-514350" marL="514350">
              <a:buFont typeface="+mj-lt"/>
              <a:buAutoNum type="arabicPeriod"/>
            </a:pPr>
            <a:r>
              <a:rPr dirty="0" lang="en-US" smtClean="0"/>
              <a:t>Skin traction for comfort &amp; immobilization of the fracture to minimize soft tissue injury.</a:t>
            </a:r>
          </a:p>
          <a:p>
            <a:pPr indent="-514350" marL="514350">
              <a:buFont typeface="+mj-lt"/>
              <a:buAutoNum type="arabicPeriod"/>
            </a:pPr>
            <a:r>
              <a:rPr dirty="0" lang="en-US" smtClean="0"/>
              <a:t>Generally, skeletal traction for muscle relaxation &amp; alignment of the fracture fragments before ORIF.</a:t>
            </a:r>
          </a:p>
          <a:p>
            <a:pPr indent="-514350" marL="514350">
              <a:buFont typeface="+mj-lt"/>
              <a:buAutoNum type="arabicPeriod"/>
            </a:pPr>
            <a:r>
              <a:rPr dirty="0" lang="en-US"/>
              <a:t>In </a:t>
            </a:r>
            <a:r>
              <a:rPr dirty="0" lang="en-US" smtClean="0"/>
              <a:t>ORIF: </a:t>
            </a:r>
            <a:r>
              <a:rPr dirty="0" lang="en-US"/>
              <a:t>intramedullary nailing devices, interlocking nail, or compression plate &amp; screws </a:t>
            </a:r>
            <a:r>
              <a:rPr dirty="0" lang="en-US" smtClean="0"/>
              <a:t>provide adequate </a:t>
            </a:r>
            <a:r>
              <a:rPr dirty="0" lang="en-US"/>
              <a:t>internal fixation.</a:t>
            </a:r>
          </a:p>
          <a:p>
            <a:pPr indent="-514350" marL="514350">
              <a:buFont typeface="+mj-lt"/>
              <a:buAutoNum type="arabicPeriod"/>
            </a:pPr>
            <a:endParaRPr dirty="0" lang="en-US"/>
          </a:p>
        </p:txBody>
      </p:sp>
      <p:sp>
        <p:nvSpPr>
          <p:cNvPr id="1048596" name="Title 1"/>
          <p:cNvSpPr txBox="1"/>
          <p:nvPr/>
        </p:nvSpPr>
        <p:spPr>
          <a:xfrm>
            <a:off x="0" y="0"/>
            <a:ext cx="2971800" cy="381000"/>
          </a:xfrm>
          <a:prstGeom prst="rect"/>
          <a:solidFill>
            <a:schemeClr val="accent3">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FEMURAL SHAFT </a:t>
            </a:r>
            <a:endParaRPr dirty="0" sz="1800" lang="en-US"/>
          </a:p>
        </p:txBody>
      </p:sp>
    </p:spTree>
  </p:cSld>
  <p:clrMapOvr>
    <a:masterClrMapping/>
  </p:clrMapOvr>
  <p:timing/>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214" name=""/>
        <p:cNvGrpSpPr/>
        <p:nvPr/>
      </p:nvGrpSpPr>
      <p:grpSpPr>
        <a:xfrm>
          <a:off x="0" y="0"/>
          <a:ext cx="0" cy="0"/>
          <a:chOff x="0" y="0"/>
          <a:chExt cx="0" cy="0"/>
        </a:xfrm>
      </p:grpSpPr>
      <p:sp>
        <p:nvSpPr>
          <p:cNvPr id="1048599" name="Content Placeholder 2"/>
          <p:cNvSpPr>
            <a:spLocks noGrp="1"/>
          </p:cNvSpPr>
          <p:nvPr>
            <p:ph sz="quarter" idx="1"/>
          </p:nvPr>
        </p:nvSpPr>
        <p:spPr>
          <a:xfrm>
            <a:off x="152400" y="609600"/>
            <a:ext cx="8613648" cy="5486400"/>
          </a:xfrm>
        </p:spPr>
        <p:txBody>
          <a:bodyPr/>
          <a:p>
            <a:pPr indent="-514350" marL="514350">
              <a:buFont typeface="+mj-lt"/>
              <a:buAutoNum type="arabicPeriod" startAt="5"/>
            </a:pPr>
            <a:r>
              <a:rPr dirty="0" lang="en-US" smtClean="0"/>
              <a:t>Active muscle movement enhances healing.</a:t>
            </a:r>
          </a:p>
          <a:p>
            <a:pPr indent="-514350" marL="514350">
              <a:buFont typeface="+mj-lt"/>
              <a:buAutoNum type="arabicPeriod" startAt="5"/>
            </a:pPr>
            <a:r>
              <a:rPr dirty="0" lang="en-US" smtClean="0"/>
              <a:t>Fractures of the middle &amp; distal shaft (supracondylar). May be managed with skeletal traction after 2-4 weeks.</a:t>
            </a:r>
          </a:p>
          <a:p>
            <a:pPr indent="-514350" marL="514350">
              <a:buFont typeface="+mj-lt"/>
              <a:buAutoNum type="arabicPeriod" startAt="5"/>
            </a:pPr>
            <a:r>
              <a:rPr dirty="0" lang="en-US"/>
              <a:t>When pain &amp; swelling have subsided skeletal traction is removed &amp; a cast brace placed </a:t>
            </a:r>
            <a:endParaRPr dirty="0" lang="en-US" smtClean="0"/>
          </a:p>
          <a:p>
            <a:pPr indent="0" marL="0">
              <a:buNone/>
            </a:pPr>
            <a:r>
              <a:rPr dirty="0" lang="en-US" smtClean="0"/>
              <a:t>Complication: Restriction </a:t>
            </a:r>
            <a:r>
              <a:rPr dirty="0" lang="en-US"/>
              <a:t>of knee motion due to lack of </a:t>
            </a:r>
            <a:r>
              <a:rPr dirty="0" lang="en-US" smtClean="0"/>
              <a:t>early exercise.</a:t>
            </a:r>
            <a:endParaRPr dirty="0" lang="en-US"/>
          </a:p>
          <a:p>
            <a:pPr indent="-514350" marL="514350">
              <a:buAutoNum type="arabicPeriod" startAt="5"/>
            </a:pPr>
            <a:endParaRPr dirty="0" lang="en-US"/>
          </a:p>
        </p:txBody>
      </p:sp>
      <p:sp>
        <p:nvSpPr>
          <p:cNvPr id="1048600" name="Title 1"/>
          <p:cNvSpPr>
            <a:spLocks noGrp="1"/>
          </p:cNvSpPr>
          <p:nvPr>
            <p:ph type="title"/>
          </p:nvPr>
        </p:nvSpPr>
        <p:spPr>
          <a:xfrm>
            <a:off x="0" y="0"/>
            <a:ext cx="2819400" cy="381000"/>
          </a:xfrm>
          <a:solidFill>
            <a:schemeClr val="accent3">
              <a:lumMod val="40000"/>
              <a:lumOff val="60000"/>
            </a:schemeClr>
          </a:solidFill>
        </p:spPr>
        <p:txBody>
          <a:bodyPr>
            <a:noAutofit/>
          </a:bodyPr>
          <a:p>
            <a:r>
              <a:rPr dirty="0" sz="1800" lang="en-US" smtClean="0"/>
              <a:t>FRACTURE FEMURAL SHAFT </a:t>
            </a:r>
            <a:endParaRPr dirty="0" sz="1800" lang="en-US"/>
          </a:p>
        </p:txBody>
      </p:sp>
    </p:spTree>
  </p:cSld>
  <p:clrMapOvr>
    <a:masterClrMapping/>
  </p:clrMapOvr>
  <p:timing/>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310" name=""/>
        <p:cNvGrpSpPr/>
        <p:nvPr/>
      </p:nvGrpSpPr>
      <p:grpSpPr>
        <a:xfrm>
          <a:off x="0" y="0"/>
          <a:ext cx="0" cy="0"/>
          <a:chOff x="0" y="0"/>
          <a:chExt cx="0" cy="0"/>
        </a:xfrm>
      </p:grpSpPr>
      <p:sp>
        <p:nvSpPr>
          <p:cNvPr id="1048774" name="Title 1"/>
          <p:cNvSpPr>
            <a:spLocks noGrp="1"/>
          </p:cNvSpPr>
          <p:nvPr>
            <p:ph type="title"/>
          </p:nvPr>
        </p:nvSpPr>
        <p:spPr>
          <a:xfrm>
            <a:off x="152400" y="228600"/>
            <a:ext cx="8613648" cy="990600"/>
          </a:xfrm>
        </p:spPr>
        <p:txBody>
          <a:bodyPr>
            <a:normAutofit/>
          </a:bodyPr>
          <a:p>
            <a:r>
              <a:rPr b="1" dirty="0" sz="4000" lang="en-US" smtClean="0"/>
              <a:t>FRACTURE TIBIA &amp; FIBULA</a:t>
            </a:r>
            <a:endParaRPr b="1" dirty="0" sz="4000" lang="en-US"/>
          </a:p>
        </p:txBody>
      </p:sp>
      <p:sp>
        <p:nvSpPr>
          <p:cNvPr id="1048775" name="Content Placeholder 2"/>
          <p:cNvSpPr>
            <a:spLocks noGrp="1"/>
          </p:cNvSpPr>
          <p:nvPr>
            <p:ph sz="quarter" idx="1"/>
          </p:nvPr>
        </p:nvSpPr>
        <p:spPr>
          <a:xfrm>
            <a:off x="304800" y="990600"/>
            <a:ext cx="8461248" cy="5715000"/>
          </a:xfrm>
        </p:spPr>
        <p:txBody>
          <a:bodyPr>
            <a:normAutofit/>
          </a:bodyPr>
          <a:p>
            <a:r>
              <a:rPr dirty="0" lang="en-US" smtClean="0"/>
              <a:t>Results from a direct blow, falls with foot in a flexed position or a violent twisting.</a:t>
            </a:r>
          </a:p>
          <a:p>
            <a:r>
              <a:rPr dirty="0" lang="en-US" smtClean="0"/>
              <a:t>Usually occur in association with each other.</a:t>
            </a:r>
          </a:p>
          <a:p>
            <a:endParaRPr dirty="0" lang="en-US"/>
          </a:p>
          <a:p>
            <a:pPr>
              <a:buNone/>
            </a:pPr>
            <a:r>
              <a:rPr b="1" dirty="0" lang="en-US"/>
              <a:t>ASSESSMENT &amp; DIAGNOSTIC FINDINGS</a:t>
            </a:r>
          </a:p>
          <a:p>
            <a:pPr indent="-514350" marL="514350">
              <a:buFont typeface="+mj-lt"/>
              <a:buAutoNum type="arabicPeriod"/>
            </a:pPr>
            <a:r>
              <a:rPr dirty="0" lang="en-US"/>
              <a:t>Assess nerve damage: </a:t>
            </a:r>
            <a:r>
              <a:rPr dirty="0" sz="2400" lang="en-US"/>
              <a:t>inability to dorsiflex great toe with diminished sensation in the first web space.</a:t>
            </a:r>
          </a:p>
          <a:p>
            <a:pPr indent="-514350" marL="514350">
              <a:buFont typeface="+mj-lt"/>
              <a:buAutoNum type="arabicPeriod"/>
            </a:pPr>
            <a:r>
              <a:rPr dirty="0" lang="en-US" err="1" smtClean="0"/>
              <a:t>Tibial</a:t>
            </a:r>
            <a:r>
              <a:rPr dirty="0" lang="en-US" smtClean="0"/>
              <a:t> </a:t>
            </a:r>
            <a:r>
              <a:rPr dirty="0" lang="en-US"/>
              <a:t>artery damage: </a:t>
            </a:r>
            <a:r>
              <a:rPr dirty="0" sz="2400" lang="en-US"/>
              <a:t>assess skin </a:t>
            </a:r>
            <a:r>
              <a:rPr dirty="0" sz="2400" lang="en-US" err="1"/>
              <a:t>colour</a:t>
            </a:r>
            <a:r>
              <a:rPr dirty="0" sz="2400" lang="en-US"/>
              <a:t>, temperature &amp; capillary </a:t>
            </a:r>
            <a:r>
              <a:rPr dirty="0" sz="2400" lang="en-US" smtClean="0"/>
              <a:t>refill.</a:t>
            </a:r>
            <a:endParaRPr dirty="0" sz="2400" lang="en-US"/>
          </a:p>
          <a:p>
            <a:pPr indent="-514350" marL="514350">
              <a:buFont typeface="+mj-lt"/>
              <a:buAutoNum type="arabicPeriod"/>
            </a:pPr>
            <a:r>
              <a:rPr dirty="0" lang="en-US"/>
              <a:t>Monitor anterior compartment </a:t>
            </a:r>
            <a:r>
              <a:rPr dirty="0" lang="en-US" smtClean="0"/>
              <a:t>syndrome: </a:t>
            </a:r>
            <a:r>
              <a:rPr dirty="0" sz="2400" lang="en-US"/>
              <a:t>pain unrelieved by </a:t>
            </a:r>
            <a:r>
              <a:rPr dirty="0" sz="2400" lang="en-US" smtClean="0"/>
              <a:t>analgesics </a:t>
            </a:r>
            <a:r>
              <a:rPr dirty="0" sz="2400" lang="en-US"/>
              <a:t>&amp; increasing with plantar flexion, </a:t>
            </a:r>
            <a:r>
              <a:rPr dirty="0" sz="2400" lang="en-US" smtClean="0"/>
              <a:t>&amp; </a:t>
            </a:r>
            <a:r>
              <a:rPr dirty="0" sz="2400" lang="en-US"/>
              <a:t>paresthesia.</a:t>
            </a:r>
            <a:endParaRPr dirty="0" lang="en-US"/>
          </a:p>
          <a:p>
            <a:endParaRPr dirty="0" lang="en-US" smtClean="0"/>
          </a:p>
        </p:txBody>
      </p:sp>
      <p:sp>
        <p:nvSpPr>
          <p:cNvPr id="1048776" name="Title 1"/>
          <p:cNvSpPr txBox="1"/>
          <p:nvPr/>
        </p:nvSpPr>
        <p:spPr>
          <a:xfrm>
            <a:off x="27296" y="4549"/>
            <a:ext cx="2819400" cy="457200"/>
          </a:xfrm>
          <a:prstGeom prst="rect"/>
          <a:solidFill>
            <a:schemeClr val="accent2">
              <a:lumMod val="20000"/>
              <a:lumOff val="8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600" lang="en-US" smtClean="0"/>
              <a:t>FRACTURE TIBIA &amp; FIBULA</a:t>
            </a:r>
            <a:endParaRPr dirty="0" sz="1600" lang="en-US"/>
          </a:p>
        </p:txBody>
      </p:sp>
    </p:spTree>
  </p:cSld>
  <p:clrMapOvr>
    <a:masterClrMapping/>
  </p:clrMapOvr>
  <p:timing/>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308" name=""/>
        <p:cNvGrpSpPr/>
        <p:nvPr/>
      </p:nvGrpSpPr>
      <p:grpSpPr>
        <a:xfrm>
          <a:off x="0" y="0"/>
          <a:ext cx="0" cy="0"/>
          <a:chOff x="0" y="0"/>
          <a:chExt cx="0" cy="0"/>
        </a:xfrm>
      </p:grpSpPr>
      <p:sp>
        <p:nvSpPr>
          <p:cNvPr id="1048769" name="Content Placeholder 2"/>
          <p:cNvSpPr>
            <a:spLocks noGrp="1"/>
          </p:cNvSpPr>
          <p:nvPr>
            <p:ph sz="quarter" idx="1"/>
          </p:nvPr>
        </p:nvSpPr>
        <p:spPr>
          <a:xfrm>
            <a:off x="152400" y="461749"/>
            <a:ext cx="8839200" cy="6243851"/>
          </a:xfrm>
        </p:spPr>
        <p:txBody>
          <a:bodyPr>
            <a:normAutofit/>
          </a:bodyPr>
          <a:p>
            <a:pPr>
              <a:buNone/>
            </a:pPr>
            <a:r>
              <a:rPr b="1" dirty="0" lang="en-US" smtClean="0"/>
              <a:t>MANAGEMENT</a:t>
            </a:r>
          </a:p>
          <a:p>
            <a:pPr indent="-514350" marL="514350">
              <a:buFont typeface="+mj-lt"/>
              <a:buAutoNum type="arabicPeriod"/>
            </a:pPr>
            <a:r>
              <a:rPr dirty="0" lang="en-US" smtClean="0"/>
              <a:t>Pins-in-plaster technique.</a:t>
            </a:r>
          </a:p>
          <a:p>
            <a:pPr indent="-514350" marL="514350">
              <a:buFont typeface="+mj-lt"/>
              <a:buAutoNum type="arabicPeriod"/>
            </a:pPr>
            <a:r>
              <a:rPr dirty="0" lang="en-US" smtClean="0"/>
              <a:t>Closed </a:t>
            </a:r>
            <a:r>
              <a:rPr dirty="0" lang="en-US" err="1" smtClean="0"/>
              <a:t>tibial</a:t>
            </a:r>
            <a:r>
              <a:rPr dirty="0" lang="en-US" smtClean="0"/>
              <a:t> fractures: closed reduction in long leg-walking or patellar-tendon-bearing cast.</a:t>
            </a:r>
          </a:p>
          <a:p>
            <a:pPr indent="-514350" marL="514350">
              <a:buFont typeface="+mj-lt"/>
              <a:buAutoNum type="arabicPeriod"/>
            </a:pPr>
            <a:r>
              <a:rPr dirty="0" lang="en-US" smtClean="0"/>
              <a:t>Partial weight bearing after 7-10 days.</a:t>
            </a:r>
          </a:p>
          <a:p>
            <a:pPr indent="-514350" marL="514350">
              <a:buFont typeface="+mj-lt"/>
              <a:buAutoNum type="arabicPeriod"/>
            </a:pPr>
            <a:r>
              <a:rPr dirty="0" lang="en-US" smtClean="0"/>
              <a:t>Cast changed to short leg cast or brace in 3-4 </a:t>
            </a:r>
            <a:r>
              <a:rPr dirty="0" lang="en-US" err="1" smtClean="0"/>
              <a:t>wks</a:t>
            </a:r>
            <a:r>
              <a:rPr dirty="0" lang="en-US" smtClean="0"/>
              <a:t> to allow knee motion.</a:t>
            </a:r>
          </a:p>
          <a:p>
            <a:pPr indent="-514350" marL="514350">
              <a:buFont typeface="+mj-lt"/>
              <a:buAutoNum type="arabicPeriod"/>
            </a:pPr>
            <a:r>
              <a:rPr dirty="0" lang="en-US"/>
              <a:t>H</a:t>
            </a:r>
            <a:r>
              <a:rPr dirty="0" lang="en-US" smtClean="0"/>
              <a:t>ealing </a:t>
            </a:r>
            <a:r>
              <a:rPr dirty="0" lang="en-US"/>
              <a:t>takes 6-10 </a:t>
            </a:r>
            <a:r>
              <a:rPr dirty="0" lang="en-US" smtClean="0"/>
              <a:t>wks</a:t>
            </a:r>
            <a:r>
              <a:rPr dirty="0" lang="en-US"/>
              <a:t>.</a:t>
            </a:r>
          </a:p>
          <a:p>
            <a:pPr indent="-514350" marL="514350">
              <a:buFont typeface="+mj-lt"/>
              <a:buAutoNum type="arabicPeriod"/>
            </a:pPr>
            <a:r>
              <a:rPr dirty="0" lang="en-US" smtClean="0"/>
              <a:t>Comminuted </a:t>
            </a:r>
            <a:r>
              <a:rPr dirty="0" lang="en-US"/>
              <a:t>fractures may </a:t>
            </a:r>
            <a:r>
              <a:rPr dirty="0" lang="en-US" smtClean="0"/>
              <a:t>need skeletal </a:t>
            </a:r>
            <a:r>
              <a:rPr dirty="0" lang="en-US"/>
              <a:t>traction or </a:t>
            </a:r>
            <a:r>
              <a:rPr dirty="0" lang="en-US" smtClean="0"/>
              <a:t>fixation (internal/external).</a:t>
            </a:r>
            <a:endParaRPr dirty="0" lang="en-US"/>
          </a:p>
          <a:p>
            <a:pPr indent="-514350" marL="514350">
              <a:buFont typeface="+mj-lt"/>
              <a:buAutoNum type="arabicPeriod"/>
            </a:pPr>
            <a:r>
              <a:rPr dirty="0" lang="en-US" smtClean="0"/>
              <a:t>Continue neurovascular </a:t>
            </a:r>
            <a:r>
              <a:rPr dirty="0" lang="en-US"/>
              <a:t>assessment and limb elevation. </a:t>
            </a:r>
          </a:p>
          <a:p>
            <a:pPr indent="-514350" marL="514350">
              <a:buFont typeface="+mj-lt"/>
              <a:buAutoNum type="arabicPeriod"/>
            </a:pPr>
            <a:endParaRPr dirty="0" lang="en-US"/>
          </a:p>
        </p:txBody>
      </p:sp>
      <p:sp>
        <p:nvSpPr>
          <p:cNvPr id="1048770" name="Title 1"/>
          <p:cNvSpPr txBox="1"/>
          <p:nvPr/>
        </p:nvSpPr>
        <p:spPr>
          <a:xfrm>
            <a:off x="27296" y="4549"/>
            <a:ext cx="2819400" cy="457200"/>
          </a:xfrm>
          <a:prstGeom prst="rect"/>
          <a:solidFill>
            <a:schemeClr val="accent2">
              <a:lumMod val="20000"/>
              <a:lumOff val="8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600" lang="en-US" smtClean="0"/>
              <a:t>FRACTURE TIBIA &amp; FIBULA</a:t>
            </a:r>
            <a:endParaRPr dirty="0" sz="1600" lang="en-US"/>
          </a:p>
        </p:txBody>
      </p:sp>
    </p:spTree>
  </p:cSld>
  <p:clrMapOvr>
    <a:masterClrMapping/>
  </p:clrMapOvr>
  <p:timing/>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309" name=""/>
        <p:cNvGrpSpPr/>
        <p:nvPr/>
      </p:nvGrpSpPr>
      <p:grpSpPr>
        <a:xfrm>
          <a:off x="0" y="0"/>
          <a:ext cx="0" cy="0"/>
          <a:chOff x="0" y="0"/>
          <a:chExt cx="0" cy="0"/>
        </a:xfrm>
      </p:grpSpPr>
      <p:sp>
        <p:nvSpPr>
          <p:cNvPr id="1048771" name="Title 1"/>
          <p:cNvSpPr>
            <a:spLocks noGrp="1"/>
          </p:cNvSpPr>
          <p:nvPr>
            <p:ph type="title"/>
          </p:nvPr>
        </p:nvSpPr>
        <p:spPr>
          <a:xfrm>
            <a:off x="234043" y="228600"/>
            <a:ext cx="8532005" cy="990600"/>
          </a:xfrm>
        </p:spPr>
        <p:txBody>
          <a:bodyPr>
            <a:normAutofit fontScale="90000"/>
          </a:bodyPr>
          <a:p>
            <a:r>
              <a:rPr b="1" dirty="0" sz="4000" lang="en-US" smtClean="0"/>
              <a:t>FRACTURE THORACOLUMBAR SPINE</a:t>
            </a:r>
            <a:endParaRPr b="1" dirty="0" sz="4000" lang="en-US"/>
          </a:p>
        </p:txBody>
      </p:sp>
      <p:sp>
        <p:nvSpPr>
          <p:cNvPr id="1048772" name="Content Placeholder 2"/>
          <p:cNvSpPr>
            <a:spLocks noGrp="1"/>
          </p:cNvSpPr>
          <p:nvPr>
            <p:ph sz="quarter" idx="1"/>
          </p:nvPr>
        </p:nvSpPr>
        <p:spPr>
          <a:xfrm>
            <a:off x="234043" y="1066800"/>
            <a:ext cx="8755162" cy="5410200"/>
          </a:xfrm>
        </p:spPr>
        <p:txBody>
          <a:bodyPr>
            <a:normAutofit/>
          </a:bodyPr>
          <a:p>
            <a:pPr>
              <a:buNone/>
            </a:pPr>
            <a:r>
              <a:rPr dirty="0" lang="en-US" smtClean="0"/>
              <a:t>May involve </a:t>
            </a:r>
          </a:p>
          <a:p>
            <a:pPr indent="-514350" marL="514350">
              <a:buFont typeface="+mj-lt"/>
              <a:buAutoNum type="arabicPeriod"/>
            </a:pPr>
            <a:r>
              <a:rPr dirty="0" lang="en-US" smtClean="0"/>
              <a:t>Vertebral body</a:t>
            </a:r>
          </a:p>
          <a:p>
            <a:pPr indent="-514350" marL="514350">
              <a:buFont typeface="+mj-lt"/>
              <a:buAutoNum type="arabicPeriod"/>
            </a:pPr>
            <a:r>
              <a:rPr dirty="0" lang="en-US"/>
              <a:t>L</a:t>
            </a:r>
            <a:r>
              <a:rPr dirty="0" lang="en-US" smtClean="0"/>
              <a:t>amina &amp; articulating process </a:t>
            </a:r>
          </a:p>
          <a:p>
            <a:pPr indent="-514350" marL="514350">
              <a:buFont typeface="+mj-lt"/>
              <a:buAutoNum type="arabicPeriod"/>
            </a:pPr>
            <a:r>
              <a:rPr dirty="0" lang="en-US" err="1" smtClean="0"/>
              <a:t>Spinous</a:t>
            </a:r>
            <a:r>
              <a:rPr dirty="0" lang="en-US" smtClean="0"/>
              <a:t> process or transverse processes</a:t>
            </a:r>
          </a:p>
          <a:p>
            <a:r>
              <a:rPr dirty="0" lang="en-US" smtClean="0"/>
              <a:t>T</a:t>
            </a:r>
            <a:r>
              <a:rPr baseline="-14000" dirty="0" lang="en-US" smtClean="0"/>
              <a:t>12</a:t>
            </a:r>
            <a:r>
              <a:rPr dirty="0" lang="en-US" smtClean="0"/>
              <a:t> – L</a:t>
            </a:r>
            <a:r>
              <a:rPr baseline="-12000" dirty="0" lang="en-US" smtClean="0"/>
              <a:t>2</a:t>
            </a:r>
            <a:r>
              <a:rPr dirty="0" lang="en-US" smtClean="0"/>
              <a:t> are most vulnerable to fractures. </a:t>
            </a:r>
          </a:p>
          <a:p>
            <a:r>
              <a:rPr dirty="0" lang="en-US" smtClean="0"/>
              <a:t>Generally due to indirect trauma caused by excessive loading, sudden muscle contraction, or excessive motion beyond physiologic limits.</a:t>
            </a:r>
          </a:p>
          <a:p>
            <a:r>
              <a:rPr dirty="0" lang="en-US" smtClean="0"/>
              <a:t>Osteoporosis contributes to vertebral body collapse.</a:t>
            </a:r>
            <a:endParaRPr dirty="0" lang="en-US"/>
          </a:p>
        </p:txBody>
      </p:sp>
      <p:sp>
        <p:nvSpPr>
          <p:cNvPr id="1048773" name="Title 1"/>
          <p:cNvSpPr txBox="1"/>
          <p:nvPr/>
        </p:nvSpPr>
        <p:spPr>
          <a:xfrm>
            <a:off x="10886" y="0"/>
            <a:ext cx="3951514" cy="381000"/>
          </a:xfrm>
          <a:prstGeom prst="rect"/>
          <a:solidFill>
            <a:schemeClr val="accent5">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THORACOLUMBAR SPINE</a:t>
            </a:r>
            <a:endParaRPr dirty="0" sz="1800" lang="en-US"/>
          </a:p>
        </p:txBody>
      </p:sp>
    </p:spTree>
  </p:cSld>
  <p:clrMapOvr>
    <a:masterClrMapping/>
  </p:clrMapOvr>
  <p:timing/>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347" name=""/>
        <p:cNvGrpSpPr/>
        <p:nvPr/>
      </p:nvGrpSpPr>
      <p:grpSpPr>
        <a:xfrm>
          <a:off x="0" y="0"/>
          <a:ext cx="0" cy="0"/>
          <a:chOff x="0" y="0"/>
          <a:chExt cx="0" cy="0"/>
        </a:xfrm>
      </p:grpSpPr>
      <p:sp>
        <p:nvSpPr>
          <p:cNvPr id="1048852" name="Content Placeholder 2"/>
          <p:cNvSpPr>
            <a:spLocks noGrp="1"/>
          </p:cNvSpPr>
          <p:nvPr>
            <p:ph sz="quarter" idx="1"/>
          </p:nvPr>
        </p:nvSpPr>
        <p:spPr>
          <a:xfrm>
            <a:off x="152400" y="762000"/>
            <a:ext cx="8915400" cy="5334000"/>
          </a:xfrm>
        </p:spPr>
        <p:txBody>
          <a:bodyPr>
            <a:normAutofit/>
          </a:bodyPr>
          <a:p>
            <a:pPr>
              <a:buNone/>
            </a:pPr>
            <a:endParaRPr b="1" dirty="0" lang="en-US" smtClean="0"/>
          </a:p>
          <a:p>
            <a:pPr>
              <a:buNone/>
            </a:pPr>
            <a:r>
              <a:rPr b="1" dirty="0" lang="en-US" smtClean="0"/>
              <a:t>SIGNS &amp; SYMPTOMS</a:t>
            </a:r>
          </a:p>
          <a:p>
            <a:r>
              <a:rPr dirty="0" lang="en-US" smtClean="0"/>
              <a:t>Acute tenderness </a:t>
            </a:r>
          </a:p>
          <a:p>
            <a:r>
              <a:rPr dirty="0" lang="en-US" smtClean="0"/>
              <a:t>Swelling</a:t>
            </a:r>
          </a:p>
          <a:p>
            <a:r>
              <a:rPr dirty="0" lang="en-US" err="1" smtClean="0"/>
              <a:t>Paravertebral</a:t>
            </a:r>
            <a:r>
              <a:rPr dirty="0" lang="en-US" smtClean="0"/>
              <a:t> muscle spasm</a:t>
            </a:r>
          </a:p>
          <a:p>
            <a:r>
              <a:rPr dirty="0" lang="en-US" smtClean="0"/>
              <a:t>Change in normal curves or gaps </a:t>
            </a:r>
            <a:r>
              <a:rPr dirty="0" lang="en-US" err="1" smtClean="0"/>
              <a:t>btn</a:t>
            </a:r>
            <a:r>
              <a:rPr dirty="0" lang="en-US" smtClean="0"/>
              <a:t>. </a:t>
            </a:r>
            <a:r>
              <a:rPr dirty="0" lang="en-US" err="1" smtClean="0"/>
              <a:t>spinous</a:t>
            </a:r>
            <a:r>
              <a:rPr dirty="0" lang="en-US" smtClean="0"/>
              <a:t> processes.</a:t>
            </a:r>
          </a:p>
          <a:p>
            <a:pPr indent="0" marL="0">
              <a:buNone/>
            </a:pPr>
            <a:endParaRPr b="1" dirty="0" lang="en-US" u="sng" smtClean="0"/>
          </a:p>
          <a:p>
            <a:pPr indent="0" marL="0">
              <a:buNone/>
            </a:pPr>
            <a:r>
              <a:rPr b="1" dirty="0" lang="en-US" u="sng" smtClean="0"/>
              <a:t>Note</a:t>
            </a:r>
            <a:r>
              <a:rPr dirty="0" lang="en-US" smtClean="0"/>
              <a:t>: Immobilization is essential till initial determination of spinal cord injury &amp; fracture stability.</a:t>
            </a:r>
            <a:endParaRPr dirty="0" lang="en-US"/>
          </a:p>
        </p:txBody>
      </p:sp>
      <p:sp>
        <p:nvSpPr>
          <p:cNvPr id="1048853" name="Title 1"/>
          <p:cNvSpPr txBox="1"/>
          <p:nvPr/>
        </p:nvSpPr>
        <p:spPr>
          <a:xfrm>
            <a:off x="10886" y="0"/>
            <a:ext cx="3951514" cy="381000"/>
          </a:xfrm>
          <a:prstGeom prst="rect"/>
          <a:solidFill>
            <a:schemeClr val="accent5">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THORACOLUMBAR SPINE</a:t>
            </a:r>
            <a:endParaRPr dirty="0" sz="1800" lang="en-US"/>
          </a:p>
        </p:txBody>
      </p:sp>
    </p:spTree>
  </p:cSld>
  <p:clrMapOvr>
    <a:masterClrMapping/>
  </p:clrMapOvr>
  <p:timing/>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362" name=""/>
        <p:cNvGrpSpPr/>
        <p:nvPr/>
      </p:nvGrpSpPr>
      <p:grpSpPr>
        <a:xfrm>
          <a:off x="0" y="0"/>
          <a:ext cx="0" cy="0"/>
          <a:chOff x="0" y="0"/>
          <a:chExt cx="0" cy="0"/>
        </a:xfrm>
      </p:grpSpPr>
      <p:sp>
        <p:nvSpPr>
          <p:cNvPr id="1048874" name="Content Placeholder 2"/>
          <p:cNvSpPr>
            <a:spLocks noGrp="1"/>
          </p:cNvSpPr>
          <p:nvPr>
            <p:ph sz="quarter" idx="1"/>
          </p:nvPr>
        </p:nvSpPr>
        <p:spPr>
          <a:xfrm>
            <a:off x="228600" y="609600"/>
            <a:ext cx="8537448" cy="5486400"/>
          </a:xfrm>
        </p:spPr>
        <p:txBody>
          <a:bodyPr>
            <a:normAutofit/>
          </a:bodyPr>
          <a:p>
            <a:r>
              <a:rPr dirty="0" lang="en-US"/>
              <a:t>Stable fractures are due to flexion, extension, lateral bending, or vertical loading. </a:t>
            </a:r>
          </a:p>
          <a:p>
            <a:r>
              <a:rPr dirty="0" lang="en-US" smtClean="0"/>
              <a:t>Few spinal fractures are associated neurologic deficit which require immediate surgery (laminectomy with spinal fusion) to decompress the spinal cord</a:t>
            </a:r>
          </a:p>
          <a:p>
            <a:r>
              <a:rPr dirty="0" lang="en-US"/>
              <a:t>Unstable fractures occur with fracture dislocation &amp; exhibit disruption of both anterior &amp; posterior structural columns. The potential for neural damage exists.</a:t>
            </a:r>
          </a:p>
          <a:p>
            <a:endParaRPr dirty="0" lang="en-US" smtClean="0"/>
          </a:p>
        </p:txBody>
      </p:sp>
      <p:sp>
        <p:nvSpPr>
          <p:cNvPr id="1048875" name="Title 1"/>
          <p:cNvSpPr txBox="1"/>
          <p:nvPr/>
        </p:nvSpPr>
        <p:spPr>
          <a:xfrm>
            <a:off x="10886" y="0"/>
            <a:ext cx="3951514" cy="381000"/>
          </a:xfrm>
          <a:prstGeom prst="rect"/>
          <a:solidFill>
            <a:schemeClr val="accent5">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THORACOLUMBAR SPINE</a:t>
            </a:r>
            <a:endParaRPr dirty="0" sz="1800" lang="en-US"/>
          </a:p>
        </p:txBody>
      </p:sp>
    </p:spTree>
  </p:cSld>
  <p:clrMapOvr>
    <a:masterClrMapping/>
  </p:clrMapOvr>
  <p:timing/>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394" name=""/>
        <p:cNvGrpSpPr/>
        <p:nvPr/>
      </p:nvGrpSpPr>
      <p:grpSpPr>
        <a:xfrm>
          <a:off x="0" y="0"/>
          <a:ext cx="0" cy="0"/>
          <a:chOff x="0" y="0"/>
          <a:chExt cx="0" cy="0"/>
        </a:xfrm>
      </p:grpSpPr>
      <p:sp>
        <p:nvSpPr>
          <p:cNvPr id="1048919" name="Content Placeholder 2"/>
          <p:cNvSpPr>
            <a:spLocks noGrp="1"/>
          </p:cNvSpPr>
          <p:nvPr>
            <p:ph sz="quarter" idx="1"/>
          </p:nvPr>
        </p:nvSpPr>
        <p:spPr>
          <a:xfrm>
            <a:off x="228600" y="228600"/>
            <a:ext cx="8537448" cy="6172200"/>
          </a:xfrm>
        </p:spPr>
        <p:txBody>
          <a:bodyPr>
            <a:normAutofit/>
          </a:bodyPr>
          <a:p>
            <a:pPr>
              <a:buNone/>
            </a:pPr>
            <a:r>
              <a:rPr b="1" dirty="0" lang="en-US" smtClean="0"/>
              <a:t>MED-SURG MANAGEMENT</a:t>
            </a:r>
          </a:p>
          <a:p>
            <a:pPr indent="-514350" marL="514350">
              <a:spcAft>
                <a:spcPts val="1200"/>
              </a:spcAft>
              <a:buFont typeface="+mj-lt"/>
              <a:buAutoNum type="arabicPeriod"/>
            </a:pPr>
            <a:r>
              <a:rPr dirty="0" lang="en-US" smtClean="0"/>
              <a:t>Stable: conservative mgt. with limited </a:t>
            </a:r>
            <a:r>
              <a:rPr dirty="0" lang="en-US" err="1" smtClean="0"/>
              <a:t>bedrest</a:t>
            </a:r>
            <a:r>
              <a:rPr dirty="0" lang="en-US" smtClean="0"/>
              <a:t>, with the head of bed &lt;30</a:t>
            </a:r>
            <a:r>
              <a:rPr baseline="20000" dirty="0" lang="en-US" smtClean="0"/>
              <a:t>0</a:t>
            </a:r>
            <a:r>
              <a:rPr dirty="0" lang="en-US" smtClean="0"/>
              <a:t>, till acute pain subsides</a:t>
            </a:r>
          </a:p>
          <a:p>
            <a:pPr indent="-514350" marL="514350">
              <a:spcAft>
                <a:spcPts val="1200"/>
              </a:spcAft>
              <a:buFont typeface="+mj-lt"/>
              <a:buAutoNum type="arabicPeriod"/>
            </a:pPr>
            <a:r>
              <a:rPr dirty="0" lang="en-US"/>
              <a:t>Pain management; </a:t>
            </a:r>
            <a:r>
              <a:rPr dirty="0" lang="en-US" smtClean="0"/>
              <a:t>Analgesics</a:t>
            </a:r>
          </a:p>
          <a:p>
            <a:pPr indent="-514350" marL="514350">
              <a:spcAft>
                <a:spcPts val="1200"/>
              </a:spcAft>
              <a:buFont typeface="+mj-lt"/>
              <a:buAutoNum type="arabicPeriod"/>
            </a:pPr>
            <a:r>
              <a:rPr dirty="0" lang="en-US" smtClean="0"/>
              <a:t>Assess </a:t>
            </a:r>
            <a:r>
              <a:rPr dirty="0" lang="en-US"/>
              <a:t>for paralytic </a:t>
            </a:r>
            <a:r>
              <a:rPr dirty="0" lang="en-US" err="1"/>
              <a:t>ilius</a:t>
            </a:r>
            <a:r>
              <a:rPr dirty="0" lang="en-US"/>
              <a:t> because of associated retroperitoneal </a:t>
            </a:r>
            <a:r>
              <a:rPr dirty="0" lang="en-US" err="1"/>
              <a:t>haemorrhage</a:t>
            </a:r>
            <a:endParaRPr dirty="0" lang="en-US"/>
          </a:p>
          <a:p>
            <a:pPr indent="-514350" marL="514350">
              <a:spcAft>
                <a:spcPts val="1200"/>
              </a:spcAft>
              <a:buFont typeface="+mj-lt"/>
              <a:buAutoNum type="arabicPeriod"/>
            </a:pPr>
            <a:r>
              <a:rPr dirty="0" lang="en-US" smtClean="0"/>
              <a:t>Begin </a:t>
            </a:r>
            <a:r>
              <a:rPr dirty="0" lang="en-US"/>
              <a:t>ambulation early slowly </a:t>
            </a:r>
          </a:p>
          <a:p>
            <a:pPr indent="-514350" marL="514350">
              <a:spcAft>
                <a:spcPts val="1200"/>
              </a:spcAft>
              <a:buFont typeface="+mj-lt"/>
              <a:buAutoNum type="arabicPeriod"/>
            </a:pPr>
            <a:r>
              <a:rPr dirty="0" lang="en-US" smtClean="0"/>
              <a:t>Avoid </a:t>
            </a:r>
            <a:r>
              <a:rPr dirty="0" lang="en-US"/>
              <a:t>having </a:t>
            </a:r>
            <a:r>
              <a:rPr dirty="0" lang="en-US" smtClean="0"/>
              <a:t>Pt. </a:t>
            </a:r>
            <a:r>
              <a:rPr dirty="0" lang="en-US"/>
              <a:t>bend, stoop, twist, sit, or lift</a:t>
            </a:r>
            <a:r>
              <a:rPr dirty="0" lang="en-US" smtClean="0"/>
              <a:t>.</a:t>
            </a:r>
            <a:endParaRPr dirty="0" lang="en-US"/>
          </a:p>
        </p:txBody>
      </p:sp>
    </p:spTree>
  </p:cSld>
  <p:clrMapOvr>
    <a:masterClrMapping/>
  </p:clrMapOvr>
  <p:timing/>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392" name=""/>
        <p:cNvGrpSpPr/>
        <p:nvPr/>
      </p:nvGrpSpPr>
      <p:grpSpPr>
        <a:xfrm>
          <a:off x="0" y="0"/>
          <a:ext cx="0" cy="0"/>
          <a:chOff x="0" y="0"/>
          <a:chExt cx="0" cy="0"/>
        </a:xfrm>
      </p:grpSpPr>
      <p:sp>
        <p:nvSpPr>
          <p:cNvPr id="1048915" name="Content Placeholder 2"/>
          <p:cNvSpPr>
            <a:spLocks noGrp="1"/>
          </p:cNvSpPr>
          <p:nvPr>
            <p:ph sz="quarter" idx="1"/>
          </p:nvPr>
        </p:nvSpPr>
        <p:spPr>
          <a:xfrm>
            <a:off x="152400" y="533400"/>
            <a:ext cx="8613648" cy="5562600"/>
          </a:xfrm>
        </p:spPr>
        <p:txBody>
          <a:bodyPr>
            <a:normAutofit fontScale="96552" lnSpcReduction="20000"/>
          </a:bodyPr>
          <a:p>
            <a:pPr indent="-514350" marL="514350">
              <a:spcAft>
                <a:spcPts val="1200"/>
              </a:spcAft>
              <a:buFont typeface="+mj-lt"/>
              <a:buAutoNum type="arabicPeriod" startAt="5"/>
            </a:pPr>
            <a:r>
              <a:rPr dirty="0" lang="en-US"/>
              <a:t>A spinal brace or thoracolumbar </a:t>
            </a:r>
            <a:r>
              <a:rPr dirty="0" lang="en-US" err="1"/>
              <a:t>orthosis</a:t>
            </a:r>
            <a:r>
              <a:rPr dirty="0" lang="en-US"/>
              <a:t> may be applied for support during progressive ambulation &amp; resumption of activities. </a:t>
            </a:r>
          </a:p>
          <a:p>
            <a:pPr indent="-514350" marL="514350">
              <a:spcAft>
                <a:spcPts val="1200"/>
              </a:spcAft>
              <a:buFont typeface="+mj-lt"/>
              <a:buAutoNum type="arabicPeriod" startAt="5"/>
            </a:pPr>
            <a:r>
              <a:rPr dirty="0" lang="en-US" smtClean="0"/>
              <a:t>Weigh reduction</a:t>
            </a:r>
          </a:p>
          <a:p>
            <a:pPr indent="-514350" marL="514350">
              <a:spcAft>
                <a:spcPts val="1200"/>
              </a:spcAft>
              <a:buFont typeface="+mj-lt"/>
              <a:buAutoNum type="arabicPeriod" startAt="5"/>
            </a:pPr>
            <a:r>
              <a:rPr dirty="0" lang="en-US" smtClean="0"/>
              <a:t>With unstable fracture, maintain bed rest with special turning device (</a:t>
            </a:r>
            <a:r>
              <a:rPr dirty="0" lang="en-US" err="1" smtClean="0"/>
              <a:t>eg</a:t>
            </a:r>
            <a:r>
              <a:rPr dirty="0" lang="en-US" smtClean="0"/>
              <a:t> </a:t>
            </a:r>
            <a:r>
              <a:rPr dirty="0" lang="en-US" err="1" smtClean="0"/>
              <a:t>stryker</a:t>
            </a:r>
            <a:r>
              <a:rPr dirty="0" lang="en-US" smtClean="0"/>
              <a:t> frame) to maintain spinal alignment.</a:t>
            </a:r>
          </a:p>
          <a:p>
            <a:pPr indent="-514350" marL="514350">
              <a:spcAft>
                <a:spcPts val="1200"/>
              </a:spcAft>
              <a:buFont typeface="+mj-lt"/>
              <a:buAutoNum type="arabicPeriod" startAt="5"/>
            </a:pPr>
            <a:r>
              <a:rPr dirty="0" lang="en-US" smtClean="0"/>
              <a:t>Neurological observation</a:t>
            </a:r>
          </a:p>
          <a:p>
            <a:pPr indent="-514350" marL="514350">
              <a:spcAft>
                <a:spcPts val="1200"/>
              </a:spcAft>
              <a:buFont typeface="+mj-lt"/>
              <a:buAutoNum type="arabicPeriod" startAt="5"/>
            </a:pPr>
            <a:r>
              <a:rPr dirty="0" lang="en-US" smtClean="0"/>
              <a:t>Unstable fractures: open reduction, decompression &amp; fixation with spinal fusion &amp; instrument stabilization.</a:t>
            </a:r>
            <a:endParaRPr dirty="0" lang="en-US"/>
          </a:p>
        </p:txBody>
      </p:sp>
      <p:sp>
        <p:nvSpPr>
          <p:cNvPr id="1048916" name="Title 1"/>
          <p:cNvSpPr txBox="1"/>
          <p:nvPr/>
        </p:nvSpPr>
        <p:spPr>
          <a:xfrm>
            <a:off x="10886" y="0"/>
            <a:ext cx="3951514" cy="381000"/>
          </a:xfrm>
          <a:prstGeom prst="rect"/>
          <a:solidFill>
            <a:schemeClr val="accent5">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THORACOLUMBAR SPINE</a:t>
            </a:r>
            <a:endParaRPr dirty="0" sz="1800" lang="en-US"/>
          </a:p>
        </p:txBody>
      </p:sp>
    </p:spTree>
  </p:cSld>
  <p:clrMapOvr>
    <a:masterClrMapping/>
  </p:clrMapOvr>
  <p:timing/>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393" name=""/>
        <p:cNvGrpSpPr/>
        <p:nvPr/>
      </p:nvGrpSpPr>
      <p:grpSpPr>
        <a:xfrm>
          <a:off x="0" y="0"/>
          <a:ext cx="0" cy="0"/>
          <a:chOff x="0" y="0"/>
          <a:chExt cx="0" cy="0"/>
        </a:xfrm>
      </p:grpSpPr>
      <p:sp>
        <p:nvSpPr>
          <p:cNvPr id="1048917" name="Content Placeholder 2"/>
          <p:cNvSpPr>
            <a:spLocks noGrp="1"/>
          </p:cNvSpPr>
          <p:nvPr>
            <p:ph sz="quarter" idx="1"/>
          </p:nvPr>
        </p:nvSpPr>
        <p:spPr>
          <a:xfrm>
            <a:off x="304800" y="381000"/>
            <a:ext cx="8686800" cy="5715000"/>
          </a:xfrm>
        </p:spPr>
        <p:txBody>
          <a:bodyPr>
            <a:normAutofit/>
          </a:bodyPr>
          <a:p>
            <a:pPr>
              <a:buNone/>
            </a:pPr>
            <a:r>
              <a:rPr b="1" dirty="0" lang="en-US" smtClean="0"/>
              <a:t>PRE-OPERATIVE NURSING CARE</a:t>
            </a:r>
          </a:p>
          <a:p>
            <a:pPr indent="-514350" marL="514350">
              <a:buFont typeface="+mj-lt"/>
              <a:buAutoNum type="arabicPeriod"/>
            </a:pPr>
            <a:r>
              <a:rPr dirty="0" lang="en-US" smtClean="0"/>
              <a:t>Perform pre-op general nursing care</a:t>
            </a:r>
          </a:p>
          <a:p>
            <a:pPr indent="-514350" marL="514350">
              <a:buFont typeface="+mj-lt"/>
              <a:buAutoNum type="arabicPeriod"/>
            </a:pPr>
            <a:r>
              <a:rPr dirty="0" lang="en-US" smtClean="0"/>
              <a:t>Practice log rolling &amp; voiding from supine position.</a:t>
            </a:r>
          </a:p>
          <a:p>
            <a:pPr indent="-514350" marL="514350">
              <a:buFont typeface="+mj-lt"/>
              <a:buAutoNum type="arabicPeriod"/>
            </a:pPr>
            <a:r>
              <a:rPr dirty="0" lang="en-US" smtClean="0"/>
              <a:t>Discuss post-op pain &amp; methods to decrease pain.</a:t>
            </a:r>
          </a:p>
          <a:p>
            <a:pPr indent="-514350" marL="514350">
              <a:buFont typeface="+mj-lt"/>
              <a:buAutoNum type="arabicPeriod"/>
            </a:pPr>
            <a:r>
              <a:rPr dirty="0" lang="en-US" smtClean="0"/>
              <a:t>Evaluate specific pain characteristics for post-op </a:t>
            </a:r>
            <a:r>
              <a:rPr dirty="0" lang="en-US"/>
              <a:t>reference</a:t>
            </a:r>
            <a:r>
              <a:rPr dirty="0" lang="en-US" smtClean="0"/>
              <a:t>.</a:t>
            </a:r>
            <a:endParaRPr dirty="0" lang="en-US"/>
          </a:p>
          <a:p>
            <a:pPr indent="-514350" marL="514350">
              <a:buFont typeface="+mj-lt"/>
              <a:buAutoNum type="arabicPeriod"/>
            </a:pPr>
            <a:r>
              <a:rPr dirty="0" lang="en-US" smtClean="0"/>
              <a:t>Evaluate bowel &amp; bladder function.</a:t>
            </a:r>
          </a:p>
          <a:p>
            <a:pPr indent="-514350" marL="514350">
              <a:buFont typeface="+mj-lt"/>
              <a:buAutoNum type="arabicPeriod"/>
            </a:pPr>
            <a:r>
              <a:rPr dirty="0" lang="en-US"/>
              <a:t>Establish a baseline neurological assessment for </a:t>
            </a:r>
            <a:r>
              <a:rPr dirty="0" lang="en-US" smtClean="0"/>
              <a:t>post-op </a:t>
            </a:r>
            <a:r>
              <a:rPr dirty="0" lang="en-US"/>
              <a:t>reference.</a:t>
            </a:r>
          </a:p>
          <a:p>
            <a:pPr indent="-514350" marL="514350">
              <a:buFont typeface="+mj-lt"/>
              <a:buAutoNum type="arabicPeriod"/>
            </a:pPr>
            <a:endParaRPr dirty="0" lang="en-US" smtClean="0"/>
          </a:p>
        </p:txBody>
      </p:sp>
      <p:sp>
        <p:nvSpPr>
          <p:cNvPr id="1048918" name="Title 1"/>
          <p:cNvSpPr txBox="1"/>
          <p:nvPr/>
        </p:nvSpPr>
        <p:spPr>
          <a:xfrm>
            <a:off x="10886" y="0"/>
            <a:ext cx="3951514" cy="381000"/>
          </a:xfrm>
          <a:prstGeom prst="rect"/>
          <a:solidFill>
            <a:schemeClr val="accent5">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THORACOLUMBAR SPINE</a:t>
            </a:r>
            <a:endParaRPr dirty="0" sz="1800" lang="en-US"/>
          </a:p>
        </p:txBody>
      </p:sp>
    </p:spTree>
  </p:cSld>
  <p:clrMapOvr>
    <a:masterClrMapping/>
  </p:clrMapOvr>
  <p:timing/>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415" name=""/>
        <p:cNvGrpSpPr/>
        <p:nvPr/>
      </p:nvGrpSpPr>
      <p:grpSpPr>
        <a:xfrm>
          <a:off x="0" y="0"/>
          <a:ext cx="0" cy="0"/>
          <a:chOff x="0" y="0"/>
          <a:chExt cx="0" cy="0"/>
        </a:xfrm>
      </p:grpSpPr>
      <p:sp>
        <p:nvSpPr>
          <p:cNvPr id="1048971" name="Content Placeholder 2"/>
          <p:cNvSpPr>
            <a:spLocks noGrp="1"/>
          </p:cNvSpPr>
          <p:nvPr>
            <p:ph sz="quarter" idx="1"/>
          </p:nvPr>
        </p:nvSpPr>
        <p:spPr>
          <a:xfrm>
            <a:off x="152400" y="457200"/>
            <a:ext cx="8915400" cy="6248400"/>
          </a:xfrm>
        </p:spPr>
        <p:txBody>
          <a:bodyPr>
            <a:normAutofit fontScale="96154" lnSpcReduction="10000"/>
          </a:bodyPr>
          <a:p>
            <a:pPr>
              <a:buNone/>
            </a:pPr>
            <a:r>
              <a:rPr b="1" dirty="0" lang="en-US"/>
              <a:t>POST-OP </a:t>
            </a:r>
            <a:r>
              <a:rPr b="1" dirty="0" lang="en-US" smtClean="0"/>
              <a:t>CARE (LAMINECTOMY) </a:t>
            </a:r>
            <a:r>
              <a:rPr dirty="0" i="1" lang="en-US" smtClean="0"/>
              <a:t>Laminectomy: </a:t>
            </a:r>
            <a:r>
              <a:rPr dirty="0" lang="en-US" smtClean="0"/>
              <a:t>surgical</a:t>
            </a:r>
            <a:r>
              <a:rPr dirty="0" i="1" lang="en-US" smtClean="0"/>
              <a:t> </a:t>
            </a:r>
            <a:r>
              <a:rPr dirty="0" lang="en-US" smtClean="0"/>
              <a:t>removal of the herniated portion of the disk. </a:t>
            </a:r>
          </a:p>
          <a:p>
            <a:pPr>
              <a:buNone/>
            </a:pPr>
            <a:endParaRPr dirty="0" lang="en-US" smtClean="0"/>
          </a:p>
          <a:p>
            <a:pPr indent="-514350" marL="514350">
              <a:buFont typeface="+mj-lt"/>
              <a:buAutoNum type="arabicPeriod"/>
            </a:pPr>
            <a:r>
              <a:rPr dirty="0" lang="en-US" smtClean="0"/>
              <a:t>Keep the bed in a flat position.</a:t>
            </a:r>
          </a:p>
          <a:p>
            <a:pPr indent="-514350" marL="514350">
              <a:buFont typeface="+mj-lt"/>
              <a:buAutoNum type="arabicPeriod"/>
            </a:pPr>
            <a:r>
              <a:rPr dirty="0" lang="en-US" smtClean="0"/>
              <a:t>Log rolling pt when turning </a:t>
            </a:r>
          </a:p>
          <a:p>
            <a:pPr indent="-514350" marL="514350">
              <a:buFont typeface="+mj-lt"/>
              <a:buAutoNum type="arabicPeriod"/>
            </a:pPr>
            <a:r>
              <a:rPr dirty="0" lang="en-US" smtClean="0"/>
              <a:t>Keep pillows between the legs when client is positioned on the side. </a:t>
            </a:r>
          </a:p>
          <a:p>
            <a:pPr indent="-514350" marL="514350">
              <a:buFont typeface="+mj-lt"/>
              <a:buAutoNum type="arabicPeriod"/>
            </a:pPr>
            <a:r>
              <a:rPr dirty="0" lang="en-US" err="1"/>
              <a:t>Pt</a:t>
            </a:r>
            <a:r>
              <a:rPr dirty="0" lang="en-US"/>
              <a:t> post </a:t>
            </a:r>
            <a:r>
              <a:rPr dirty="0" lang="en-US" err="1"/>
              <a:t>microlaminectomy</a:t>
            </a:r>
            <a:r>
              <a:rPr dirty="0" lang="en-US"/>
              <a:t> has fewer mobility, often they may assume a position of comfort.</a:t>
            </a:r>
          </a:p>
          <a:p>
            <a:pPr indent="-514350" marL="514350">
              <a:buFont typeface="+mj-lt"/>
              <a:buAutoNum type="arabicPeriod"/>
            </a:pPr>
            <a:r>
              <a:rPr dirty="0" lang="en-US" smtClean="0"/>
              <a:t>Maintain </a:t>
            </a:r>
            <a:r>
              <a:rPr dirty="0" lang="en-US"/>
              <a:t>homeostasis &amp; assess for complications post laminectomy</a:t>
            </a:r>
            <a:r>
              <a:rPr dirty="0" lang="en-US" smtClean="0"/>
              <a:t>.</a:t>
            </a:r>
          </a:p>
          <a:p>
            <a:pPr indent="-514350" lvl="1" marL="834390">
              <a:buFont typeface="+mj-lt"/>
              <a:buAutoNum type="alphaLcPeriod"/>
            </a:pPr>
            <a:r>
              <a:rPr dirty="0" lang="en-US"/>
              <a:t>Assess incision area for leakage of CSF &amp; bleeding.</a:t>
            </a:r>
          </a:p>
          <a:p>
            <a:pPr indent="-514350" lvl="1" marL="834390">
              <a:buFont typeface="+mj-lt"/>
              <a:buAutoNum type="alphaLcPeriod"/>
            </a:pPr>
            <a:r>
              <a:rPr dirty="0" lang="en-US"/>
              <a:t>Analgesic via PCA pump or epidural </a:t>
            </a:r>
            <a:r>
              <a:rPr dirty="0" lang="en-US" smtClean="0"/>
              <a:t>catheter</a:t>
            </a:r>
            <a:endParaRPr dirty="0" lang="en-US"/>
          </a:p>
          <a:p>
            <a:pPr indent="-514350" marL="514350">
              <a:buFont typeface="+mj-lt"/>
              <a:buAutoNum type="arabicPeriod"/>
            </a:pPr>
            <a:r>
              <a:rPr dirty="0" lang="en-US"/>
              <a:t>Start mobilization with assistance of </a:t>
            </a:r>
            <a:r>
              <a:rPr dirty="0" lang="en-US" smtClean="0"/>
              <a:t>physiotherapist</a:t>
            </a:r>
          </a:p>
        </p:txBody>
      </p:sp>
      <p:sp>
        <p:nvSpPr>
          <p:cNvPr id="1048972" name="Title 1"/>
          <p:cNvSpPr txBox="1"/>
          <p:nvPr/>
        </p:nvSpPr>
        <p:spPr>
          <a:xfrm>
            <a:off x="10886" y="0"/>
            <a:ext cx="3951514" cy="381000"/>
          </a:xfrm>
          <a:prstGeom prst="rect"/>
          <a:solidFill>
            <a:schemeClr val="accent5">
              <a:lumMod val="40000"/>
              <a:lumOff val="60000"/>
            </a:schemeClr>
          </a:solidFill>
        </p:spPr>
        <p:txBody>
          <a:bodyPr anchor="ctr" vert="horz">
            <a:noAutofit/>
          </a:bodyPr>
          <a:lstStyle>
            <a:lvl1pPr algn="l" eaLnBrk="1" hangingPunct="1" latinLnBrk="0" rtl="0">
              <a:spcBef>
                <a:spcPct val="0"/>
              </a:spcBef>
              <a:buNone/>
              <a:defRPr sz="4400" kern="1200" kumimoji="0">
                <a:solidFill>
                  <a:schemeClr val="tx2"/>
                </a:solidFill>
                <a:latin typeface="+mj-lt"/>
                <a:ea typeface="+mj-ea"/>
                <a:cs typeface="+mj-cs"/>
              </a:defRPr>
            </a:lvl1pPr>
          </a:lstStyle>
          <a:p>
            <a:r>
              <a:rPr dirty="0" sz="1800" lang="en-US" smtClean="0"/>
              <a:t>FRACTURE THORACOLUMBAR SPINE</a:t>
            </a:r>
            <a:endParaRPr dirty="0" sz="1800" lang="en-US"/>
          </a:p>
        </p:txBody>
      </p:sp>
    </p:spTree>
  </p:cSld>
  <p:clrMapOvr>
    <a:masterClrMapping/>
  </p:clrMapOvr>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Median">
  <a:themeElements>
    <a:clrScheme name="Median">
      <a:dk1>
        <a:sysClr lastClr="000000" val="windowText"/>
      </a:dk1>
      <a:lt1>
        <a:sysClr lastClr="FFFFFF" val="window"/>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r="5400000" dist="30000" rotWithShape="0">
              <a:srgbClr val="000000">
                <a:alpha val="45000"/>
              </a:srgbClr>
            </a:outerShdw>
          </a:effectLst>
        </a:effectStyle>
        <a:effectStyle>
          <a:effectLst>
            <a:outerShdw blurRad="38100" dir="5400000" dist="30000" rotWithShape="0">
              <a:srgbClr val="000000">
                <a:alpha val="45000"/>
              </a:srgbClr>
            </a:outerShdw>
          </a:effectLst>
        </a:effectStyle>
        <a:effectStyle>
          <a:effectLst>
            <a:outerShdw blurRad="38100" dir="5400000" dist="25400" rotWithShape="0">
              <a:srgbClr val="000000">
                <a:alpha val="35000"/>
              </a:srgbClr>
            </a:outerShdw>
          </a:effectLst>
          <a:scene3d>
            <a:camera prst="isometricTopDown" fov="0">
              <a:rot lat="0" lon="0" rev="0"/>
            </a:camera>
            <a:lightRig dir="t" rig="balanced">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algn="tl" flip="none" sx="100000" sy="100000" tx="0" ty="0"/>
        </a:blipFill>
        <a:blipFill>
          <a:blip xmlns:r="http://schemas.openxmlformats.org/officeDocument/2006/relationships" r:embed="rId2">
            <a:duotone>
              <a:schemeClr val="phClr">
                <a:shade val="90000"/>
                <a:satMod val="140000"/>
              </a:schemeClr>
              <a:schemeClr val="phClr">
                <a:satMod val="120000"/>
              </a:schemeClr>
            </a:duotone>
          </a:blip>
          <a:tile algn="tl" flip="none" sx="100000" sy="100000" tx="0" ty="0"/>
        </a:blipFill>
      </a:bgFillStyleLst>
    </a:fmtScheme>
  </a:themeElements>
</a:theme>
</file>

<file path=ppt/theme/theme2.xml><?xml version="1.0" encoding="utf-8"?>
<a:theme xmlns:a="http://schemas.openxmlformats.org/drawingml/2006/main" name="1_Median">
  <a:themeElements>
    <a:clrScheme name="Median">
      <a:dk1>
        <a:sysClr lastClr="000000" val="windowText"/>
      </a:dk1>
      <a:lt1>
        <a:sysClr lastClr="FFFFFF" val="window"/>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r="5400000" dist="30000" rotWithShape="0">
              <a:srgbClr val="000000">
                <a:alpha val="45000"/>
              </a:srgbClr>
            </a:outerShdw>
          </a:effectLst>
        </a:effectStyle>
        <a:effectStyle>
          <a:effectLst>
            <a:outerShdw blurRad="38100" dir="5400000" dist="30000" rotWithShape="0">
              <a:srgbClr val="000000">
                <a:alpha val="45000"/>
              </a:srgbClr>
            </a:outerShdw>
          </a:effectLst>
        </a:effectStyle>
        <a:effectStyle>
          <a:effectLst>
            <a:outerShdw blurRad="38100" dir="5400000" dist="25400" rotWithShape="0">
              <a:srgbClr val="000000">
                <a:alpha val="35000"/>
              </a:srgbClr>
            </a:outerShdw>
          </a:effectLst>
          <a:scene3d>
            <a:camera prst="isometricTopDown" fov="0">
              <a:rot lat="0" lon="0" rev="0"/>
            </a:camera>
            <a:lightRig dir="t" rig="balanced">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algn="tl" flip="none" sx="100000" sy="100000" tx="0" ty="0"/>
        </a:blipFill>
        <a:blipFill>
          <a:blip xmlns:r="http://schemas.openxmlformats.org/officeDocument/2006/relationships" r:embed="rId2">
            <a:duotone>
              <a:schemeClr val="phClr">
                <a:shade val="90000"/>
                <a:satMod val="140000"/>
              </a:schemeClr>
              <a:schemeClr val="phClr">
                <a:satMod val="120000"/>
              </a:schemeClr>
            </a:duotone>
          </a:blip>
          <a:tile algn="tl" flip="none" sx="100000" sy="100000" tx="0" ty="0"/>
        </a:blip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ORTHOPAEDICS (12 HRS)</dc:title>
  <dc:creator>user</dc:creator>
  <cp:lastModifiedBy>Library</cp:lastModifiedBy>
  <dcterms:created xsi:type="dcterms:W3CDTF">2011-07-06T16:20:06Z</dcterms:created>
  <dcterms:modified xsi:type="dcterms:W3CDTF">2021-01-25T08:25:45Z</dcterms:modified>
</cp:coreProperties>
</file>